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566160"/>
            <a:ext cx="4754880" cy="4754880"/>
          </a:xfrm>
          <a:prstGeom prst="ellipse">
            <a:avLst/>
          </a:prstGeom>
          <a:solidFill>
            <a:srgbClr val="1176B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3291840" cy="3291840"/>
          </a:xfrm>
          <a:prstGeom prst="ellipse">
            <a:avLst/>
          </a:prstGeom>
          <a:solidFill>
            <a:srgbClr val="38B44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-1463040"/>
            <a:ext cx="3291840" cy="3291840"/>
          </a:xfrm>
          <a:prstGeom prst="ellipse">
            <a:avLst/>
          </a:prstGeom>
          <a:solidFill>
            <a:srgbClr val="1176BC">
              <a:alpha val="10000"/>
            </a:srgbClr>
          </a:solidFill>
          <a:ln/>
        </p:spPr>
      </p:sp>
      <p:pic>
        <p:nvPicPr>
          <p:cNvPr id="5" name="Image 0" descr="d:/Adani_projects/RPA-UI-Dashboard/frontend/public/c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874520" cy="8823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COBOT DASHBOARD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RPA Data into
</a:t>
            </a:r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1176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ROI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548640" y="5029200"/>
            <a:ext cx="502920" cy="54864"/>
          </a:xfrm>
          <a:prstGeom prst="rect">
            <a:avLst/>
          </a:prstGeom>
          <a:solidFill>
            <a:srgbClr val="38B44A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5257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Automation Insights into Measurable Business Value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6309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Adani_projects/RPA-UI-Dashboard/frontend/public/c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320040"/>
            <a:ext cx="1417320" cy="6675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659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2F6F9"/>
          </a:solidFill>
          <a:ln/>
        </p:spPr>
      </p:sp>
      <p:sp>
        <p:nvSpPr>
          <p:cNvPr id="5" name="Shape 2"/>
          <p:cNvSpPr/>
          <p:nvPr/>
        </p:nvSpPr>
        <p:spPr>
          <a:xfrm>
            <a:off x="868680" y="2263140"/>
            <a:ext cx="640080" cy="640080"/>
          </a:xfrm>
          <a:prstGeom prst="ellipse">
            <a:avLst/>
          </a:prstGeom>
          <a:solidFill>
            <a:srgbClr val="1176BC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22631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874520" y="21488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Vision of the Cobot Dashboard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874520" y="262432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building it, and who it's for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447288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2F6F9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744468"/>
            <a:ext cx="640080" cy="640080"/>
          </a:xfrm>
          <a:prstGeom prst="ellipse">
            <a:avLst/>
          </a:prstGeom>
          <a:solidFill>
            <a:srgbClr val="38B44A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7444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874520" y="363016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 Modules &amp; User Experience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874520" y="4105656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dashboard's key features and workflows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928616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2F6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68680" y="5225796"/>
            <a:ext cx="640080" cy="640080"/>
          </a:xfrm>
          <a:prstGeom prst="ellipse">
            <a:avLst/>
          </a:prstGeom>
          <a:solidFill>
            <a:srgbClr val="1176BC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52257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874520" y="5111496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Strategic Roadmap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874520" y="5586984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built, and where it's headed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CognitBotz  |  Cobot Dashboard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1176B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937760" cy="4937760"/>
          </a:xfrm>
          <a:prstGeom prst="ellipse">
            <a:avLst/>
          </a:prstGeom>
          <a:solidFill>
            <a:srgbClr val="38B44A">
              <a:alpha val="10000"/>
            </a:srgbClr>
          </a:solidFill>
          <a:ln/>
        </p:spPr>
      </p:sp>
      <p:pic>
        <p:nvPicPr>
          <p:cNvPr id="4" name="Image 0" descr="d:/Adani_projects/RPA-UI-Dashboard/frontend/public/c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600200" cy="7543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176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6" name="Shape 3"/>
          <p:cNvSpPr/>
          <p:nvPr/>
        </p:nvSpPr>
        <p:spPr>
          <a:xfrm>
            <a:off x="594360" y="3520440"/>
            <a:ext cx="1280160" cy="45720"/>
          </a:xfrm>
          <a:prstGeom prst="rect">
            <a:avLst/>
          </a:prstGeom>
          <a:solidFill>
            <a:srgbClr val="1176BC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37033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Vision of the Cobot Dashboard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5349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Purpose and Future Direction of the Dashboard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Adani_projects/RPA-UI-Dashboard/frontend/public/c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320040"/>
            <a:ext cx="1417320" cy="6675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Fragmented Data to One View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18872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fragmented RPA data into a single pane of glass so CoEs, business, and IT gain clear visibility, consistent governance, and provable ROI across all automation platforms.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3520440" cy="3794760"/>
          </a:xfrm>
          <a:prstGeom prst="roundRect">
            <a:avLst>
              <a:gd name="adj" fmla="val 1558"/>
            </a:avLst>
          </a:prstGeom>
          <a:solidFill>
            <a:srgbClr val="F2F6F9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2423160"/>
            <a:ext cx="685800" cy="685800"/>
          </a:xfrm>
          <a:prstGeom prst="ellipse">
            <a:avLst/>
          </a:prstGeom>
          <a:solidFill>
            <a:srgbClr val="1176BC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3337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RPA Data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840480"/>
            <a:ext cx="28803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RPA landscapes rely on multiple orchestrators from UiPath, Automation Anywhere, and Blue Prism, creating data silos, inconsistent metrics, and fragmented reporting that reduce transparency.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2103120"/>
            <a:ext cx="3520440" cy="3794760"/>
          </a:xfrm>
          <a:prstGeom prst="roundRect">
            <a:avLst>
              <a:gd name="adj" fmla="val 1558"/>
            </a:avLst>
          </a:prstGeom>
          <a:solidFill>
            <a:srgbClr val="F2F6F9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2423160"/>
            <a:ext cx="685800" cy="685800"/>
          </a:xfrm>
          <a:prstGeom prst="ellipse">
            <a:avLst/>
          </a:prstGeom>
          <a:solidFill>
            <a:srgbClr val="38B44A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3337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Visibility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63440" y="3840480"/>
            <a:ext cx="28803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Centralizing RPA insights improves cross-department visibility, simplifies ROI proof, and replaces ad-hoc reporting with governed, repeatable analytics.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38160" y="2103120"/>
            <a:ext cx="3520440" cy="3794760"/>
          </a:xfrm>
          <a:prstGeom prst="roundRect">
            <a:avLst>
              <a:gd name="adj" fmla="val 1558"/>
            </a:avLst>
          </a:prstGeom>
          <a:solidFill>
            <a:srgbClr val="F2F6F9"/>
          </a:solidFill>
          <a:ln/>
        </p:spPr>
      </p:sp>
      <p:sp>
        <p:nvSpPr>
          <p:cNvPr id="14" name="Shape 11"/>
          <p:cNvSpPr/>
          <p:nvPr/>
        </p:nvSpPr>
        <p:spPr>
          <a:xfrm>
            <a:off x="8458200" y="2423160"/>
            <a:ext cx="685800" cy="685800"/>
          </a:xfrm>
          <a:prstGeom prst="ellipse">
            <a:avLst/>
          </a:prstGeom>
          <a:solidFill>
            <a:srgbClr val="1176BC"/>
          </a:solidFill>
          <a:ln/>
        </p:spPr>
      </p:sp>
      <p:sp>
        <p:nvSpPr>
          <p:cNvPr id="15" name="Text 12"/>
          <p:cNvSpPr/>
          <p:nvPr/>
        </p:nvSpPr>
        <p:spPr>
          <a:xfrm>
            <a:off x="8458200" y="3337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Pane of Glass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58200" y="3840480"/>
            <a:ext cx="28803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pane of glass consolidates operational, performance, and ROI metrics into one consistent view — enabling confident automation decisions.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CognitBotz  |  Cobot Dashboard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Adani_projects/RPA-UI-Dashboard/frontend/public/c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320040"/>
            <a:ext cx="1417320" cy="6675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Cobot Dashboard Vision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1783080"/>
            <a:ext cx="4297680" cy="4297680"/>
          </a:xfrm>
          <a:prstGeom prst="ellipse">
            <a:avLst/>
          </a:prstGeom>
          <a:solidFill>
            <a:srgbClr val="1176BC">
              <a:alpha val="2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960120" y="2377440"/>
            <a:ext cx="3108960" cy="3108960"/>
          </a:xfrm>
          <a:prstGeom prst="ellipse">
            <a:avLst/>
          </a:prstGeom>
          <a:solidFill>
            <a:srgbClr val="1176BC">
              <a:alpha val="4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554480" y="2971800"/>
            <a:ext cx="1920240" cy="1920240"/>
          </a:xfrm>
          <a:prstGeom prst="ellipse">
            <a:avLst/>
          </a:prstGeom>
          <a:solidFill>
            <a:srgbClr val="1176BC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1965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3749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4572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0" y="1874520"/>
            <a:ext cx="6126480" cy="1508760"/>
          </a:xfrm>
          <a:prstGeom prst="roundRect">
            <a:avLst>
              <a:gd name="adj" fmla="val 3636"/>
            </a:avLst>
          </a:prstGeom>
          <a:solidFill>
            <a:srgbClr val="F2F6F9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0" y="2057400"/>
            <a:ext cx="548640" cy="548640"/>
          </a:xfrm>
          <a:prstGeom prst="ellipse">
            <a:avLst/>
          </a:prstGeom>
          <a:solidFill>
            <a:srgbClr val="1176BC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19842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Phenomenon / Outcome</a:t>
            </a:r>
            <a:pPr indent="0" marL="0">
              <a:buNone/>
            </a:pPr>
            <a:r>
              <a:rPr lang="en-US" sz="1050" i="1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(Execution)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46520" y="237744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of Excellence must prove growing automation investments deliver measurable ROI, linking hours saved to real business value and scalable, compliant RPA outcomes.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0" y="3566160"/>
            <a:ext cx="6126480" cy="1508760"/>
          </a:xfrm>
          <a:prstGeom prst="roundRect">
            <a:avLst>
              <a:gd name="adj" fmla="val 3636"/>
            </a:avLst>
          </a:prstGeom>
          <a:solidFill>
            <a:srgbClr val="F2F6F9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0" y="3749040"/>
            <a:ext cx="548640" cy="548640"/>
          </a:xfrm>
          <a:prstGeom prst="ellipse">
            <a:avLst/>
          </a:prstGeom>
          <a:solidFill>
            <a:srgbClr val="38B44A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36758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/ Action</a:t>
            </a:r>
            <a:pPr indent="0" marL="0">
              <a:buNone/>
            </a:pPr>
            <a:r>
              <a:rPr lang="en-US" sz="1050" i="1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(Method)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46520" y="406908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aggregate bot runtime and hours saved, map them to departments, processes, and PDDs, and provide traceable documentation links for audit-ready RPA governance.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0" y="5257800"/>
            <a:ext cx="6126480" cy="1508760"/>
          </a:xfrm>
          <a:prstGeom prst="roundRect">
            <a:avLst>
              <a:gd name="adj" fmla="val 3636"/>
            </a:avLst>
          </a:prstGeom>
          <a:solidFill>
            <a:srgbClr val="F2F6F9"/>
          </a:solidFill>
          <a:ln/>
        </p:spPr>
      </p:sp>
      <p:sp>
        <p:nvSpPr>
          <p:cNvPr id="19" name="Shape 16"/>
          <p:cNvSpPr/>
          <p:nvPr/>
        </p:nvSpPr>
        <p:spPr>
          <a:xfrm>
            <a:off x="5715000" y="5440680"/>
            <a:ext cx="548640" cy="548640"/>
          </a:xfrm>
          <a:prstGeom prst="ellipse">
            <a:avLst/>
          </a:prstGeom>
          <a:solidFill>
            <a:srgbClr val="1176BC"/>
          </a:solidFill>
          <a:ln/>
        </p:spPr>
      </p:sp>
      <p:sp>
        <p:nvSpPr>
          <p:cNvPr id="20" name="Text 17"/>
          <p:cNvSpPr/>
          <p:nvPr/>
        </p:nvSpPr>
        <p:spPr>
          <a:xfrm>
            <a:off x="6446520" y="53675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/ Idea</a:t>
            </a:r>
            <a:pPr indent="0" marL="0">
              <a:buNone/>
            </a:pPr>
            <a:r>
              <a:rPr lang="en-US" sz="1050" i="1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(Purpose)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46520" y="576072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create a single source of truth for RPA, giving leaders visibility, accountability, and confidence to scale automation safely and transparently.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CognitBotz  |  Cobot Dashboard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Adani_projects/RPA-UI-Dashboard/frontend/public/c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320040"/>
            <a:ext cx="1417320" cy="6675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 &amp; Usage Scenarios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96596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5875">
            <a:solidFill>
              <a:srgbClr val="E2E8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965960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1176BC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331720"/>
            <a:ext cx="5349240" cy="320040"/>
          </a:xfrm>
          <a:prstGeom prst="rect">
            <a:avLst/>
          </a:prstGeom>
          <a:solidFill>
            <a:srgbClr val="1176BC"/>
          </a:solidFill>
          <a:ln/>
        </p:spPr>
      </p:sp>
      <p:sp>
        <p:nvSpPr>
          <p:cNvPr id="7" name="Text 4"/>
          <p:cNvSpPr/>
          <p:nvPr/>
        </p:nvSpPr>
        <p:spPr>
          <a:xfrm>
            <a:off x="1280160" y="196596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Segments &amp; Core Needs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leads need executive overviews, ROI tracking, and adoption metrics. Developers and support engineers require detailed bot diagnostics, schedules, IPs, execution times, and failure trends. Business SPOCs focus on department-specific bot status and impact. Platform administrators manage access control, bulk log ingestion, and system health.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96596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5875">
            <a:solidFill>
              <a:srgbClr val="E2E8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3640" y="1965960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38B44A"/>
          </a:solidFill>
          <a:ln/>
        </p:spPr>
      </p:sp>
      <p:sp>
        <p:nvSpPr>
          <p:cNvPr id="11" name="Shape 8"/>
          <p:cNvSpPr/>
          <p:nvPr/>
        </p:nvSpPr>
        <p:spPr>
          <a:xfrm>
            <a:off x="6263640" y="2331720"/>
            <a:ext cx="5349240" cy="320040"/>
          </a:xfrm>
          <a:prstGeom prst="rect">
            <a:avLst/>
          </a:prstGeom>
          <a:solidFill>
            <a:srgbClr val="38B44A"/>
          </a:solidFill>
          <a:ln/>
        </p:spPr>
      </p:sp>
      <p:sp>
        <p:nvSpPr>
          <p:cNvPr id="12" name="Text 9"/>
          <p:cNvSpPr/>
          <p:nvPr/>
        </p:nvSpPr>
        <p:spPr>
          <a:xfrm>
            <a:off x="6995160" y="196596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Usage Scenarios &amp; Collaboration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583680" y="292608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stakeholder accesses the same dashboard yet views tailored insights aligned to responsibilities, enabling targeted monitoring, optimization, and governance across business units and technical teams. Unified yet role-based views enable coordinated interventions and faster issue resolution.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CognitBotz  |  Cobot Dashboard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38B44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937760" cy="4937760"/>
          </a:xfrm>
          <a:prstGeom prst="ellipse">
            <a:avLst/>
          </a:prstGeom>
          <a:solidFill>
            <a:srgbClr val="1176BC">
              <a:alpha val="10000"/>
            </a:srgbClr>
          </a:solidFill>
          <a:ln/>
        </p:spPr>
      </p:sp>
      <p:pic>
        <p:nvPicPr>
          <p:cNvPr id="4" name="Image 0" descr="d:/Adani_projects/RPA-UI-Dashboard/frontend/public/c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600200" cy="7543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38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6" name="Shape 3"/>
          <p:cNvSpPr/>
          <p:nvPr/>
        </p:nvSpPr>
        <p:spPr>
          <a:xfrm>
            <a:off x="594360" y="3520440"/>
            <a:ext cx="1280160" cy="45720"/>
          </a:xfrm>
          <a:prstGeom prst="rect">
            <a:avLst/>
          </a:prstGeom>
          <a:solidFill>
            <a:srgbClr val="38B44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37033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Functional Modules &amp; User Experience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5349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Intuitive, Powerful Features for Seamless Interaction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Adani_projects/RPA-UI-Dashboard/frontend/public/c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320040"/>
            <a:ext cx="1417320" cy="6675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Landing Page &amp; Department Drill-Down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176BC"/>
          </a:solidFill>
          <a:ln/>
        </p:spPr>
      </p:sp>
      <p:sp>
        <p:nvSpPr>
          <p:cNvPr id="5" name="Text 2"/>
          <p:cNvSpPr/>
          <p:nvPr/>
        </p:nvSpPr>
        <p:spPr>
          <a:xfrm>
            <a:off x="1234440" y="1691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&amp; KPI Structure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237744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landing page presents KPI cards for total bots, organization-wide hours saved, and success rates — with trend charts, adoption heatmaps, and status tiles summarizing overall automation performance.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704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connects organization-level metrics to departmental dashboards, using filters for business unit, timeframe, bot type, and success or failure status — supporting quarterly reviews and strategic planning.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800600"/>
            <a:ext cx="2240280" cy="1188720"/>
          </a:xfrm>
          <a:prstGeom prst="roundRect">
            <a:avLst>
              <a:gd name="adj" fmla="val 4615"/>
            </a:avLst>
          </a:prstGeom>
          <a:solidFill>
            <a:srgbClr val="F2F6F9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800600"/>
            <a:ext cx="73152" cy="1188720"/>
          </a:xfrm>
          <a:prstGeom prst="rect">
            <a:avLst/>
          </a:prstGeom>
          <a:solidFill>
            <a:srgbClr val="1176BC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892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76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31520" y="5440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971800" y="4800600"/>
            <a:ext cx="2240280" cy="1188720"/>
          </a:xfrm>
          <a:prstGeom prst="roundRect">
            <a:avLst>
              <a:gd name="adj" fmla="val 4615"/>
            </a:avLst>
          </a:prstGeom>
          <a:solidFill>
            <a:srgbClr val="F2F6F9"/>
          </a:solidFill>
          <a:ln/>
        </p:spPr>
      </p:sp>
      <p:sp>
        <p:nvSpPr>
          <p:cNvPr id="13" name="Shape 10"/>
          <p:cNvSpPr/>
          <p:nvPr/>
        </p:nvSpPr>
        <p:spPr>
          <a:xfrm>
            <a:off x="2971800" y="4800600"/>
            <a:ext cx="73152" cy="1188720"/>
          </a:xfrm>
          <a:prstGeom prst="rect">
            <a:avLst/>
          </a:prstGeom>
          <a:solidFill>
            <a:srgbClr val="38B44A"/>
          </a:solidFill>
          <a:ln/>
        </p:spPr>
      </p:sp>
      <p:sp>
        <p:nvSpPr>
          <p:cNvPr id="14" name="Text 11"/>
          <p:cNvSpPr/>
          <p:nvPr/>
        </p:nvSpPr>
        <p:spPr>
          <a:xfrm>
            <a:off x="3154680" y="4892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38,540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154680" y="5440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(YTD)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394960" y="4800600"/>
            <a:ext cx="2240280" cy="1188720"/>
          </a:xfrm>
          <a:prstGeom prst="roundRect">
            <a:avLst>
              <a:gd name="adj" fmla="val 4615"/>
            </a:avLst>
          </a:prstGeom>
          <a:solidFill>
            <a:srgbClr val="F2F6F9"/>
          </a:solidFill>
          <a:ln/>
        </p:spPr>
      </p:sp>
      <p:sp>
        <p:nvSpPr>
          <p:cNvPr id="17" name="Shape 14"/>
          <p:cNvSpPr/>
          <p:nvPr/>
        </p:nvSpPr>
        <p:spPr>
          <a:xfrm>
            <a:off x="5394960" y="4800600"/>
            <a:ext cx="73152" cy="1188720"/>
          </a:xfrm>
          <a:prstGeom prst="rect">
            <a:avLst/>
          </a:prstGeom>
          <a:solidFill>
            <a:srgbClr val="1176BC"/>
          </a:solidFill>
          <a:ln/>
        </p:spPr>
      </p:sp>
      <p:sp>
        <p:nvSpPr>
          <p:cNvPr id="18" name="Text 15"/>
          <p:cNvSpPr/>
          <p:nvPr/>
        </p:nvSpPr>
        <p:spPr>
          <a:xfrm>
            <a:off x="5577840" y="4892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76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96.4%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577840" y="5440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955280" y="169164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202020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Drill-Down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2960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229600" y="2715768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</p:sp>
      <p:sp>
        <p:nvSpPr>
          <p:cNvPr id="24" name="Shape 21"/>
          <p:cNvSpPr/>
          <p:nvPr/>
        </p:nvSpPr>
        <p:spPr>
          <a:xfrm>
            <a:off x="8229600" y="2715768"/>
            <a:ext cx="2549347" cy="146304"/>
          </a:xfrm>
          <a:prstGeom prst="roundRect">
            <a:avLst>
              <a:gd name="adj" fmla="val 50000"/>
            </a:avLst>
          </a:prstGeom>
          <a:solidFill>
            <a:srgbClr val="1176BC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0" y="3044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229600" y="3337560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</p:sp>
      <p:sp>
        <p:nvSpPr>
          <p:cNvPr id="27" name="Shape 24"/>
          <p:cNvSpPr/>
          <p:nvPr/>
        </p:nvSpPr>
        <p:spPr>
          <a:xfrm>
            <a:off x="8229600" y="3337560"/>
            <a:ext cx="1989734" cy="146304"/>
          </a:xfrm>
          <a:prstGeom prst="roundRect">
            <a:avLst>
              <a:gd name="adj" fmla="val 50000"/>
            </a:avLst>
          </a:prstGeom>
          <a:solidFill>
            <a:srgbClr val="38B44A"/>
          </a:solidFill>
          <a:ln/>
        </p:spPr>
      </p:sp>
      <p:sp>
        <p:nvSpPr>
          <p:cNvPr id="28" name="Text 25"/>
          <p:cNvSpPr/>
          <p:nvPr/>
        </p:nvSpPr>
        <p:spPr>
          <a:xfrm>
            <a:off x="8229600" y="36667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229600" y="3959352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</p:sp>
      <p:sp>
        <p:nvSpPr>
          <p:cNvPr id="30" name="Shape 27"/>
          <p:cNvSpPr/>
          <p:nvPr/>
        </p:nvSpPr>
        <p:spPr>
          <a:xfrm>
            <a:off x="8229600" y="3959352"/>
            <a:ext cx="2829154" cy="146304"/>
          </a:xfrm>
          <a:prstGeom prst="roundRect">
            <a:avLst>
              <a:gd name="adj" fmla="val 50000"/>
            </a:avLst>
          </a:prstGeom>
          <a:solidFill>
            <a:srgbClr val="1176BC"/>
          </a:solidFill>
          <a:ln/>
        </p:spPr>
      </p:sp>
      <p:sp>
        <p:nvSpPr>
          <p:cNvPr id="31" name="Text 28"/>
          <p:cNvSpPr/>
          <p:nvPr/>
        </p:nvSpPr>
        <p:spPr>
          <a:xfrm>
            <a:off x="8229600" y="42885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Operations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229600" y="4581144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581144"/>
            <a:ext cx="1709928" cy="146304"/>
          </a:xfrm>
          <a:prstGeom prst="roundRect">
            <a:avLst>
              <a:gd name="adj" fmla="val 50000"/>
            </a:avLst>
          </a:prstGeom>
          <a:solidFill>
            <a:srgbClr val="38B44A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0" y="4910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229600" y="5202936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</p:sp>
      <p:sp>
        <p:nvSpPr>
          <p:cNvPr id="36" name="Shape 33"/>
          <p:cNvSpPr/>
          <p:nvPr/>
        </p:nvSpPr>
        <p:spPr>
          <a:xfrm>
            <a:off x="8229600" y="5202936"/>
            <a:ext cx="2269541" cy="146304"/>
          </a:xfrm>
          <a:prstGeom prst="roundRect">
            <a:avLst>
              <a:gd name="adj" fmla="val 50000"/>
            </a:avLst>
          </a:prstGeom>
          <a:solidFill>
            <a:srgbClr val="1176BC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CognitBotz  |  Cobot Dashboard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Adani_projects/RPA-UI-Dashboard/frontend/public/c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320040"/>
            <a:ext cx="1417320" cy="6675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Cobot (Human-Bot) Collaboration View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22860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7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Human-Bot Workflow Loop &amp; Tracking Needs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9260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cyclical collaboration: bot executes, human reviews or approves, bot continues or escalates — forming a trackable loop requiring distinct metrics from fully autonomous RPA workflows.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321040" y="22860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Metrics &amp; Optimization Insights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21040" y="29260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cobots with autonomous bots on accuracy and turnaround, monitoring handoffs, interventions, and rework to inform process optimization and strategic workforce planning.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2560320"/>
            <a:ext cx="2011680" cy="2011680"/>
          </a:xfrm>
          <a:prstGeom prst="ellipse">
            <a:avLst/>
          </a:prstGeom>
          <a:solidFill>
            <a:srgbClr val="1176BC">
              <a:alpha val="85000"/>
            </a:srgbClr>
          </a:solidFill>
          <a:ln w="38100">
            <a:solidFill>
              <a:srgbClr val="1176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0" y="2560320"/>
            <a:ext cx="2011680" cy="2011680"/>
          </a:xfrm>
          <a:prstGeom prst="ellipse">
            <a:avLst/>
          </a:prstGeom>
          <a:solidFill>
            <a:srgbClr val="38B44A">
              <a:alpha val="85000"/>
            </a:srgbClr>
          </a:solidFill>
          <a:ln w="38100">
            <a:solidFill>
              <a:srgbClr val="38B4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43400" y="3703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0" y="3703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CognitBotz  |  Cobot Dashboard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Adani_projects/RPA-UI-Dashboard/frontend/public/c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320040"/>
            <a:ext cx="1417320" cy="6675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 Inventory &amp; Deep Analytics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2F6F9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1673352"/>
            <a:ext cx="621792" cy="621792"/>
          </a:xfrm>
          <a:prstGeom prst="ellipse">
            <a:avLst/>
          </a:prstGeom>
          <a:solidFill>
            <a:srgbClr val="1176BC"/>
          </a:solidFill>
          <a:ln/>
        </p:spPr>
      </p:sp>
      <p:sp>
        <p:nvSpPr>
          <p:cNvPr id="6" name="Text 3"/>
          <p:cNvSpPr/>
          <p:nvPr/>
        </p:nvSpPr>
        <p:spPr>
          <a:xfrm>
            <a:off x="1691640" y="152704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Bot Catalog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663440" y="1527048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inventory listing bot names, owners, developers, business SPOCs, and associated teams — enabling rapid discovery, accountability, and structured portfolio management.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2F6F9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2953512"/>
            <a:ext cx="621792" cy="621792"/>
          </a:xfrm>
          <a:prstGeom prst="ellipse">
            <a:avLst/>
          </a:prstGeom>
          <a:solidFill>
            <a:srgbClr val="38B44A"/>
          </a:solidFill>
          <a:ln/>
        </p:spPr>
      </p:sp>
      <p:sp>
        <p:nvSpPr>
          <p:cNvPr id="10" name="Text 7"/>
          <p:cNvSpPr/>
          <p:nvPr/>
        </p:nvSpPr>
        <p:spPr>
          <a:xfrm>
            <a:off x="1691640" y="280720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&amp; Performance Insights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2807208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schedules, machine IPs, run frequency, average execution time, hours saved, success/failure rates, and exception categories give accurate visibility into business impact.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97764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2F6F9"/>
          </a:solidFill>
          <a:ln/>
        </p:spPr>
      </p:sp>
      <p:sp>
        <p:nvSpPr>
          <p:cNvPr id="13" name="Shape 10"/>
          <p:cNvSpPr/>
          <p:nvPr/>
        </p:nvSpPr>
        <p:spPr>
          <a:xfrm>
            <a:off x="822960" y="4233672"/>
            <a:ext cx="621792" cy="621792"/>
          </a:xfrm>
          <a:prstGeom prst="ellipse">
            <a:avLst/>
          </a:prstGeom>
          <a:solidFill>
            <a:srgbClr val="1176BC"/>
          </a:solidFill>
          <a:ln/>
        </p:spPr>
      </p:sp>
      <p:sp>
        <p:nvSpPr>
          <p:cNvPr id="14" name="Text 11"/>
          <p:cNvSpPr/>
          <p:nvPr/>
        </p:nvSpPr>
        <p:spPr>
          <a:xfrm>
            <a:off x="1691640" y="408736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Change Management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63440" y="4087368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PDDs, version history, and change logs create a complete governance trail, simplifying compliance reviews and controlled deployment of bot enhancements.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525780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2F6F9"/>
          </a:solidFill>
          <a:ln/>
        </p:spPr>
      </p:sp>
      <p:sp>
        <p:nvSpPr>
          <p:cNvPr id="17" name="Shape 14"/>
          <p:cNvSpPr/>
          <p:nvPr/>
        </p:nvSpPr>
        <p:spPr>
          <a:xfrm>
            <a:off x="822960" y="5513832"/>
            <a:ext cx="621792" cy="621792"/>
          </a:xfrm>
          <a:prstGeom prst="ellipse">
            <a:avLst/>
          </a:prstGeom>
          <a:solidFill>
            <a:srgbClr val="38B44A"/>
          </a:solidFill>
          <a:ln/>
        </p:spPr>
      </p:sp>
      <p:sp>
        <p:nvSpPr>
          <p:cNvPr id="18" name="Text 15"/>
          <p:cNvSpPr/>
          <p:nvPr/>
        </p:nvSpPr>
        <p:spPr>
          <a:xfrm>
            <a:off x="1691640" y="536752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Use Case Scenarios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663440" y="5367528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triaging failing bots, pinpointing high-impact automations, and evaluating consolidation opportunities that maximize ROI across the bot landscape.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CognitBotz  |  Cobot Dashboard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Adani_projects/RPA-UI-Dashboard/frontend/public/c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320040"/>
            <a:ext cx="1417320" cy="6675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Engine, Org Tree, and Admin Capabilities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110642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875">
            <a:solidFill>
              <a:srgbClr val="E2E8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8680" y="2194560"/>
            <a:ext cx="777240" cy="777240"/>
          </a:xfrm>
          <a:prstGeom prst="ellipse">
            <a:avLst/>
          </a:prstGeom>
          <a:solidFill>
            <a:srgbClr val="1176BC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2194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606040" y="217627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 &amp; Reporting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606040" y="27432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ingested from Excel/CSV RPA run logs is processed to map bots to departments and processes, visualized in dashboards, then packaged into scheduled weekly summary reports.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251960"/>
            <a:ext cx="110642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875">
            <a:solidFill>
              <a:srgbClr val="E2E8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4526280"/>
            <a:ext cx="777240" cy="777240"/>
          </a:xfrm>
          <a:prstGeom prst="ellipse">
            <a:avLst/>
          </a:prstGeom>
          <a:solidFill>
            <a:srgbClr val="38B44A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606040" y="450799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Structure, Security &amp; Compliance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606040" y="50749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tree hierarchies link bots to business units, controlled via SSO and role-based access; audit logging ensures compliant access to RPA performance insights and automated email distribution.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CognitBotz  |  Cobot Dashboard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1176B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937760" cy="4937760"/>
          </a:xfrm>
          <a:prstGeom prst="ellipse">
            <a:avLst/>
          </a:prstGeom>
          <a:solidFill>
            <a:srgbClr val="38B44A">
              <a:alpha val="10000"/>
            </a:srgbClr>
          </a:solidFill>
          <a:ln/>
        </p:spPr>
      </p:sp>
      <p:pic>
        <p:nvPicPr>
          <p:cNvPr id="4" name="Image 0" descr="d:/Adani_projects/RPA-UI-Dashboard/frontend/public/c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600200" cy="7543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176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600" dirty="0"/>
          </a:p>
        </p:txBody>
      </p:sp>
      <p:sp>
        <p:nvSpPr>
          <p:cNvPr id="6" name="Shape 3"/>
          <p:cNvSpPr/>
          <p:nvPr/>
        </p:nvSpPr>
        <p:spPr>
          <a:xfrm>
            <a:off x="594360" y="3520440"/>
            <a:ext cx="1280160" cy="45720"/>
          </a:xfrm>
          <a:prstGeom prst="rect">
            <a:avLst/>
          </a:prstGeom>
          <a:solidFill>
            <a:srgbClr val="1176BC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37033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 &amp; Strategic Roadmap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5349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Scalable Systems for Future-Ready Innovation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Adani_projects/RPA-UI-Dashboard/frontend/public/c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320040"/>
            <a:ext cx="1417320" cy="6675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Overview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645920" y="1600200"/>
            <a:ext cx="4937760" cy="1051560"/>
          </a:xfrm>
          <a:prstGeom prst="roundRect">
            <a:avLst>
              <a:gd name="adj" fmla="val 5217"/>
            </a:avLst>
          </a:prstGeom>
          <a:solidFill>
            <a:srgbClr val="1176BC"/>
          </a:solidFill>
          <a:ln/>
        </p:spPr>
      </p:sp>
      <p:sp>
        <p:nvSpPr>
          <p:cNvPr id="5" name="Text 2"/>
          <p:cNvSpPr/>
          <p:nvPr/>
        </p:nvSpPr>
        <p:spPr>
          <a:xfrm>
            <a:off x="1920240" y="172821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Frontend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920240" y="21305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and React Router power a fast, responsive UI layer.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097280" y="2816352"/>
            <a:ext cx="6035040" cy="1051560"/>
          </a:xfrm>
          <a:prstGeom prst="roundRect">
            <a:avLst>
              <a:gd name="adj" fmla="val 5217"/>
            </a:avLst>
          </a:prstGeom>
          <a:solidFill>
            <a:srgbClr val="38B44A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294436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Jobs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334670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scheduled emails, periodic sync, and background tasks.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4032504"/>
            <a:ext cx="7132320" cy="1051560"/>
          </a:xfrm>
          <a:prstGeom prst="roundRect">
            <a:avLst>
              <a:gd name="adj" fmla="val 5217"/>
            </a:avLst>
          </a:prstGeom>
          <a:solidFill>
            <a:srgbClr val="1176BC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41605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SQLite (SQLAlchemy)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456285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REST APIs over a lightweight, portable relational store.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01000" y="160020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F2F6F9"/>
          </a:solidFill>
          <a:ln/>
        </p:spPr>
      </p:sp>
      <p:sp>
        <p:nvSpPr>
          <p:cNvPr id="14" name="Text 11"/>
          <p:cNvSpPr/>
          <p:nvPr/>
        </p:nvSpPr>
        <p:spPr>
          <a:xfrm>
            <a:off x="877824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Technical Stack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275320" y="23317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pyramid: presentation, scheduling, and data layers each scale independently.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01000" y="361188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F2F6F9"/>
          </a:solidFill>
          <a:ln/>
        </p:spPr>
      </p:sp>
      <p:sp>
        <p:nvSpPr>
          <p:cNvPr id="17" name="Text 14"/>
          <p:cNvSpPr/>
          <p:nvPr/>
        </p:nvSpPr>
        <p:spPr>
          <a:xfrm>
            <a:off x="877824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Deployment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275320" y="43434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statically serves compiled React assets, forming a single deployable service — lightweight, portable, and extensible.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CognitBotz  |  Cobot Dashboard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Adani_projects/RPA-UI-Dashboard/frontend/public/c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320040"/>
            <a:ext cx="1417320" cy="6675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&amp; Integration Model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2148840" y="3520440"/>
            <a:ext cx="7863840" cy="0"/>
          </a:xfrm>
          <a:prstGeom prst="line">
            <a:avLst/>
          </a:prstGeom>
          <a:noFill/>
          <a:ln w="31750">
            <a:solidFill>
              <a:srgbClr val="E2E8E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6304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76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43200" y="3246120"/>
            <a:ext cx="731520" cy="731520"/>
          </a:xfrm>
          <a:prstGeom prst="ellipse">
            <a:avLst/>
          </a:prstGeom>
          <a:solidFill>
            <a:srgbClr val="1176B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3040" y="4206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Ingestion Pipeline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48920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tools export run logs, then upload or sync via CSV, Excel, or APIs; data is normalized, enriched, and mapped to departments, processes, and PDDs.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0664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686800" y="3246120"/>
            <a:ext cx="731520" cy="731520"/>
          </a:xfrm>
          <a:prstGeom prst="ellipse">
            <a:avLst/>
          </a:prstGeom>
          <a:solidFill>
            <a:srgbClr val="38B44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06640" y="4206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Visualization &amp; Scheduled Operations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06640" y="48920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database stores audited, role-aware records; the frontend renders KPIs, dashboards, and org views, while APScheduler jobs manage periodic syncs and alerts.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CognitBotz  |  Cobot Dashboard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Adani_projects/RPA-UI-Dashboard/frontend/public/c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320040"/>
            <a:ext cx="1417320" cy="6675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From Aggregation to Predictive Intelligence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594360" cy="594360"/>
          </a:xfrm>
          <a:prstGeom prst="ellipse">
            <a:avLst/>
          </a:prstGeom>
          <a:solidFill>
            <a:srgbClr val="1176BC"/>
          </a:solidFill>
          <a:ln/>
        </p:spPr>
      </p:sp>
      <p:sp>
        <p:nvSpPr>
          <p:cNvPr id="5" name="Text 2"/>
          <p:cNvSpPr/>
          <p:nvPr/>
        </p:nvSpPr>
        <p:spPr>
          <a:xfrm>
            <a:off x="1325880" y="171907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Integration &amp; Financial Insights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514600"/>
            <a:ext cx="5349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Orchestrator API integration delivers live bot telemetry and status. A cost-savings calculator translates hours saved into monetary impact using configurable rate and utilization assumptions.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406908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F2F6F9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4983480"/>
            <a:ext cx="502920" cy="502920"/>
          </a:xfrm>
          <a:prstGeom prst="roundRect">
            <a:avLst>
              <a:gd name="adj" fmla="val 5455"/>
            </a:avLst>
          </a:prstGeom>
          <a:solidFill>
            <a:srgbClr val="1176BC"/>
          </a:solidFill>
          <a:ln/>
        </p:spPr>
      </p:sp>
      <p:sp>
        <p:nvSpPr>
          <p:cNvPr id="9" name="Shape 6"/>
          <p:cNvSpPr/>
          <p:nvPr/>
        </p:nvSpPr>
        <p:spPr>
          <a:xfrm>
            <a:off x="1600200" y="4631436"/>
            <a:ext cx="502920" cy="854964"/>
          </a:xfrm>
          <a:prstGeom prst="roundRect">
            <a:avLst>
              <a:gd name="adj" fmla="val 5455"/>
            </a:avLst>
          </a:prstGeom>
          <a:solidFill>
            <a:srgbClr val="38B44A">
              <a:alpha val="7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286000" y="4832604"/>
            <a:ext cx="502920" cy="653796"/>
          </a:xfrm>
          <a:prstGeom prst="roundRect">
            <a:avLst>
              <a:gd name="adj" fmla="val 5455"/>
            </a:avLst>
          </a:prstGeom>
          <a:solidFill>
            <a:srgbClr val="1176BC"/>
          </a:solidFill>
          <a:ln/>
        </p:spPr>
      </p:sp>
      <p:sp>
        <p:nvSpPr>
          <p:cNvPr id="11" name="Shape 8"/>
          <p:cNvSpPr/>
          <p:nvPr/>
        </p:nvSpPr>
        <p:spPr>
          <a:xfrm>
            <a:off x="2971800" y="4480560"/>
            <a:ext cx="502920" cy="1005840"/>
          </a:xfrm>
          <a:prstGeom prst="roundRect">
            <a:avLst>
              <a:gd name="adj" fmla="val 5455"/>
            </a:avLst>
          </a:prstGeom>
          <a:solidFill>
            <a:srgbClr val="38B44A">
              <a:alpha val="7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0" y="4732020"/>
            <a:ext cx="502920" cy="754380"/>
          </a:xfrm>
          <a:prstGeom prst="roundRect">
            <a:avLst>
              <a:gd name="adj" fmla="val 5455"/>
            </a:avLst>
          </a:prstGeom>
          <a:solidFill>
            <a:srgbClr val="1176BC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562356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telemetry → cost impact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63640" y="1737360"/>
            <a:ext cx="594360" cy="594360"/>
          </a:xfrm>
          <a:prstGeom prst="ellipse">
            <a:avLst/>
          </a:prstGeom>
          <a:solidFill>
            <a:srgbClr val="38B44A"/>
          </a:solidFill>
          <a:ln/>
        </p:spPr>
      </p:sp>
      <p:sp>
        <p:nvSpPr>
          <p:cNvPr id="15" name="Text 12"/>
          <p:cNvSpPr/>
          <p:nvPr/>
        </p:nvSpPr>
        <p:spPr>
          <a:xfrm>
            <a:off x="7040880" y="171907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Intelligence, Scale &amp; Governance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63640" y="2514600"/>
            <a:ext cx="5349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flags at-risk bots using trends and anomalies. Scalability upgrades the database engine, while governance extensions add audit views, SLA monitoring, and risk scoring.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63640" y="406908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F2F6F9"/>
          </a:solidFill>
          <a:ln/>
        </p:spPr>
      </p:sp>
      <p:sp>
        <p:nvSpPr>
          <p:cNvPr id="18" name="Shape 15"/>
          <p:cNvSpPr/>
          <p:nvPr/>
        </p:nvSpPr>
        <p:spPr>
          <a:xfrm>
            <a:off x="6629400" y="4983480"/>
            <a:ext cx="502920" cy="502920"/>
          </a:xfrm>
          <a:prstGeom prst="roundRect">
            <a:avLst>
              <a:gd name="adj" fmla="val 5455"/>
            </a:avLst>
          </a:prstGeom>
          <a:solidFill>
            <a:srgbClr val="38B44A"/>
          </a:solidFill>
          <a:ln/>
        </p:spPr>
      </p:sp>
      <p:sp>
        <p:nvSpPr>
          <p:cNvPr id="19" name="Shape 16"/>
          <p:cNvSpPr/>
          <p:nvPr/>
        </p:nvSpPr>
        <p:spPr>
          <a:xfrm>
            <a:off x="7315200" y="4631436"/>
            <a:ext cx="502920" cy="854964"/>
          </a:xfrm>
          <a:prstGeom prst="roundRect">
            <a:avLst>
              <a:gd name="adj" fmla="val 5455"/>
            </a:avLst>
          </a:prstGeom>
          <a:solidFill>
            <a:srgbClr val="1176BC">
              <a:alpha val="7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8001000" y="4832604"/>
            <a:ext cx="502920" cy="653796"/>
          </a:xfrm>
          <a:prstGeom prst="roundRect">
            <a:avLst>
              <a:gd name="adj" fmla="val 5455"/>
            </a:avLst>
          </a:prstGeom>
          <a:solidFill>
            <a:srgbClr val="38B44A"/>
          </a:solidFill>
          <a:ln/>
        </p:spPr>
      </p:sp>
      <p:sp>
        <p:nvSpPr>
          <p:cNvPr id="21" name="Shape 18"/>
          <p:cNvSpPr/>
          <p:nvPr/>
        </p:nvSpPr>
        <p:spPr>
          <a:xfrm>
            <a:off x="8686800" y="4480560"/>
            <a:ext cx="502920" cy="1005840"/>
          </a:xfrm>
          <a:prstGeom prst="roundRect">
            <a:avLst>
              <a:gd name="adj" fmla="val 5455"/>
            </a:avLst>
          </a:prstGeom>
          <a:solidFill>
            <a:srgbClr val="1176BC">
              <a:alpha val="7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9372600" y="4732020"/>
            <a:ext cx="502920" cy="754380"/>
          </a:xfrm>
          <a:prstGeom prst="roundRect">
            <a:avLst>
              <a:gd name="adj" fmla="val 5455"/>
            </a:avLst>
          </a:prstGeom>
          <a:solidFill>
            <a:srgbClr val="38B44A"/>
          </a:solidFill>
          <a:ln/>
        </p:spPr>
      </p:sp>
      <p:sp>
        <p:nvSpPr>
          <p:cNvPr id="23" name="Text 20"/>
          <p:cNvSpPr/>
          <p:nvPr/>
        </p:nvSpPr>
        <p:spPr>
          <a:xfrm>
            <a:off x="6263640" y="562356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detection → risk score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CognitBotz  |  Cobot Dashboard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194560"/>
            <a:ext cx="5943600" cy="5943600"/>
          </a:xfrm>
          <a:prstGeom prst="ellipse">
            <a:avLst/>
          </a:prstGeom>
          <a:solidFill>
            <a:srgbClr val="1176B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657600"/>
            <a:ext cx="5486400" cy="5486400"/>
          </a:xfrm>
          <a:prstGeom prst="ellipse">
            <a:avLst/>
          </a:prstGeom>
          <a:solidFill>
            <a:srgbClr val="38B44A">
              <a:alpha val="13000"/>
            </a:srgbClr>
          </a:solidFill>
          <a:ln/>
        </p:spPr>
      </p:sp>
      <p:pic>
        <p:nvPicPr>
          <p:cNvPr id="4" name="Image 0" descr="d:/Adani_projects/RPA-UI-Dashboard/frontend/public/c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457200"/>
            <a:ext cx="1600200" cy="7543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743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868680" y="3794760"/>
            <a:ext cx="502920" cy="54864"/>
          </a:xfrm>
          <a:prstGeom prst="rect">
            <a:avLst/>
          </a:prstGeom>
          <a:solidFill>
            <a:srgbClr val="38B44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977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Gratitude, Recognition, and Moving Forward Together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CognitBotz Solutions  |  Your AI Automation Partner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2026-07-22T13:01:40Z</dcterms:created>
  <dcterms:modified xsi:type="dcterms:W3CDTF">2026-07-22T13:01:40Z</dcterms:modified>
</cp:coreProperties>
</file>