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/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February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2023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Roadshow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Calibri"/>
                <a:cs typeface="Calibri"/>
              </a:rPr>
              <a:t>Adani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Portfolio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World</a:t>
            </a:r>
            <a:r>
              <a:rPr dirty="0" spc="-60"/>
              <a:t> </a:t>
            </a:r>
            <a:r>
              <a:rPr dirty="0"/>
              <a:t>Class</a:t>
            </a:r>
            <a:r>
              <a:rPr dirty="0" spc="-35"/>
              <a:t> </a:t>
            </a:r>
            <a:r>
              <a:rPr dirty="0" spc="-10"/>
              <a:t>Infrastructure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Utility</a:t>
            </a:r>
            <a:r>
              <a:rPr dirty="0" spc="-30"/>
              <a:t> </a:t>
            </a:r>
            <a:r>
              <a:rPr dirty="0" spc="-10"/>
              <a:t>Portfolio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 descr="image00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5271" y="920496"/>
            <a:ext cx="1008517" cy="3429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798066" y="1790445"/>
            <a:ext cx="9660890" cy="3515995"/>
            <a:chOff x="1798066" y="1790445"/>
            <a:chExt cx="9660890" cy="3515995"/>
          </a:xfrm>
        </p:grpSpPr>
        <p:sp>
          <p:nvSpPr>
            <p:cNvPr id="6" name="object 6"/>
            <p:cNvSpPr/>
            <p:nvPr/>
          </p:nvSpPr>
          <p:spPr>
            <a:xfrm>
              <a:off x="1988820" y="4745735"/>
              <a:ext cx="5245735" cy="411480"/>
            </a:xfrm>
            <a:custGeom>
              <a:avLst/>
              <a:gdLst/>
              <a:ahLst/>
              <a:cxnLst/>
              <a:rect l="l" t="t" r="r" b="b"/>
              <a:pathLst>
                <a:path w="5245734" h="411479">
                  <a:moveTo>
                    <a:pt x="0" y="411480"/>
                  </a:moveTo>
                  <a:lnTo>
                    <a:pt x="1188720" y="411480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5245734" h="411479">
                  <a:moveTo>
                    <a:pt x="1350264" y="411480"/>
                  </a:moveTo>
                  <a:lnTo>
                    <a:pt x="2538984" y="411480"/>
                  </a:lnTo>
                  <a:lnTo>
                    <a:pt x="2538984" y="0"/>
                  </a:lnTo>
                  <a:lnTo>
                    <a:pt x="1350264" y="0"/>
                  </a:lnTo>
                  <a:lnTo>
                    <a:pt x="1350264" y="411480"/>
                  </a:lnTo>
                  <a:close/>
                </a:path>
                <a:path w="5245734" h="411479">
                  <a:moveTo>
                    <a:pt x="2839212" y="411480"/>
                  </a:moveTo>
                  <a:lnTo>
                    <a:pt x="4081272" y="411480"/>
                  </a:lnTo>
                  <a:lnTo>
                    <a:pt x="4081272" y="0"/>
                  </a:lnTo>
                  <a:lnTo>
                    <a:pt x="2839212" y="0"/>
                  </a:lnTo>
                  <a:lnTo>
                    <a:pt x="2839212" y="411480"/>
                  </a:lnTo>
                  <a:close/>
                </a:path>
                <a:path w="5245734" h="411479">
                  <a:moveTo>
                    <a:pt x="4223004" y="411480"/>
                  </a:moveTo>
                  <a:lnTo>
                    <a:pt x="5245608" y="411480"/>
                  </a:lnTo>
                  <a:lnTo>
                    <a:pt x="5245608" y="0"/>
                  </a:lnTo>
                  <a:lnTo>
                    <a:pt x="4223004" y="0"/>
                  </a:lnTo>
                  <a:lnTo>
                    <a:pt x="4223004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88820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1188720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188720" y="411480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88820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0" y="411480"/>
                  </a:moveTo>
                  <a:lnTo>
                    <a:pt x="1188720" y="411480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31463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1188719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188719" y="411480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31463" y="3259835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79">
                  <a:moveTo>
                    <a:pt x="0" y="411480"/>
                  </a:moveTo>
                  <a:lnTo>
                    <a:pt x="1188719" y="411480"/>
                  </a:lnTo>
                  <a:lnTo>
                    <a:pt x="1188719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04416" y="1796795"/>
              <a:ext cx="0" cy="3474720"/>
            </a:xfrm>
            <a:custGeom>
              <a:avLst/>
              <a:gdLst/>
              <a:ahLst/>
              <a:cxnLst/>
              <a:rect l="l" t="t" r="r" b="b"/>
              <a:pathLst>
                <a:path w="0" h="3474720">
                  <a:moveTo>
                    <a:pt x="0" y="0"/>
                  </a:moveTo>
                  <a:lnTo>
                    <a:pt x="0" y="3474719"/>
                  </a:lnTo>
                </a:path>
              </a:pathLst>
            </a:custGeom>
            <a:ln w="12700">
              <a:solidFill>
                <a:srgbClr val="001F5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082784" y="3259835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40" h="411479">
                  <a:moveTo>
                    <a:pt x="1234440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234440" y="411480"/>
                  </a:lnTo>
                  <a:lnTo>
                    <a:pt x="123444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082784" y="3259835"/>
              <a:ext cx="1234440" cy="1897380"/>
            </a:xfrm>
            <a:custGeom>
              <a:avLst/>
              <a:gdLst/>
              <a:ahLst/>
              <a:cxnLst/>
              <a:rect l="l" t="t" r="r" b="b"/>
              <a:pathLst>
                <a:path w="1234440" h="1897379">
                  <a:moveTo>
                    <a:pt x="0" y="411480"/>
                  </a:moveTo>
                  <a:lnTo>
                    <a:pt x="1234440" y="411480"/>
                  </a:lnTo>
                  <a:lnTo>
                    <a:pt x="1234440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1234440" h="1897379">
                  <a:moveTo>
                    <a:pt x="0" y="1897380"/>
                  </a:moveTo>
                  <a:lnTo>
                    <a:pt x="1188720" y="1897380"/>
                  </a:lnTo>
                  <a:lnTo>
                    <a:pt x="1188720" y="1485900"/>
                  </a:lnTo>
                  <a:lnTo>
                    <a:pt x="0" y="1485900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73758" y="3001517"/>
              <a:ext cx="9575800" cy="2295525"/>
            </a:xfrm>
            <a:custGeom>
              <a:avLst/>
              <a:gdLst/>
              <a:ahLst/>
              <a:cxnLst/>
              <a:rect l="l" t="t" r="r" b="b"/>
              <a:pathLst>
                <a:path w="9575800" h="2295525">
                  <a:moveTo>
                    <a:pt x="0" y="2295144"/>
                  </a:moveTo>
                  <a:lnTo>
                    <a:pt x="9575292" y="2295144"/>
                  </a:lnTo>
                  <a:lnTo>
                    <a:pt x="9575292" y="0"/>
                  </a:lnTo>
                  <a:lnTo>
                    <a:pt x="5490210" y="18034"/>
                  </a:lnTo>
                  <a:lnTo>
                    <a:pt x="5490210" y="1321816"/>
                  </a:lnTo>
                  <a:lnTo>
                    <a:pt x="0" y="1312799"/>
                  </a:lnTo>
                  <a:lnTo>
                    <a:pt x="0" y="2233366"/>
                  </a:lnTo>
                  <a:lnTo>
                    <a:pt x="0" y="2295144"/>
                  </a:lnTo>
                  <a:close/>
                </a:path>
              </a:pathLst>
            </a:custGeom>
            <a:ln w="19050">
              <a:solidFill>
                <a:srgbClr val="3A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941563" y="3259835"/>
              <a:ext cx="1382395" cy="1896110"/>
            </a:xfrm>
            <a:custGeom>
              <a:avLst/>
              <a:gdLst/>
              <a:ahLst/>
              <a:cxnLst/>
              <a:rect l="l" t="t" r="r" b="b"/>
              <a:pathLst>
                <a:path w="1382395" h="1896110">
                  <a:moveTo>
                    <a:pt x="0" y="411480"/>
                  </a:moveTo>
                  <a:lnTo>
                    <a:pt x="1382268" y="411480"/>
                  </a:lnTo>
                  <a:lnTo>
                    <a:pt x="1382268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  <a:path w="1382395" h="1896110">
                  <a:moveTo>
                    <a:pt x="0" y="1895856"/>
                  </a:moveTo>
                  <a:lnTo>
                    <a:pt x="1382268" y="1895856"/>
                  </a:lnTo>
                  <a:lnTo>
                    <a:pt x="1382268" y="1484376"/>
                  </a:lnTo>
                  <a:lnTo>
                    <a:pt x="0" y="1484376"/>
                  </a:lnTo>
                  <a:lnTo>
                    <a:pt x="0" y="1895856"/>
                  </a:lnTo>
                  <a:close/>
                </a:path>
                <a:path w="1382395" h="1896110">
                  <a:moveTo>
                    <a:pt x="0" y="1103376"/>
                  </a:moveTo>
                  <a:lnTo>
                    <a:pt x="1382268" y="1103376"/>
                  </a:lnTo>
                  <a:lnTo>
                    <a:pt x="1382268" y="691895"/>
                  </a:lnTo>
                  <a:lnTo>
                    <a:pt x="0" y="691895"/>
                  </a:lnTo>
                  <a:lnTo>
                    <a:pt x="0" y="1103376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97230" y="5476138"/>
            <a:ext cx="55683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(%):</a:t>
            </a:r>
            <a:r>
              <a:rPr dirty="0" sz="11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Promoter equity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1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11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Portfolio</a:t>
            </a:r>
            <a:r>
              <a:rPr dirty="0" sz="11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333333"/>
                </a:solidFill>
                <a:latin typeface="Calibri"/>
                <a:cs typeface="Calibri"/>
              </a:rPr>
              <a:t>companies</a:t>
            </a:r>
            <a:r>
              <a:rPr dirty="0" sz="1100" spc="18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(%):</a:t>
            </a:r>
            <a:r>
              <a:rPr dirty="0" sz="1100" spc="20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AEL</a:t>
            </a:r>
            <a:r>
              <a:rPr dirty="0" sz="1100" spc="3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equity</a:t>
            </a:r>
            <a:r>
              <a:rPr dirty="0" sz="1100" spc="-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stake</a:t>
            </a:r>
            <a:r>
              <a:rPr dirty="0" sz="1100" spc="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in</a:t>
            </a:r>
            <a:r>
              <a:rPr dirty="0" sz="1100" spc="2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5489"/>
                </a:solidFill>
                <a:latin typeface="Calibri"/>
                <a:cs typeface="Calibri"/>
              </a:rPr>
              <a:t>its</a:t>
            </a:r>
            <a:r>
              <a:rPr dirty="0" sz="1100" spc="15">
                <a:solidFill>
                  <a:srgbClr val="00548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5489"/>
                </a:solidFill>
                <a:latin typeface="Calibri"/>
                <a:cs typeface="Calibri"/>
              </a:rPr>
              <a:t>subsidiaries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59" y="5766815"/>
            <a:ext cx="11155680" cy="25908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29895" y="5667480"/>
            <a:ext cx="11239500" cy="912494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algn="ctr" marL="300355">
              <a:lnSpc>
                <a:spcPct val="100000"/>
              </a:lnSpc>
              <a:spcBef>
                <a:spcPts val="95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decade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growth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centered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95"/>
              </a:spcBef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1.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NQXT: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North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Queensland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Export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Terminal</a:t>
            </a:r>
            <a:r>
              <a:rPr dirty="0" sz="8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2.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ATGL: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Total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Gas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Ltd,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JV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Total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Energies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3.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center,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JV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8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EdgeConnex,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|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4.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 business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includes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63.15%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Ambuja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 which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turn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owns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50.05%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Limited.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directl</a:t>
            </a:r>
            <a:r>
              <a:rPr dirty="0" sz="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333333"/>
                </a:solidFill>
                <a:latin typeface="Calibri"/>
                <a:cs typeface="Calibri"/>
              </a:rPr>
              <a:t>owns</a:t>
            </a:r>
            <a:r>
              <a:rPr dirty="0" sz="800" spc="5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6.64%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stake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Limited.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Ambuja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ACC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together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capacity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66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MTPA,</a:t>
            </a:r>
            <a:r>
              <a:rPr dirty="0" sz="8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makes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second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largest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cement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manu</a:t>
            </a:r>
            <a:r>
              <a:rPr dirty="0" sz="8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facturer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India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AEL: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Enterprises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APSEZ: 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Ports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Special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Economic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Zone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ATL: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Transmission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T&amp;D: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ransmission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&amp;</a:t>
            </a:r>
            <a:r>
              <a:rPr dirty="0" sz="8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Distribution;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APL: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AGEL: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Green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Energy</a:t>
            </a:r>
            <a:r>
              <a:rPr dirty="0" sz="8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AAHL: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Airport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Holdings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AR</a:t>
            </a:r>
            <a:r>
              <a:rPr dirty="0" sz="800" spc="-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333333"/>
                </a:solidFill>
                <a:latin typeface="Calibri"/>
                <a:cs typeface="Calibri"/>
              </a:rPr>
              <a:t>TL: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Roads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Transport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ANIL: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dirty="0" sz="8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Industries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AWL: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Wilmar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ADL: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Adani</a:t>
            </a:r>
            <a:r>
              <a:rPr dirty="0" sz="8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Digital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Limited;</a:t>
            </a:r>
            <a:r>
              <a:rPr dirty="0" sz="8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IPP</a:t>
            </a:r>
            <a:r>
              <a:rPr dirty="0" sz="8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dirty="0" sz="8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Independent</a:t>
            </a:r>
            <a:r>
              <a:rPr dirty="0" sz="8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dirty="0" sz="8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Producer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14041" y="5510593"/>
            <a:ext cx="466725" cy="160655"/>
            <a:chOff x="8714041" y="5510593"/>
            <a:chExt cx="466725" cy="160655"/>
          </a:xfrm>
        </p:grpSpPr>
        <p:sp>
          <p:nvSpPr>
            <p:cNvPr id="20" name="object 20"/>
            <p:cNvSpPr/>
            <p:nvPr/>
          </p:nvSpPr>
          <p:spPr>
            <a:xfrm>
              <a:off x="8718804" y="5515355"/>
              <a:ext cx="457200" cy="151130"/>
            </a:xfrm>
            <a:custGeom>
              <a:avLst/>
              <a:gdLst/>
              <a:ahLst/>
              <a:cxnLst/>
              <a:rect l="l" t="t" r="r" b="b"/>
              <a:pathLst>
                <a:path w="457200" h="151129">
                  <a:moveTo>
                    <a:pt x="457200" y="0"/>
                  </a:moveTo>
                  <a:lnTo>
                    <a:pt x="0" y="0"/>
                  </a:lnTo>
                  <a:lnTo>
                    <a:pt x="0" y="150876"/>
                  </a:lnTo>
                  <a:lnTo>
                    <a:pt x="457200" y="150876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18804" y="5515355"/>
              <a:ext cx="457200" cy="151130"/>
            </a:xfrm>
            <a:custGeom>
              <a:avLst/>
              <a:gdLst/>
              <a:ahLst/>
              <a:cxnLst/>
              <a:rect l="l" t="t" r="r" b="b"/>
              <a:pathLst>
                <a:path w="457200" h="151129">
                  <a:moveTo>
                    <a:pt x="0" y="150876"/>
                  </a:moveTo>
                  <a:lnTo>
                    <a:pt x="457200" y="150876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50876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225533" y="5517286"/>
            <a:ext cx="1987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-</a:t>
            </a:r>
            <a:r>
              <a:rPr dirty="0" sz="9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Represents</a:t>
            </a:r>
            <a:r>
              <a:rPr dirty="0" sz="9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public</a:t>
            </a:r>
            <a:r>
              <a:rPr dirty="0" sz="9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traded</a:t>
            </a:r>
            <a:r>
              <a:rPr dirty="0" sz="9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33333"/>
                </a:solidFill>
                <a:latin typeface="Calibri"/>
                <a:cs typeface="Calibri"/>
              </a:rPr>
              <a:t>listed</a:t>
            </a:r>
            <a:r>
              <a:rPr dirty="0" sz="9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33333"/>
                </a:solidFill>
                <a:latin typeface="Calibri"/>
                <a:cs typeface="Calibri"/>
              </a:rPr>
              <a:t>verticals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24100" y="178307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61722" y="0"/>
                </a:moveTo>
                <a:lnTo>
                  <a:pt x="26035" y="635"/>
                </a:lnTo>
                <a:lnTo>
                  <a:pt x="7747" y="5080"/>
                </a:lnTo>
                <a:lnTo>
                  <a:pt x="1016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6" y="439800"/>
                </a:lnTo>
                <a:lnTo>
                  <a:pt x="7747" y="451993"/>
                </a:lnTo>
                <a:lnTo>
                  <a:pt x="26035" y="456438"/>
                </a:lnTo>
                <a:lnTo>
                  <a:pt x="61722" y="457073"/>
                </a:lnTo>
                <a:lnTo>
                  <a:pt x="1766951" y="457073"/>
                </a:lnTo>
                <a:lnTo>
                  <a:pt x="1802638" y="456438"/>
                </a:lnTo>
                <a:lnTo>
                  <a:pt x="1820926" y="451993"/>
                </a:lnTo>
                <a:lnTo>
                  <a:pt x="1827657" y="439800"/>
                </a:lnTo>
                <a:lnTo>
                  <a:pt x="1828673" y="416306"/>
                </a:lnTo>
                <a:lnTo>
                  <a:pt x="1828673" y="40767"/>
                </a:lnTo>
                <a:lnTo>
                  <a:pt x="1827657" y="17145"/>
                </a:lnTo>
                <a:lnTo>
                  <a:pt x="1820926" y="5080"/>
                </a:lnTo>
                <a:lnTo>
                  <a:pt x="1802638" y="635"/>
                </a:lnTo>
                <a:lnTo>
                  <a:pt x="1766951" y="0"/>
                </a:lnTo>
                <a:lnTo>
                  <a:pt x="61722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27320" y="1783079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61721" y="0"/>
                </a:moveTo>
                <a:lnTo>
                  <a:pt x="26034" y="635"/>
                </a:lnTo>
                <a:lnTo>
                  <a:pt x="7746" y="5080"/>
                </a:lnTo>
                <a:lnTo>
                  <a:pt x="1015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5" y="439800"/>
                </a:lnTo>
                <a:lnTo>
                  <a:pt x="7746" y="451993"/>
                </a:lnTo>
                <a:lnTo>
                  <a:pt x="26034" y="456438"/>
                </a:lnTo>
                <a:lnTo>
                  <a:pt x="61721" y="457073"/>
                </a:lnTo>
                <a:lnTo>
                  <a:pt x="1766951" y="457073"/>
                </a:lnTo>
                <a:lnTo>
                  <a:pt x="1802637" y="456438"/>
                </a:lnTo>
                <a:lnTo>
                  <a:pt x="1820926" y="451993"/>
                </a:lnTo>
                <a:lnTo>
                  <a:pt x="1827656" y="439800"/>
                </a:lnTo>
                <a:lnTo>
                  <a:pt x="1828673" y="416306"/>
                </a:lnTo>
                <a:lnTo>
                  <a:pt x="1828673" y="40767"/>
                </a:lnTo>
                <a:lnTo>
                  <a:pt x="1827656" y="17145"/>
                </a:lnTo>
                <a:lnTo>
                  <a:pt x="1820926" y="5080"/>
                </a:lnTo>
                <a:lnTo>
                  <a:pt x="1802637" y="635"/>
                </a:lnTo>
                <a:lnTo>
                  <a:pt x="1766951" y="0"/>
                </a:lnTo>
                <a:lnTo>
                  <a:pt x="61721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883664" y="1357883"/>
            <a:ext cx="5508625" cy="306705"/>
            <a:chOff x="1883664" y="1357883"/>
            <a:chExt cx="5508625" cy="306705"/>
          </a:xfrm>
        </p:grpSpPr>
        <p:sp>
          <p:nvSpPr>
            <p:cNvPr id="26" name="object 26"/>
            <p:cNvSpPr/>
            <p:nvPr/>
          </p:nvSpPr>
          <p:spPr>
            <a:xfrm>
              <a:off x="1883664" y="1498599"/>
              <a:ext cx="5508625" cy="107950"/>
            </a:xfrm>
            <a:custGeom>
              <a:avLst/>
              <a:gdLst/>
              <a:ahLst/>
              <a:cxnLst/>
              <a:rect l="l" t="t" r="r" b="b"/>
              <a:pathLst>
                <a:path w="5508625" h="107950">
                  <a:moveTo>
                    <a:pt x="75846" y="31521"/>
                  </a:moveTo>
                  <a:lnTo>
                    <a:pt x="75646" y="31521"/>
                  </a:lnTo>
                  <a:lnTo>
                    <a:pt x="0" y="69976"/>
                  </a:lnTo>
                  <a:lnTo>
                    <a:pt x="76454" y="107569"/>
                  </a:lnTo>
                  <a:lnTo>
                    <a:pt x="55190" y="76200"/>
                  </a:lnTo>
                  <a:lnTo>
                    <a:pt x="50801" y="76200"/>
                  </a:lnTo>
                  <a:lnTo>
                    <a:pt x="50737" y="69818"/>
                  </a:lnTo>
                  <a:lnTo>
                    <a:pt x="50673" y="63373"/>
                  </a:lnTo>
                  <a:lnTo>
                    <a:pt x="54963" y="63373"/>
                  </a:lnTo>
                  <a:lnTo>
                    <a:pt x="75846" y="31521"/>
                  </a:lnTo>
                  <a:close/>
                </a:path>
                <a:path w="5508625" h="107950">
                  <a:moveTo>
                    <a:pt x="2205043" y="63373"/>
                  </a:moveTo>
                  <a:lnTo>
                    <a:pt x="54963" y="63373"/>
                  </a:lnTo>
                  <a:lnTo>
                    <a:pt x="50737" y="69818"/>
                  </a:lnTo>
                  <a:lnTo>
                    <a:pt x="50801" y="76200"/>
                  </a:lnTo>
                  <a:lnTo>
                    <a:pt x="55190" y="76200"/>
                  </a:lnTo>
                  <a:lnTo>
                    <a:pt x="50972" y="69976"/>
                  </a:lnTo>
                  <a:lnTo>
                    <a:pt x="50864" y="69818"/>
                  </a:lnTo>
                  <a:lnTo>
                    <a:pt x="1111739" y="69818"/>
                  </a:lnTo>
                  <a:lnTo>
                    <a:pt x="2205043" y="63373"/>
                  </a:lnTo>
                  <a:close/>
                </a:path>
                <a:path w="5508625" h="107950">
                  <a:moveTo>
                    <a:pt x="1111739" y="69818"/>
                  </a:moveTo>
                  <a:lnTo>
                    <a:pt x="50864" y="69818"/>
                  </a:lnTo>
                  <a:lnTo>
                    <a:pt x="55190" y="76200"/>
                  </a:lnTo>
                  <a:lnTo>
                    <a:pt x="29257" y="76200"/>
                  </a:lnTo>
                  <a:lnTo>
                    <a:pt x="1111739" y="69818"/>
                  </a:lnTo>
                  <a:close/>
                </a:path>
                <a:path w="5508625" h="107950">
                  <a:moveTo>
                    <a:pt x="5496278" y="31521"/>
                  </a:moveTo>
                  <a:lnTo>
                    <a:pt x="5457825" y="31521"/>
                  </a:lnTo>
                  <a:lnTo>
                    <a:pt x="5457885" y="37591"/>
                  </a:lnTo>
                  <a:lnTo>
                    <a:pt x="5457952" y="44221"/>
                  </a:lnTo>
                  <a:lnTo>
                    <a:pt x="5453645" y="44221"/>
                  </a:lnTo>
                  <a:lnTo>
                    <a:pt x="5432679" y="76200"/>
                  </a:lnTo>
                  <a:lnTo>
                    <a:pt x="5495584" y="44221"/>
                  </a:lnTo>
                  <a:lnTo>
                    <a:pt x="5457952" y="44221"/>
                  </a:lnTo>
                  <a:lnTo>
                    <a:pt x="5457889" y="37941"/>
                  </a:lnTo>
                  <a:lnTo>
                    <a:pt x="5507938" y="37941"/>
                  </a:lnTo>
                  <a:lnTo>
                    <a:pt x="5508625" y="37591"/>
                  </a:lnTo>
                  <a:lnTo>
                    <a:pt x="5496278" y="31521"/>
                  </a:lnTo>
                  <a:close/>
                </a:path>
                <a:path w="5508625" h="107950">
                  <a:moveTo>
                    <a:pt x="5453537" y="31521"/>
                  </a:moveTo>
                  <a:lnTo>
                    <a:pt x="50673" y="63373"/>
                  </a:lnTo>
                  <a:lnTo>
                    <a:pt x="50737" y="69818"/>
                  </a:lnTo>
                  <a:lnTo>
                    <a:pt x="54963" y="63373"/>
                  </a:lnTo>
                  <a:lnTo>
                    <a:pt x="2205043" y="63373"/>
                  </a:lnTo>
                  <a:lnTo>
                    <a:pt x="5453645" y="44221"/>
                  </a:lnTo>
                  <a:lnTo>
                    <a:pt x="5457762" y="37941"/>
                  </a:lnTo>
                  <a:lnTo>
                    <a:pt x="5457652" y="37591"/>
                  </a:lnTo>
                  <a:lnTo>
                    <a:pt x="5453537" y="31521"/>
                  </a:lnTo>
                  <a:close/>
                </a:path>
                <a:path w="5508625" h="107950">
                  <a:moveTo>
                    <a:pt x="5432170" y="0"/>
                  </a:moveTo>
                  <a:lnTo>
                    <a:pt x="5457889" y="37941"/>
                  </a:lnTo>
                  <a:lnTo>
                    <a:pt x="5457825" y="31521"/>
                  </a:lnTo>
                  <a:lnTo>
                    <a:pt x="5496278" y="31521"/>
                  </a:lnTo>
                  <a:lnTo>
                    <a:pt x="543217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604516" y="1357883"/>
              <a:ext cx="3872865" cy="306705"/>
            </a:xfrm>
            <a:custGeom>
              <a:avLst/>
              <a:gdLst/>
              <a:ahLst/>
              <a:cxnLst/>
              <a:rect l="l" t="t" r="r" b="b"/>
              <a:pathLst>
                <a:path w="3872865" h="306705">
                  <a:moveTo>
                    <a:pt x="3872483" y="0"/>
                  </a:moveTo>
                  <a:lnTo>
                    <a:pt x="0" y="0"/>
                  </a:lnTo>
                  <a:lnTo>
                    <a:pt x="0" y="306324"/>
                  </a:lnTo>
                  <a:lnTo>
                    <a:pt x="3872483" y="306324"/>
                  </a:lnTo>
                  <a:lnTo>
                    <a:pt x="387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195573" y="1378457"/>
            <a:ext cx="27012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" b="1">
                <a:solidFill>
                  <a:srgbClr val="006CB7"/>
                </a:solidFill>
                <a:latin typeface="Calibri"/>
                <a:cs typeface="Calibri"/>
              </a:rPr>
              <a:t>Infrastructure</a:t>
            </a:r>
            <a:r>
              <a:rPr dirty="0" sz="1400" spc="-50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6CB7"/>
                </a:solidFill>
                <a:latin typeface="Calibri"/>
                <a:cs typeface="Calibri"/>
              </a:rPr>
              <a:t>&amp;</a:t>
            </a:r>
            <a:r>
              <a:rPr dirty="0" sz="1400" spc="15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Utility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Core 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Portfolio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84057" y="2509837"/>
            <a:ext cx="1198245" cy="421005"/>
            <a:chOff x="1984057" y="2509837"/>
            <a:chExt cx="1198245" cy="421005"/>
          </a:xfrm>
        </p:grpSpPr>
        <p:sp>
          <p:nvSpPr>
            <p:cNvPr id="30" name="object 30"/>
            <p:cNvSpPr/>
            <p:nvPr/>
          </p:nvSpPr>
          <p:spPr>
            <a:xfrm>
              <a:off x="1988820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1188720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188720" y="411479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988820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0" y="411479"/>
                  </a:moveTo>
                  <a:lnTo>
                    <a:pt x="1188720" y="411479"/>
                  </a:lnTo>
                  <a:lnTo>
                    <a:pt x="118872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3326701" y="2509837"/>
            <a:ext cx="1198245" cy="421005"/>
            <a:chOff x="3326701" y="2509837"/>
            <a:chExt cx="1198245" cy="421005"/>
          </a:xfrm>
        </p:grpSpPr>
        <p:sp>
          <p:nvSpPr>
            <p:cNvPr id="33" name="object 33"/>
            <p:cNvSpPr/>
            <p:nvPr/>
          </p:nvSpPr>
          <p:spPr>
            <a:xfrm>
              <a:off x="3331464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1188719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188719" y="411479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331464" y="2514600"/>
              <a:ext cx="1188720" cy="411480"/>
            </a:xfrm>
            <a:custGeom>
              <a:avLst/>
              <a:gdLst/>
              <a:ahLst/>
              <a:cxnLst/>
              <a:rect l="l" t="t" r="r" b="b"/>
              <a:pathLst>
                <a:path w="1188720" h="411480">
                  <a:moveTo>
                    <a:pt x="0" y="411479"/>
                  </a:moveTo>
                  <a:lnTo>
                    <a:pt x="1188719" y="411479"/>
                  </a:lnTo>
                  <a:lnTo>
                    <a:pt x="1188719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823269" y="2509837"/>
            <a:ext cx="1243965" cy="421005"/>
            <a:chOff x="4823269" y="2509837"/>
            <a:chExt cx="1243965" cy="421005"/>
          </a:xfrm>
        </p:grpSpPr>
        <p:sp>
          <p:nvSpPr>
            <p:cNvPr id="36" name="object 36"/>
            <p:cNvSpPr/>
            <p:nvPr/>
          </p:nvSpPr>
          <p:spPr>
            <a:xfrm>
              <a:off x="4828032" y="2514600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39" h="411480">
                  <a:moveTo>
                    <a:pt x="1234439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234439" y="411479"/>
                  </a:lnTo>
                  <a:lnTo>
                    <a:pt x="1234439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828032" y="2514600"/>
              <a:ext cx="1234440" cy="411480"/>
            </a:xfrm>
            <a:custGeom>
              <a:avLst/>
              <a:gdLst/>
              <a:ahLst/>
              <a:cxnLst/>
              <a:rect l="l" t="t" r="r" b="b"/>
              <a:pathLst>
                <a:path w="1234439" h="411480">
                  <a:moveTo>
                    <a:pt x="0" y="411479"/>
                  </a:moveTo>
                  <a:lnTo>
                    <a:pt x="1234439" y="411479"/>
                  </a:lnTo>
                  <a:lnTo>
                    <a:pt x="1234439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6211823" y="2514600"/>
            <a:ext cx="1022985" cy="411480"/>
          </a:xfrm>
          <a:custGeom>
            <a:avLst/>
            <a:gdLst/>
            <a:ahLst/>
            <a:cxnLst/>
            <a:rect l="l" t="t" r="r" b="b"/>
            <a:pathLst>
              <a:path w="1022984" h="411480">
                <a:moveTo>
                  <a:pt x="0" y="411479"/>
                </a:moveTo>
                <a:lnTo>
                  <a:pt x="1022603" y="411479"/>
                </a:lnTo>
                <a:lnTo>
                  <a:pt x="1022603" y="0"/>
                </a:lnTo>
                <a:lnTo>
                  <a:pt x="0" y="0"/>
                </a:lnTo>
                <a:lnTo>
                  <a:pt x="0" y="411479"/>
                </a:lnTo>
                <a:close/>
              </a:path>
            </a:pathLst>
          </a:custGeom>
          <a:ln w="952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06283" y="1783079"/>
            <a:ext cx="1941830" cy="457200"/>
          </a:xfrm>
          <a:custGeom>
            <a:avLst/>
            <a:gdLst/>
            <a:ahLst/>
            <a:cxnLst/>
            <a:rect l="l" t="t" r="r" b="b"/>
            <a:pathLst>
              <a:path w="1941829" h="457200">
                <a:moveTo>
                  <a:pt x="65532" y="0"/>
                </a:moveTo>
                <a:lnTo>
                  <a:pt x="27686" y="635"/>
                </a:lnTo>
                <a:lnTo>
                  <a:pt x="8255" y="5080"/>
                </a:lnTo>
                <a:lnTo>
                  <a:pt x="1016" y="17145"/>
                </a:lnTo>
                <a:lnTo>
                  <a:pt x="0" y="40767"/>
                </a:lnTo>
                <a:lnTo>
                  <a:pt x="0" y="416306"/>
                </a:lnTo>
                <a:lnTo>
                  <a:pt x="1016" y="439800"/>
                </a:lnTo>
                <a:lnTo>
                  <a:pt x="8255" y="451993"/>
                </a:lnTo>
                <a:lnTo>
                  <a:pt x="27686" y="456438"/>
                </a:lnTo>
                <a:lnTo>
                  <a:pt x="65532" y="457073"/>
                </a:lnTo>
                <a:lnTo>
                  <a:pt x="1875917" y="457073"/>
                </a:lnTo>
                <a:lnTo>
                  <a:pt x="1913763" y="456438"/>
                </a:lnTo>
                <a:lnTo>
                  <a:pt x="1933194" y="451993"/>
                </a:lnTo>
                <a:lnTo>
                  <a:pt x="1940433" y="439800"/>
                </a:lnTo>
                <a:lnTo>
                  <a:pt x="1941449" y="416306"/>
                </a:lnTo>
                <a:lnTo>
                  <a:pt x="1941449" y="40767"/>
                </a:lnTo>
                <a:lnTo>
                  <a:pt x="1940433" y="17145"/>
                </a:lnTo>
                <a:lnTo>
                  <a:pt x="1933194" y="5080"/>
                </a:lnTo>
                <a:lnTo>
                  <a:pt x="1913763" y="635"/>
                </a:lnTo>
                <a:lnTo>
                  <a:pt x="1875917" y="0"/>
                </a:lnTo>
                <a:lnTo>
                  <a:pt x="65532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7936801" y="2509837"/>
            <a:ext cx="1391920" cy="421005"/>
            <a:chOff x="7936801" y="2509837"/>
            <a:chExt cx="1391920" cy="421005"/>
          </a:xfrm>
        </p:grpSpPr>
        <p:sp>
          <p:nvSpPr>
            <p:cNvPr id="41" name="object 41"/>
            <p:cNvSpPr/>
            <p:nvPr/>
          </p:nvSpPr>
          <p:spPr>
            <a:xfrm>
              <a:off x="7941564" y="2514600"/>
              <a:ext cx="1382395" cy="411480"/>
            </a:xfrm>
            <a:custGeom>
              <a:avLst/>
              <a:gdLst/>
              <a:ahLst/>
              <a:cxnLst/>
              <a:rect l="l" t="t" r="r" b="b"/>
              <a:pathLst>
                <a:path w="1382395" h="411480">
                  <a:moveTo>
                    <a:pt x="1382268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382268" y="411479"/>
                  </a:lnTo>
                  <a:lnTo>
                    <a:pt x="1382268" y="0"/>
                  </a:lnTo>
                  <a:close/>
                </a:path>
              </a:pathLst>
            </a:custGeom>
            <a:solidFill>
              <a:srgbClr val="E9EC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941564" y="2514600"/>
              <a:ext cx="1382395" cy="411480"/>
            </a:xfrm>
            <a:custGeom>
              <a:avLst/>
              <a:gdLst/>
              <a:ahLst/>
              <a:cxnLst/>
              <a:rect l="l" t="t" r="r" b="b"/>
              <a:pathLst>
                <a:path w="1382395" h="411480">
                  <a:moveTo>
                    <a:pt x="0" y="411479"/>
                  </a:moveTo>
                  <a:lnTo>
                    <a:pt x="1382268" y="411479"/>
                  </a:lnTo>
                  <a:lnTo>
                    <a:pt x="1382268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055991" y="1378457"/>
            <a:ext cx="12376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Primary </a:t>
            </a: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Industry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809988" y="1783079"/>
            <a:ext cx="1638300" cy="457200"/>
          </a:xfrm>
          <a:custGeom>
            <a:avLst/>
            <a:gdLst/>
            <a:ahLst/>
            <a:cxnLst/>
            <a:rect l="l" t="t" r="r" b="b"/>
            <a:pathLst>
              <a:path w="1638300" h="457200">
                <a:moveTo>
                  <a:pt x="55371" y="0"/>
                </a:moveTo>
                <a:lnTo>
                  <a:pt x="23367" y="635"/>
                </a:lnTo>
                <a:lnTo>
                  <a:pt x="6857" y="5080"/>
                </a:lnTo>
                <a:lnTo>
                  <a:pt x="888" y="17145"/>
                </a:lnTo>
                <a:lnTo>
                  <a:pt x="0" y="40767"/>
                </a:lnTo>
                <a:lnTo>
                  <a:pt x="0" y="416306"/>
                </a:lnTo>
                <a:lnTo>
                  <a:pt x="888" y="439800"/>
                </a:lnTo>
                <a:lnTo>
                  <a:pt x="6857" y="451993"/>
                </a:lnTo>
                <a:lnTo>
                  <a:pt x="23367" y="456438"/>
                </a:lnTo>
                <a:lnTo>
                  <a:pt x="55371" y="457073"/>
                </a:lnTo>
                <a:lnTo>
                  <a:pt x="1582927" y="457073"/>
                </a:lnTo>
                <a:lnTo>
                  <a:pt x="1614804" y="456438"/>
                </a:lnTo>
                <a:lnTo>
                  <a:pt x="1631314" y="451993"/>
                </a:lnTo>
                <a:lnTo>
                  <a:pt x="1637283" y="439800"/>
                </a:lnTo>
                <a:lnTo>
                  <a:pt x="1638172" y="416306"/>
                </a:lnTo>
                <a:lnTo>
                  <a:pt x="1638172" y="40767"/>
                </a:lnTo>
                <a:lnTo>
                  <a:pt x="1637283" y="17145"/>
                </a:lnTo>
                <a:lnTo>
                  <a:pt x="1631314" y="5080"/>
                </a:lnTo>
                <a:lnTo>
                  <a:pt x="1614804" y="635"/>
                </a:lnTo>
                <a:lnTo>
                  <a:pt x="1582927" y="0"/>
                </a:lnTo>
                <a:lnTo>
                  <a:pt x="55371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873757" y="1825751"/>
          <a:ext cx="9652000" cy="346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1935"/>
                <a:gridCol w="2708275"/>
                <a:gridCol w="100964"/>
                <a:gridCol w="2204084"/>
                <a:gridCol w="1781175"/>
              </a:tblGrid>
              <a:tr h="1184275">
                <a:tc rowSpan="2"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Utility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1337310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(60.5%)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(73.9%)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r" marR="615950">
                        <a:lnSpc>
                          <a:spcPts val="1370"/>
                        </a:lnSpc>
                        <a:spcBef>
                          <a:spcPts val="305"/>
                        </a:spcBef>
                        <a:tabLst>
                          <a:tab pos="1391285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59410">
                        <a:lnSpc>
                          <a:spcPts val="1370"/>
                        </a:lnSpc>
                        <a:tabLst>
                          <a:tab pos="1921510" algn="l"/>
                        </a:tabLst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Renewables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T&amp;D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6034">
                        <a:lnSpc>
                          <a:spcPct val="100000"/>
                        </a:lnSpc>
                        <a:tabLst>
                          <a:tab pos="1387475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(37.4%)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(75.0%)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r" marR="606425">
                        <a:lnSpc>
                          <a:spcPts val="1370"/>
                        </a:lnSpc>
                        <a:spcBef>
                          <a:spcPts val="430"/>
                        </a:spcBef>
                        <a:tabLst>
                          <a:tab pos="1401445" algn="l"/>
                        </a:tabLst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ATGL</a:t>
                      </a:r>
                      <a:r>
                        <a:rPr dirty="0" baseline="24305" sz="12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24305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r" marR="629285">
                        <a:lnSpc>
                          <a:spcPts val="1370"/>
                        </a:lnSpc>
                        <a:tabLst>
                          <a:tab pos="1612265" algn="l"/>
                        </a:tabLst>
                      </a:pP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Gas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Discom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 marL="1727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8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Transport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Logistics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13664">
                        <a:lnSpc>
                          <a:spcPct val="100000"/>
                        </a:lnSpc>
                        <a:tabLst>
                          <a:tab pos="1431925" algn="l"/>
                        </a:tabLst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(66.0%)</a:t>
                      </a:r>
                      <a:r>
                        <a:rPr dirty="0" sz="11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74930">
                        <a:lnSpc>
                          <a:spcPts val="1370"/>
                        </a:lnSpc>
                        <a:spcBef>
                          <a:spcPts val="305"/>
                        </a:spcBef>
                        <a:tabLst>
                          <a:tab pos="1328420" algn="l"/>
                        </a:tabLst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APSEZ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0092" sz="1800" spc="-3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NQXT</a:t>
                      </a:r>
                      <a:r>
                        <a:rPr dirty="0" baseline="-20833" sz="1200" spc="-3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baseline="-20833" sz="1200">
                        <a:latin typeface="Calibri"/>
                        <a:cs typeface="Calibri"/>
                      </a:endParaRPr>
                    </a:p>
                    <a:p>
                      <a:pPr marL="320040">
                        <a:lnSpc>
                          <a:spcPts val="1370"/>
                        </a:lnSpc>
                      </a:pP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00" spc="-6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Logistics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Materials,</a:t>
                      </a:r>
                      <a:r>
                        <a:rPr dirty="0" sz="1400" spc="-10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7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Metal</a:t>
                      </a:r>
                      <a:r>
                        <a:rPr dirty="0" sz="1400" spc="-1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14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3525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(63.2%)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71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Cement</a:t>
                      </a:r>
                      <a:r>
                        <a:rPr dirty="0" baseline="24305" sz="12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baseline="24305"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400" spc="-7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dirty="0" sz="1400" spc="-1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00" spc="-1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consumer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  <a:tr h="13081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906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PVC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144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716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Copper,</a:t>
                      </a:r>
                      <a:r>
                        <a:rPr dirty="0" sz="12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Aluminum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144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38430">
                        <a:lnSpc>
                          <a:spcPts val="1370"/>
                        </a:lnSpc>
                        <a:spcBef>
                          <a:spcPts val="345"/>
                        </a:spcBef>
                      </a:pPr>
                      <a:r>
                        <a:rPr dirty="0" sz="1200" spc="-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r>
                        <a:rPr dirty="0" sz="1200" spc="-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138430">
                        <a:lnSpc>
                          <a:spcPts val="1370"/>
                        </a:lnSpc>
                      </a:pPr>
                      <a:r>
                        <a:rPr dirty="0" sz="1200" spc="-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Commercial</a:t>
                      </a:r>
                      <a:r>
                        <a:rPr dirty="0" sz="1200" spc="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Mining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2413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(44.0%)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91465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288290">
                        <a:lnSpc>
                          <a:spcPts val="1370"/>
                        </a:lnSpc>
                      </a:pPr>
                      <a:r>
                        <a:rPr dirty="0" sz="1200" spc="-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Food 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FMCG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8765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45745">
                        <a:lnSpc>
                          <a:spcPts val="1370"/>
                        </a:lnSpc>
                        <a:spcBef>
                          <a:spcPts val="350"/>
                        </a:spcBef>
                      </a:pPr>
                      <a:r>
                        <a:rPr dirty="0" sz="1200" spc="-2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 marL="243840">
                        <a:lnSpc>
                          <a:spcPts val="1370"/>
                        </a:lnSpc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  <a:tr h="977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44450">
                        <a:lnSpc>
                          <a:spcPct val="100000"/>
                        </a:lnSpc>
                        <a:tabLst>
                          <a:tab pos="1362075" algn="l"/>
                        </a:tabLst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r>
                        <a:rPr dirty="0" sz="110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2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(50%)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74040">
                        <a:lnSpc>
                          <a:spcPts val="1370"/>
                        </a:lnSpc>
                        <a:spcBef>
                          <a:spcPts val="350"/>
                        </a:spcBef>
                        <a:tabLst>
                          <a:tab pos="1649095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ANIL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AdaniConneX</a:t>
                      </a:r>
                      <a:r>
                        <a:rPr dirty="0" baseline="24305" sz="1200" spc="-15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baseline="24305" sz="1200">
                        <a:latin typeface="Calibri"/>
                        <a:cs typeface="Calibri"/>
                      </a:endParaRPr>
                    </a:p>
                    <a:p>
                      <a:pPr algn="ctr" marR="90170">
                        <a:lnSpc>
                          <a:spcPts val="1370"/>
                        </a:lnSpc>
                        <a:tabLst>
                          <a:tab pos="1440815" algn="l"/>
                        </a:tabLst>
                      </a:pP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200" spc="-5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Industries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8170">
                        <a:lnSpc>
                          <a:spcPct val="100000"/>
                        </a:lnSpc>
                        <a:tabLst>
                          <a:tab pos="1958975" algn="l"/>
                        </a:tabLst>
                      </a:pP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r>
                        <a:rPr dirty="0" sz="110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10">
                          <a:solidFill>
                            <a:srgbClr val="537DC7"/>
                          </a:solidFill>
                          <a:latin typeface="Calibri"/>
                          <a:cs typeface="Calibri"/>
                        </a:rPr>
                        <a:t>(100%)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35635">
                        <a:lnSpc>
                          <a:spcPts val="1370"/>
                        </a:lnSpc>
                        <a:spcBef>
                          <a:spcPts val="350"/>
                        </a:spcBef>
                        <a:tabLst>
                          <a:tab pos="1923414" algn="l"/>
                        </a:tabLst>
                      </a:pP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AAHL</a:t>
                      </a:r>
                      <a:r>
                        <a:rPr dirty="0" sz="120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0" b="1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ARTL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>
                        <a:lnSpc>
                          <a:spcPts val="1370"/>
                        </a:lnSpc>
                        <a:tabLst>
                          <a:tab pos="1898650" algn="l"/>
                        </a:tabLst>
                      </a:pPr>
                      <a:r>
                        <a:rPr dirty="0" sz="12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Roads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  <a:lnR w="12700">
                      <a:solidFill>
                        <a:srgbClr val="001F5F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1275">
                    <a:lnL w="12700">
                      <a:solidFill>
                        <a:srgbClr val="001F5F"/>
                      </a:solidFill>
                      <a:prstDash val="sysDash"/>
                    </a:lnL>
                  </a:tcPr>
                </a:tc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10080117" y="1378457"/>
            <a:ext cx="10210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006CB7"/>
                </a:solidFill>
                <a:latin typeface="Calibri"/>
                <a:cs typeface="Calibri"/>
              </a:rPr>
              <a:t>Emerging</a:t>
            </a:r>
            <a:r>
              <a:rPr dirty="0" sz="1400" spc="-35" b="1">
                <a:solidFill>
                  <a:srgbClr val="006CB7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6CB7"/>
                </a:solidFill>
                <a:latin typeface="Calibri"/>
                <a:cs typeface="Calibri"/>
              </a:rPr>
              <a:t>B2C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9872" y="2514600"/>
            <a:ext cx="1188720" cy="411480"/>
          </a:xfrm>
          <a:prstGeom prst="rect">
            <a:avLst/>
          </a:prstGeom>
          <a:solidFill>
            <a:srgbClr val="E9ECF7"/>
          </a:solidFill>
          <a:ln w="9525">
            <a:solidFill>
              <a:srgbClr val="4471C4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825"/>
              </a:spcBef>
            </a:pPr>
            <a:r>
              <a:rPr dirty="0" sz="1200" spc="-25" b="1">
                <a:solidFill>
                  <a:srgbClr val="333333"/>
                </a:solidFill>
                <a:latin typeface="Calibri"/>
                <a:cs typeface="Calibri"/>
              </a:rPr>
              <a:t>AEL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7140" y="2308098"/>
            <a:ext cx="470534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333333"/>
                </a:solidFill>
                <a:latin typeface="Calibri"/>
                <a:cs typeface="Calibri"/>
              </a:rPr>
              <a:t>(72.6%)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85469" y="2926842"/>
            <a:ext cx="788035" cy="1894205"/>
          </a:xfrm>
          <a:custGeom>
            <a:avLst/>
            <a:gdLst/>
            <a:ahLst/>
            <a:cxnLst/>
            <a:rect l="l" t="t" r="r" b="b"/>
            <a:pathLst>
              <a:path w="788035" h="1894204">
                <a:moveTo>
                  <a:pt x="737107" y="1858137"/>
                </a:moveTo>
                <a:lnTo>
                  <a:pt x="708660" y="1893951"/>
                </a:lnTo>
                <a:lnTo>
                  <a:pt x="774700" y="1867662"/>
                </a:lnTo>
                <a:lnTo>
                  <a:pt x="737107" y="1867662"/>
                </a:lnTo>
                <a:lnTo>
                  <a:pt x="737107" y="1858137"/>
                </a:lnTo>
                <a:close/>
              </a:path>
              <a:path w="788035" h="1894204">
                <a:moveTo>
                  <a:pt x="19050" y="0"/>
                </a:moveTo>
                <a:lnTo>
                  <a:pt x="0" y="0"/>
                </a:lnTo>
                <a:lnTo>
                  <a:pt x="0" y="1867662"/>
                </a:lnTo>
                <a:lnTo>
                  <a:pt x="729542" y="1867662"/>
                </a:lnTo>
                <a:lnTo>
                  <a:pt x="737107" y="1858137"/>
                </a:lnTo>
                <a:lnTo>
                  <a:pt x="19050" y="1858137"/>
                </a:lnTo>
                <a:lnTo>
                  <a:pt x="9525" y="1848612"/>
                </a:lnTo>
                <a:lnTo>
                  <a:pt x="19050" y="1848612"/>
                </a:lnTo>
                <a:lnTo>
                  <a:pt x="19050" y="0"/>
                </a:lnTo>
                <a:close/>
              </a:path>
              <a:path w="788035" h="1894204">
                <a:moveTo>
                  <a:pt x="765053" y="1848612"/>
                </a:moveTo>
                <a:lnTo>
                  <a:pt x="737107" y="1848612"/>
                </a:lnTo>
                <a:lnTo>
                  <a:pt x="737107" y="1867662"/>
                </a:lnTo>
                <a:lnTo>
                  <a:pt x="774700" y="1867662"/>
                </a:lnTo>
                <a:lnTo>
                  <a:pt x="787781" y="1862455"/>
                </a:lnTo>
                <a:lnTo>
                  <a:pt x="765053" y="1848612"/>
                </a:lnTo>
                <a:close/>
              </a:path>
              <a:path w="788035" h="1894204">
                <a:moveTo>
                  <a:pt x="19050" y="1848612"/>
                </a:moveTo>
                <a:lnTo>
                  <a:pt x="9525" y="1848612"/>
                </a:lnTo>
                <a:lnTo>
                  <a:pt x="19050" y="1858137"/>
                </a:lnTo>
                <a:lnTo>
                  <a:pt x="19050" y="1848612"/>
                </a:lnTo>
                <a:close/>
              </a:path>
              <a:path w="788035" h="1894204">
                <a:moveTo>
                  <a:pt x="731846" y="1848612"/>
                </a:moveTo>
                <a:lnTo>
                  <a:pt x="19050" y="1848612"/>
                </a:lnTo>
                <a:lnTo>
                  <a:pt x="19050" y="1858137"/>
                </a:lnTo>
                <a:lnTo>
                  <a:pt x="737107" y="1858137"/>
                </a:lnTo>
                <a:lnTo>
                  <a:pt x="731846" y="1848612"/>
                </a:lnTo>
                <a:close/>
              </a:path>
              <a:path w="788035" h="1894204">
                <a:moveTo>
                  <a:pt x="715010" y="1818132"/>
                </a:moveTo>
                <a:lnTo>
                  <a:pt x="737107" y="1858137"/>
                </a:lnTo>
                <a:lnTo>
                  <a:pt x="737107" y="1848612"/>
                </a:lnTo>
                <a:lnTo>
                  <a:pt x="765053" y="1848612"/>
                </a:lnTo>
                <a:lnTo>
                  <a:pt x="715010" y="1818132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99872" y="1783079"/>
            <a:ext cx="1188720" cy="45720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875"/>
              </a:spcBef>
            </a:pPr>
            <a:r>
              <a:rPr dirty="0" sz="1400" spc="-10" b="1">
                <a:solidFill>
                  <a:srgbClr val="333333"/>
                </a:solidFill>
                <a:latin typeface="Calibri"/>
                <a:cs typeface="Calibri"/>
              </a:rPr>
              <a:t>Incubator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8865" y="1378457"/>
            <a:ext cx="6210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6CB7"/>
                </a:solidFill>
                <a:latin typeface="Calibri"/>
                <a:cs typeface="Calibri"/>
              </a:rPr>
              <a:t>Flagship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  <a:endParaRPr sz="16000">
              <a:latin typeface="Calibri Light"/>
              <a:cs typeface="Calibri Light"/>
            </a:endParaRPr>
          </a:p>
          <a:p>
            <a:pPr marL="12700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Results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Overview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&amp;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Salient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Features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10"/>
              <a:t>Portfolio:</a:t>
            </a:r>
            <a:r>
              <a:rPr dirty="0" sz="2200" spc="-70"/>
              <a:t> </a:t>
            </a:r>
            <a:r>
              <a:rPr dirty="0" sz="2200"/>
              <a:t>Strong</a:t>
            </a:r>
            <a:r>
              <a:rPr dirty="0" sz="2200" spc="-75"/>
              <a:t> </a:t>
            </a:r>
            <a:r>
              <a:rPr dirty="0" sz="2200"/>
              <a:t>Financial</a:t>
            </a:r>
            <a:r>
              <a:rPr dirty="0" sz="2200" spc="-75"/>
              <a:t> </a:t>
            </a:r>
            <a:r>
              <a:rPr dirty="0" sz="2200" spc="-10"/>
              <a:t>Performance</a:t>
            </a:r>
            <a:r>
              <a:rPr dirty="0" sz="2200" spc="-60"/>
              <a:t> </a:t>
            </a:r>
            <a:r>
              <a:rPr dirty="0" sz="2200"/>
              <a:t>delivered</a:t>
            </a:r>
            <a:r>
              <a:rPr dirty="0" sz="2200" spc="-75"/>
              <a:t> </a:t>
            </a:r>
            <a:r>
              <a:rPr dirty="0" sz="2200"/>
              <a:t>across</a:t>
            </a:r>
            <a:r>
              <a:rPr dirty="0" sz="2200" spc="-75"/>
              <a:t> </a:t>
            </a:r>
            <a:r>
              <a:rPr dirty="0" sz="2200" spc="-10"/>
              <a:t>portfolio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FY2023 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57%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40,269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46%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32,617 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(81%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Portfolio)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Businesses 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FMCG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45%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4,833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(12%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Q-o-</a:t>
            </a:r>
            <a:r>
              <a:rPr dirty="0" sz="1200">
                <a:latin typeface="Calibri"/>
                <a:cs typeface="Calibri"/>
              </a:rPr>
              <a:t>Q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optimization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synergies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improvement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margins.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340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829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 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 </a:t>
            </a:r>
            <a:r>
              <a:rPr dirty="0" sz="1200" spc="-10">
                <a:latin typeface="Calibri"/>
                <a:cs typeface="Calibri"/>
              </a:rPr>
              <a:t>quarter</a:t>
            </a:r>
            <a:endParaRPr sz="1200">
              <a:latin typeface="Calibri"/>
              <a:cs typeface="Calibri"/>
            </a:endParaRPr>
          </a:p>
          <a:p>
            <a:pPr algn="r" marR="965835">
              <a:lnSpc>
                <a:spcPct val="100000"/>
              </a:lnSpc>
              <a:spcBef>
                <a:spcPts val="1360"/>
              </a:spcBef>
            </a:pPr>
            <a:r>
              <a:rPr dirty="0" sz="1200" i="1">
                <a:latin typeface="Calibri"/>
                <a:cs typeface="Calibri"/>
              </a:rPr>
              <a:t>All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figures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INR </a:t>
            </a:r>
            <a:r>
              <a:rPr dirty="0" sz="1200" spc="-25" i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Adani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completed </a:t>
            </a:r>
            <a:r>
              <a:rPr dirty="0" sz="1000" spc="-10">
                <a:latin typeface="Calibri"/>
                <a:cs typeface="Calibri"/>
              </a:rPr>
              <a:t>acquisition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Holcim’s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India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 business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consisting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Ambuja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September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15,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2022</a:t>
            </a:r>
            <a:endParaRPr sz="1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EBITDA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reduction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account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</a:t>
            </a:r>
            <a:r>
              <a:rPr dirty="0" sz="1000">
                <a:latin typeface="Calibri"/>
                <a:cs typeface="Calibri"/>
              </a:rPr>
              <a:t>off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impact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edible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oil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Q2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FY2023.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inventory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procured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prior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COGS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Q3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FY2023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Utility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20,518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13,105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Transport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9,562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8,026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20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2,537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1,165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118%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A.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1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(Infrastructure)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32,617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22,296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46%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81%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Adjacencies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(Cement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B.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0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(Adjacencies)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AEL-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3,531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2,022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FMCG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2</a:t>
                      </a:r>
                      <a:endParaRPr baseline="34722"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(1%)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C.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(Others)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4,833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3,333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45%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12%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Portfolio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(A+B+C)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40,269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25,629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100%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Audit</a:t>
            </a:r>
            <a:r>
              <a:rPr dirty="0" spc="-35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0266" y="1082421"/>
          <a:ext cx="10918825" cy="4321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5085"/>
                <a:gridCol w="2270125"/>
                <a:gridCol w="5974715"/>
              </a:tblGrid>
              <a:tr h="445770">
                <a:tc>
                  <a:txBody>
                    <a:bodyPr/>
                    <a:lstStyle/>
                    <a:p>
                      <a:pPr marL="710565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800" spc="-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039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8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Auditor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39"/>
                        </a:lnSpc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Remarks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SEZ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(E&amp;Y)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Power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(EY)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Sells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Transmission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Deloitte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Haskins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Sells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Dharmesh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Co.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Energy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rotation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BSR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(KPMG)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0">
                <a:tc>
                  <a:txBody>
                    <a:bodyPr/>
                    <a:lstStyle/>
                    <a:p>
                      <a:pPr marL="50800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(AEL)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 marR="7048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includes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Statutory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Ernst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&amp;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Young,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PKF,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Walker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Chandiok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Rao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Co.,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etc..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5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incubator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businesses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sectors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subsidiaries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associates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spread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7747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over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eight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There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firms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within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Enterprises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include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mix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four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Auditors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well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who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highly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reputed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their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respective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jurisdictions.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1435" marR="211772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example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MIAL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audited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Grant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Thornton </a:t>
                      </a: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u="heavy" sz="11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Auditors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1435" marR="51371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6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Authority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provisions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Concession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Agreement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Gayendra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Co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Gas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Shah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Dhandharia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Co.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Currently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process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evaluating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global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big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Wilmar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595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SRBC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(EY)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Dharmesh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Parikh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Co.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(Joint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Auditors)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EY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now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joint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statutory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auditor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50800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00"/>
                        </a:lnSpc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26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Prior,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entities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were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owned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Holcim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0154" y="5411825"/>
            <a:ext cx="1081849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Periodic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Review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-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Disclosures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Grant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Thornton.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audit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randomly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selected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function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Global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–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22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Hedging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Policy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undertaken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Ernst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Young.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latin typeface="Calibri"/>
                <a:cs typeface="Calibri"/>
              </a:rPr>
              <a:t>Further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ATL,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AGEL,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APL,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AAHL,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45" b="1">
                <a:latin typeface="Calibri"/>
                <a:cs typeface="Calibri"/>
              </a:rPr>
              <a:t>ATGL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regulated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relevant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regulator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(e.g.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CERC,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AERA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0"/>
              <a:t> </a:t>
            </a:r>
            <a:r>
              <a:rPr dirty="0" spc="-10"/>
              <a:t>Portfolio: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test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disclosure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5"/>
              <a:t> </a:t>
            </a:r>
            <a:r>
              <a:rPr dirty="0" spc="-1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8126"/>
            <a:ext cx="10497185" cy="139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3695" marR="5080" indent="-340995">
              <a:lnSpc>
                <a:spcPct val="99700"/>
              </a:lnSpc>
              <a:spcBef>
                <a:spcPts val="105"/>
              </a:spcBef>
              <a:buAutoNum type="arabicPeriod"/>
              <a:tabLst>
                <a:tab pos="355600" algn="l"/>
              </a:tabLst>
            </a:pPr>
            <a:r>
              <a:rPr dirty="0" sz="1800" b="1">
                <a:latin typeface="Trebuchet MS"/>
                <a:cs typeface="Trebuchet MS"/>
              </a:rPr>
              <a:t>65</a:t>
            </a:r>
            <a:r>
              <a:rPr dirty="0" sz="1800" spc="-7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“questions”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relate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matters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that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have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been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duly</a:t>
            </a:r>
            <a:r>
              <a:rPr dirty="0" sz="1800" spc="-4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disclosed</a:t>
            </a:r>
            <a:r>
              <a:rPr dirty="0" sz="1800" spc="-50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by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Adani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Portfolio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companies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in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annual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reports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available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their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websites,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offering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memorandums,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financial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statements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and </a:t>
            </a:r>
            <a:r>
              <a:rPr dirty="0" sz="1800" spc="-25">
                <a:latin typeface="Trebuchet MS"/>
                <a:cs typeface="Trebuchet MS"/>
              </a:rPr>
              <a:t>	</a:t>
            </a:r>
            <a:r>
              <a:rPr dirty="0" sz="1800">
                <a:latin typeface="Trebuchet MS"/>
                <a:cs typeface="Trebuchet MS"/>
              </a:rPr>
              <a:t>stock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exchange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disclosures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from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time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time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buAutoNum type="arabicPeriod"/>
              <a:tabLst>
                <a:tab pos="399415" algn="l"/>
              </a:tabLst>
            </a:pPr>
            <a:r>
              <a:rPr dirty="0" sz="1800" b="1">
                <a:latin typeface="Times New Roman"/>
                <a:cs typeface="Times New Roman"/>
              </a:rPr>
              <a:t>Approximately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7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year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record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comprehensive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disclosure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risk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factor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identification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-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2015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onwards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491" y="2646679"/>
            <a:ext cx="8071484" cy="414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(2016)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85">
                <a:latin typeface="Times New Roman"/>
                <a:cs typeface="Times New Roman"/>
              </a:rPr>
              <a:t>ATL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Falcon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AEML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(1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Falcon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AEML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(GMTN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(2021)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PSEPL,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AGEUPL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PDPL)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6.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Shreya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WSMPL, KSPPL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and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ARERJL)</a:t>
            </a:r>
            <a:r>
              <a:rPr dirty="0" sz="1800" spc="-10">
                <a:latin typeface="Times New Roman"/>
                <a:cs typeface="Times New Roman"/>
              </a:rPr>
              <a:t> (2019)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7.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Pearl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(“July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8.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IV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(“January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2021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9.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III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 750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(“2020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10.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2019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(“2019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OC”)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11.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Stark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650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2015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(“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2015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OC</a:t>
            </a:r>
            <a:r>
              <a:rPr dirty="0" sz="1800" spc="-20">
                <a:latin typeface="Times New Roman"/>
                <a:cs typeface="Times New Roman"/>
              </a:rPr>
              <a:t>”)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12.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AGEL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Project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Avengers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(USD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750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million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13.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U.S.$300,000,000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3.828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2032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14.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APSEZ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U.S.$450,000,000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5.00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Senior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2041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354965" algn="l"/>
              </a:tabLst>
            </a:pPr>
            <a:r>
              <a:rPr dirty="0" sz="1000" spc="-25">
                <a:latin typeface="Times New Roman"/>
                <a:cs typeface="Times New Roman"/>
              </a:rPr>
              <a:t>15.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Offer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(2022)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MIAL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USPP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Calibri"/>
                <a:cs typeface="Calibri"/>
              </a:rPr>
              <a:t>(2022)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5429885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  <a:endParaRPr sz="16000">
              <a:latin typeface="Calibri Light"/>
              <a:cs typeface="Calibri Light"/>
            </a:endParaRPr>
          </a:p>
          <a:p>
            <a:pPr marL="246443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Credit</a:t>
            </a:r>
            <a:r>
              <a:rPr dirty="0" sz="2400" spc="-7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Overview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6757" y="3159251"/>
            <a:ext cx="10006965" cy="2265045"/>
            <a:chOff x="726757" y="3159251"/>
            <a:chExt cx="10006965" cy="2265045"/>
          </a:xfrm>
        </p:grpSpPr>
        <p:sp>
          <p:nvSpPr>
            <p:cNvPr id="5" name="object 5"/>
            <p:cNvSpPr/>
            <p:nvPr/>
          </p:nvSpPr>
          <p:spPr>
            <a:xfrm>
              <a:off x="1231392" y="3622547"/>
              <a:ext cx="8997950" cy="1753235"/>
            </a:xfrm>
            <a:custGeom>
              <a:avLst/>
              <a:gdLst/>
              <a:ahLst/>
              <a:cxnLst/>
              <a:rect l="l" t="t" r="r" b="b"/>
              <a:pathLst>
                <a:path w="8997950" h="1753235">
                  <a:moveTo>
                    <a:pt x="999744" y="873252"/>
                  </a:moveTo>
                  <a:lnTo>
                    <a:pt x="0" y="873252"/>
                  </a:lnTo>
                  <a:lnTo>
                    <a:pt x="0" y="1752600"/>
                  </a:lnTo>
                  <a:lnTo>
                    <a:pt x="999744" y="1752600"/>
                  </a:lnTo>
                  <a:lnTo>
                    <a:pt x="999744" y="873252"/>
                  </a:lnTo>
                  <a:close/>
                </a:path>
                <a:path w="8997950" h="1753235">
                  <a:moveTo>
                    <a:pt x="2999232" y="780288"/>
                  </a:moveTo>
                  <a:lnTo>
                    <a:pt x="1999488" y="780288"/>
                  </a:lnTo>
                  <a:lnTo>
                    <a:pt x="1999488" y="1752600"/>
                  </a:lnTo>
                  <a:lnTo>
                    <a:pt x="2999232" y="1752600"/>
                  </a:lnTo>
                  <a:lnTo>
                    <a:pt x="2999232" y="780288"/>
                  </a:lnTo>
                  <a:close/>
                </a:path>
                <a:path w="8997950" h="1753235">
                  <a:moveTo>
                    <a:pt x="4998720" y="582168"/>
                  </a:moveTo>
                  <a:lnTo>
                    <a:pt x="3998976" y="582168"/>
                  </a:lnTo>
                  <a:lnTo>
                    <a:pt x="3998976" y="1752600"/>
                  </a:lnTo>
                  <a:lnTo>
                    <a:pt x="4998720" y="1752600"/>
                  </a:lnTo>
                  <a:lnTo>
                    <a:pt x="4998720" y="582168"/>
                  </a:lnTo>
                  <a:close/>
                </a:path>
                <a:path w="8997950" h="1753235">
                  <a:moveTo>
                    <a:pt x="6998208" y="0"/>
                  </a:moveTo>
                  <a:lnTo>
                    <a:pt x="5998464" y="0"/>
                  </a:lnTo>
                  <a:lnTo>
                    <a:pt x="5998464" y="1752600"/>
                  </a:lnTo>
                  <a:lnTo>
                    <a:pt x="6998208" y="1752612"/>
                  </a:lnTo>
                  <a:lnTo>
                    <a:pt x="6998208" y="0"/>
                  </a:lnTo>
                  <a:close/>
                </a:path>
                <a:path w="8997950" h="1753235">
                  <a:moveTo>
                    <a:pt x="8997696" y="294132"/>
                  </a:moveTo>
                  <a:lnTo>
                    <a:pt x="7997952" y="294132"/>
                  </a:lnTo>
                  <a:lnTo>
                    <a:pt x="7997952" y="1752600"/>
                  </a:lnTo>
                  <a:lnTo>
                    <a:pt x="8997696" y="1752600"/>
                  </a:lnTo>
                  <a:lnTo>
                    <a:pt x="8997696" y="29413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29343" y="3159251"/>
              <a:ext cx="1000125" cy="757555"/>
            </a:xfrm>
            <a:custGeom>
              <a:avLst/>
              <a:gdLst/>
              <a:ahLst/>
              <a:cxnLst/>
              <a:rect l="l" t="t" r="r" b="b"/>
              <a:pathLst>
                <a:path w="1000125" h="757554">
                  <a:moveTo>
                    <a:pt x="999744" y="0"/>
                  </a:moveTo>
                  <a:lnTo>
                    <a:pt x="0" y="0"/>
                  </a:lnTo>
                  <a:lnTo>
                    <a:pt x="0" y="757428"/>
                  </a:lnTo>
                  <a:lnTo>
                    <a:pt x="999744" y="757428"/>
                  </a:lnTo>
                  <a:lnTo>
                    <a:pt x="999744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19" y="5375147"/>
              <a:ext cx="9997440" cy="48895"/>
            </a:xfrm>
            <a:custGeom>
              <a:avLst/>
              <a:gdLst/>
              <a:ahLst/>
              <a:cxnLst/>
              <a:rect l="l" t="t" r="r" b="b"/>
              <a:pathLst>
                <a:path w="9997440" h="48895">
                  <a:moveTo>
                    <a:pt x="0" y="0"/>
                  </a:moveTo>
                  <a:lnTo>
                    <a:pt x="9997440" y="0"/>
                  </a:lnTo>
                </a:path>
                <a:path w="9997440" h="48895">
                  <a:moveTo>
                    <a:pt x="0" y="0"/>
                  </a:moveTo>
                  <a:lnTo>
                    <a:pt x="0" y="48767"/>
                  </a:lnTo>
                </a:path>
                <a:path w="9997440" h="48895">
                  <a:moveTo>
                    <a:pt x="1999488" y="0"/>
                  </a:moveTo>
                  <a:lnTo>
                    <a:pt x="1999488" y="48767"/>
                  </a:lnTo>
                </a:path>
                <a:path w="9997440" h="48895">
                  <a:moveTo>
                    <a:pt x="3998976" y="0"/>
                  </a:moveTo>
                  <a:lnTo>
                    <a:pt x="3998976" y="48767"/>
                  </a:lnTo>
                </a:path>
                <a:path w="9997440" h="48895">
                  <a:moveTo>
                    <a:pt x="5998463" y="0"/>
                  </a:moveTo>
                  <a:lnTo>
                    <a:pt x="5998463" y="48767"/>
                  </a:lnTo>
                </a:path>
                <a:path w="9997440" h="48895">
                  <a:moveTo>
                    <a:pt x="7997952" y="0"/>
                  </a:moveTo>
                  <a:lnTo>
                    <a:pt x="7997952" y="48767"/>
                  </a:lnTo>
                </a:path>
                <a:path w="9997440" h="48895">
                  <a:moveTo>
                    <a:pt x="9997440" y="0"/>
                  </a:moveTo>
                  <a:lnTo>
                    <a:pt x="9997440" y="4876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732026" y="1968245"/>
            <a:ext cx="7998459" cy="873760"/>
          </a:xfrm>
          <a:custGeom>
            <a:avLst/>
            <a:gdLst/>
            <a:ahLst/>
            <a:cxnLst/>
            <a:rect l="l" t="t" r="r" b="b"/>
            <a:pathLst>
              <a:path w="7998459" h="873760">
                <a:moveTo>
                  <a:pt x="0" y="0"/>
                </a:moveTo>
                <a:lnTo>
                  <a:pt x="1999488" y="45719"/>
                </a:lnTo>
                <a:lnTo>
                  <a:pt x="3998976" y="297179"/>
                </a:lnTo>
                <a:lnTo>
                  <a:pt x="5998464" y="873251"/>
                </a:lnTo>
                <a:lnTo>
                  <a:pt x="7997952" y="836676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26320" y="4516373"/>
            <a:ext cx="649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40,269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*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0329" y="3408045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20,894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1741" y="4201159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24,260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1610" y="4107002"/>
            <a:ext cx="5200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26,847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1098" y="3910076"/>
            <a:ext cx="519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32,295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0841" y="332765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48,363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90329" y="2863723"/>
            <a:ext cx="519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61,163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8130" y="1641170"/>
            <a:ext cx="3676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47998" y="168630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7486" y="193865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3.8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7229" y="2514345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46717" y="2477516"/>
            <a:ext cx="368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3.1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1521" y="5452973"/>
            <a:ext cx="4610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2019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1052" y="5452973"/>
            <a:ext cx="161226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145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Est.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RR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Difference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66966" y="5452973"/>
            <a:ext cx="3070860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>
              <a:lnSpc>
                <a:spcPts val="1305"/>
              </a:lnSpc>
              <a:spcBef>
                <a:spcPts val="100"/>
              </a:spcBef>
              <a:tabLst>
                <a:tab pos="2468880" algn="l"/>
              </a:tabLst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	2023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585858"/>
                </a:solidFill>
                <a:latin typeface="Calibri"/>
                <a:cs typeface="Calibri"/>
              </a:rPr>
              <a:t>RRE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Net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12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/EBITDA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19855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01390" y="5452973"/>
            <a:ext cx="866775" cy="35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5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r>
              <a:rPr dirty="0" sz="1200" spc="-3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88595">
              <a:lnSpc>
                <a:spcPts val="1305"/>
              </a:lnSpc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EBIDTA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(A)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04003" y="5679947"/>
            <a:ext cx="243840" cy="83820"/>
          </a:xfrm>
          <a:custGeom>
            <a:avLst/>
            <a:gdLst/>
            <a:ahLst/>
            <a:cxnLst/>
            <a:rect l="l" t="t" r="r" b="b"/>
            <a:pathLst>
              <a:path w="243839" h="83820">
                <a:moveTo>
                  <a:pt x="243839" y="0"/>
                </a:moveTo>
                <a:lnTo>
                  <a:pt x="0" y="0"/>
                </a:lnTo>
                <a:lnTo>
                  <a:pt x="0" y="83819"/>
                </a:lnTo>
                <a:lnTo>
                  <a:pt x="243839" y="83819"/>
                </a:lnTo>
                <a:lnTo>
                  <a:pt x="243839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09409" y="572185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25447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856691" y="1154884"/>
            <a:ext cx="1623695" cy="484505"/>
            <a:chOff x="4856691" y="1154884"/>
            <a:chExt cx="1623695" cy="484505"/>
          </a:xfrm>
        </p:grpSpPr>
        <p:sp>
          <p:nvSpPr>
            <p:cNvPr id="29" name="object 29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812082" y="0"/>
                  </a:moveTo>
                  <a:lnTo>
                    <a:pt x="755572" y="406"/>
                  </a:lnTo>
                  <a:lnTo>
                    <a:pt x="699472" y="1836"/>
                  </a:lnTo>
                  <a:lnTo>
                    <a:pt x="643995" y="4274"/>
                  </a:lnTo>
                  <a:lnTo>
                    <a:pt x="589353" y="7705"/>
                  </a:lnTo>
                  <a:lnTo>
                    <a:pt x="535758" y="12114"/>
                  </a:lnTo>
                  <a:lnTo>
                    <a:pt x="483422" y="17485"/>
                  </a:lnTo>
                  <a:lnTo>
                    <a:pt x="432557" y="23803"/>
                  </a:lnTo>
                  <a:lnTo>
                    <a:pt x="383376" y="31053"/>
                  </a:lnTo>
                  <a:lnTo>
                    <a:pt x="336090" y="39220"/>
                  </a:lnTo>
                  <a:lnTo>
                    <a:pt x="290911" y="48287"/>
                  </a:lnTo>
                  <a:lnTo>
                    <a:pt x="248052" y="58241"/>
                  </a:lnTo>
                  <a:lnTo>
                    <a:pt x="207725" y="69065"/>
                  </a:lnTo>
                  <a:lnTo>
                    <a:pt x="170141" y="80744"/>
                  </a:lnTo>
                  <a:lnTo>
                    <a:pt x="104055" y="106606"/>
                  </a:lnTo>
                  <a:lnTo>
                    <a:pt x="67191" y="125805"/>
                  </a:lnTo>
                  <a:lnTo>
                    <a:pt x="17851" y="165523"/>
                  </a:lnTo>
                  <a:lnTo>
                    <a:pt x="0" y="206045"/>
                  </a:lnTo>
                  <a:lnTo>
                    <a:pt x="2497" y="226251"/>
                  </a:lnTo>
                  <a:lnTo>
                    <a:pt x="29569" y="265832"/>
                  </a:lnTo>
                  <a:lnTo>
                    <a:pt x="85049" y="303354"/>
                  </a:lnTo>
                  <a:lnTo>
                    <a:pt x="123057" y="320985"/>
                  </a:lnTo>
                  <a:lnTo>
                    <a:pt x="167705" y="337671"/>
                  </a:lnTo>
                  <a:lnTo>
                    <a:pt x="218839" y="353269"/>
                  </a:lnTo>
                  <a:lnTo>
                    <a:pt x="276305" y="367635"/>
                  </a:lnTo>
                  <a:lnTo>
                    <a:pt x="339949" y="380628"/>
                  </a:lnTo>
                  <a:lnTo>
                    <a:pt x="409617" y="392102"/>
                  </a:lnTo>
                  <a:lnTo>
                    <a:pt x="469942" y="471477"/>
                  </a:lnTo>
                  <a:lnTo>
                    <a:pt x="701209" y="417375"/>
                  </a:lnTo>
                  <a:lnTo>
                    <a:pt x="762147" y="418837"/>
                  </a:lnTo>
                  <a:lnTo>
                    <a:pt x="822703" y="419098"/>
                  </a:lnTo>
                  <a:lnTo>
                    <a:pt x="882658" y="418186"/>
                  </a:lnTo>
                  <a:lnTo>
                    <a:pt x="941790" y="416131"/>
                  </a:lnTo>
                  <a:lnTo>
                    <a:pt x="999879" y="412960"/>
                  </a:lnTo>
                  <a:lnTo>
                    <a:pt x="1056704" y="408702"/>
                  </a:lnTo>
                  <a:lnTo>
                    <a:pt x="1112044" y="403386"/>
                  </a:lnTo>
                  <a:lnTo>
                    <a:pt x="1165679" y="397039"/>
                  </a:lnTo>
                  <a:lnTo>
                    <a:pt x="1217389" y="389691"/>
                  </a:lnTo>
                  <a:lnTo>
                    <a:pt x="1266951" y="381370"/>
                  </a:lnTo>
                  <a:lnTo>
                    <a:pt x="1314147" y="372104"/>
                  </a:lnTo>
                  <a:lnTo>
                    <a:pt x="1358755" y="361922"/>
                  </a:lnTo>
                  <a:lnTo>
                    <a:pt x="1400555" y="350852"/>
                  </a:lnTo>
                  <a:lnTo>
                    <a:pt x="1439325" y="338923"/>
                  </a:lnTo>
                  <a:lnTo>
                    <a:pt x="1506897" y="312600"/>
                  </a:lnTo>
                  <a:lnTo>
                    <a:pt x="1543760" y="293401"/>
                  </a:lnTo>
                  <a:lnTo>
                    <a:pt x="1593100" y="253684"/>
                  </a:lnTo>
                  <a:lnTo>
                    <a:pt x="1610952" y="213161"/>
                  </a:lnTo>
                  <a:lnTo>
                    <a:pt x="1608454" y="192956"/>
                  </a:lnTo>
                  <a:lnTo>
                    <a:pt x="1581382" y="153374"/>
                  </a:lnTo>
                  <a:lnTo>
                    <a:pt x="1525902" y="115852"/>
                  </a:lnTo>
                  <a:lnTo>
                    <a:pt x="1487894" y="98221"/>
                  </a:lnTo>
                  <a:lnTo>
                    <a:pt x="1443246" y="81536"/>
                  </a:lnTo>
                  <a:lnTo>
                    <a:pt x="1392112" y="65938"/>
                  </a:lnTo>
                  <a:lnTo>
                    <a:pt x="1334646" y="51571"/>
                  </a:lnTo>
                  <a:lnTo>
                    <a:pt x="1271002" y="38579"/>
                  </a:lnTo>
                  <a:lnTo>
                    <a:pt x="1201335" y="27104"/>
                  </a:lnTo>
                  <a:lnTo>
                    <a:pt x="1147889" y="19916"/>
                  </a:lnTo>
                  <a:lnTo>
                    <a:pt x="1093369" y="13859"/>
                  </a:lnTo>
                  <a:lnTo>
                    <a:pt x="1037988" y="8917"/>
                  </a:lnTo>
                  <a:lnTo>
                    <a:pt x="981956" y="5076"/>
                  </a:lnTo>
                  <a:lnTo>
                    <a:pt x="925486" y="2319"/>
                  </a:lnTo>
                  <a:lnTo>
                    <a:pt x="868791" y="632"/>
                  </a:lnTo>
                  <a:lnTo>
                    <a:pt x="81208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63041" y="1161234"/>
              <a:ext cx="1610995" cy="471805"/>
            </a:xfrm>
            <a:custGeom>
              <a:avLst/>
              <a:gdLst/>
              <a:ahLst/>
              <a:cxnLst/>
              <a:rect l="l" t="t" r="r" b="b"/>
              <a:pathLst>
                <a:path w="1610995" h="471805">
                  <a:moveTo>
                    <a:pt x="469942" y="471477"/>
                  </a:moveTo>
                  <a:lnTo>
                    <a:pt x="409617" y="392102"/>
                  </a:lnTo>
                  <a:lnTo>
                    <a:pt x="339949" y="380628"/>
                  </a:lnTo>
                  <a:lnTo>
                    <a:pt x="276305" y="367635"/>
                  </a:lnTo>
                  <a:lnTo>
                    <a:pt x="218839" y="353269"/>
                  </a:lnTo>
                  <a:lnTo>
                    <a:pt x="167705" y="337671"/>
                  </a:lnTo>
                  <a:lnTo>
                    <a:pt x="123057" y="320985"/>
                  </a:lnTo>
                  <a:lnTo>
                    <a:pt x="85049" y="303354"/>
                  </a:lnTo>
                  <a:lnTo>
                    <a:pt x="29569" y="265832"/>
                  </a:lnTo>
                  <a:lnTo>
                    <a:pt x="2497" y="226251"/>
                  </a:lnTo>
                  <a:lnTo>
                    <a:pt x="0" y="206045"/>
                  </a:lnTo>
                  <a:lnTo>
                    <a:pt x="5066" y="185755"/>
                  </a:lnTo>
                  <a:lnTo>
                    <a:pt x="38508" y="145491"/>
                  </a:lnTo>
                  <a:lnTo>
                    <a:pt x="104055" y="106606"/>
                  </a:lnTo>
                  <a:lnTo>
                    <a:pt x="170141" y="80744"/>
                  </a:lnTo>
                  <a:lnTo>
                    <a:pt x="207725" y="69065"/>
                  </a:lnTo>
                  <a:lnTo>
                    <a:pt x="248052" y="58241"/>
                  </a:lnTo>
                  <a:lnTo>
                    <a:pt x="290911" y="48287"/>
                  </a:lnTo>
                  <a:lnTo>
                    <a:pt x="336090" y="39220"/>
                  </a:lnTo>
                  <a:lnTo>
                    <a:pt x="383376" y="31053"/>
                  </a:lnTo>
                  <a:lnTo>
                    <a:pt x="432557" y="23803"/>
                  </a:lnTo>
                  <a:lnTo>
                    <a:pt x="483422" y="17485"/>
                  </a:lnTo>
                  <a:lnTo>
                    <a:pt x="535758" y="12114"/>
                  </a:lnTo>
                  <a:lnTo>
                    <a:pt x="589353" y="7705"/>
                  </a:lnTo>
                  <a:lnTo>
                    <a:pt x="643995" y="4274"/>
                  </a:lnTo>
                  <a:lnTo>
                    <a:pt x="699472" y="1836"/>
                  </a:lnTo>
                  <a:lnTo>
                    <a:pt x="755572" y="406"/>
                  </a:lnTo>
                  <a:lnTo>
                    <a:pt x="812082" y="0"/>
                  </a:lnTo>
                  <a:lnTo>
                    <a:pt x="868791" y="632"/>
                  </a:lnTo>
                  <a:lnTo>
                    <a:pt x="925486" y="2319"/>
                  </a:lnTo>
                  <a:lnTo>
                    <a:pt x="981956" y="5076"/>
                  </a:lnTo>
                  <a:lnTo>
                    <a:pt x="1037988" y="8917"/>
                  </a:lnTo>
                  <a:lnTo>
                    <a:pt x="1093369" y="13859"/>
                  </a:lnTo>
                  <a:lnTo>
                    <a:pt x="1147889" y="19916"/>
                  </a:lnTo>
                  <a:lnTo>
                    <a:pt x="1201335" y="27104"/>
                  </a:lnTo>
                  <a:lnTo>
                    <a:pt x="1271002" y="38579"/>
                  </a:lnTo>
                  <a:lnTo>
                    <a:pt x="1334646" y="51571"/>
                  </a:lnTo>
                  <a:lnTo>
                    <a:pt x="1392112" y="65938"/>
                  </a:lnTo>
                  <a:lnTo>
                    <a:pt x="1443246" y="81536"/>
                  </a:lnTo>
                  <a:lnTo>
                    <a:pt x="1487894" y="98221"/>
                  </a:lnTo>
                  <a:lnTo>
                    <a:pt x="1525902" y="115852"/>
                  </a:lnTo>
                  <a:lnTo>
                    <a:pt x="1581382" y="153374"/>
                  </a:lnTo>
                  <a:lnTo>
                    <a:pt x="1608454" y="192956"/>
                  </a:lnTo>
                  <a:lnTo>
                    <a:pt x="1610952" y="213161"/>
                  </a:lnTo>
                  <a:lnTo>
                    <a:pt x="1605885" y="233451"/>
                  </a:lnTo>
                  <a:lnTo>
                    <a:pt x="1572443" y="273715"/>
                  </a:lnTo>
                  <a:lnTo>
                    <a:pt x="1506897" y="312600"/>
                  </a:lnTo>
                  <a:lnTo>
                    <a:pt x="1439325" y="338923"/>
                  </a:lnTo>
                  <a:lnTo>
                    <a:pt x="1400555" y="350852"/>
                  </a:lnTo>
                  <a:lnTo>
                    <a:pt x="1358755" y="361922"/>
                  </a:lnTo>
                  <a:lnTo>
                    <a:pt x="1314147" y="372104"/>
                  </a:lnTo>
                  <a:lnTo>
                    <a:pt x="1266951" y="381370"/>
                  </a:lnTo>
                  <a:lnTo>
                    <a:pt x="1217389" y="389691"/>
                  </a:lnTo>
                  <a:lnTo>
                    <a:pt x="1165679" y="397039"/>
                  </a:lnTo>
                  <a:lnTo>
                    <a:pt x="1112044" y="403386"/>
                  </a:lnTo>
                  <a:lnTo>
                    <a:pt x="1056704" y="408702"/>
                  </a:lnTo>
                  <a:lnTo>
                    <a:pt x="999879" y="412960"/>
                  </a:lnTo>
                  <a:lnTo>
                    <a:pt x="941790" y="416131"/>
                  </a:lnTo>
                  <a:lnTo>
                    <a:pt x="882658" y="418186"/>
                  </a:lnTo>
                  <a:lnTo>
                    <a:pt x="822703" y="419098"/>
                  </a:lnTo>
                  <a:lnTo>
                    <a:pt x="762147" y="418837"/>
                  </a:lnTo>
                  <a:lnTo>
                    <a:pt x="701209" y="417375"/>
                  </a:lnTo>
                  <a:lnTo>
                    <a:pt x="469942" y="47147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363083" y="1257122"/>
            <a:ext cx="6115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COVID</a:t>
            </a:r>
            <a:r>
              <a:rPr dirty="0" sz="1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25247" y="1154978"/>
            <a:ext cx="1627505" cy="505459"/>
            <a:chOff x="7025247" y="1154978"/>
            <a:chExt cx="1627505" cy="505459"/>
          </a:xfrm>
        </p:grpSpPr>
        <p:sp>
          <p:nvSpPr>
            <p:cNvPr id="33" name="object 33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26638" y="0"/>
                  </a:moveTo>
                  <a:lnTo>
                    <a:pt x="762312" y="239"/>
                  </a:lnTo>
                  <a:lnTo>
                    <a:pt x="698950" y="1795"/>
                  </a:lnTo>
                  <a:lnTo>
                    <a:pt x="636795" y="4625"/>
                  </a:lnTo>
                  <a:lnTo>
                    <a:pt x="576090" y="8684"/>
                  </a:lnTo>
                  <a:lnTo>
                    <a:pt x="517076" y="13931"/>
                  </a:lnTo>
                  <a:lnTo>
                    <a:pt x="459996" y="20321"/>
                  </a:lnTo>
                  <a:lnTo>
                    <a:pt x="405094" y="27812"/>
                  </a:lnTo>
                  <a:lnTo>
                    <a:pt x="352611" y="36361"/>
                  </a:lnTo>
                  <a:lnTo>
                    <a:pt x="302791" y="45924"/>
                  </a:lnTo>
                  <a:lnTo>
                    <a:pt x="255875" y="56458"/>
                  </a:lnTo>
                  <a:lnTo>
                    <a:pt x="212107" y="67920"/>
                  </a:lnTo>
                  <a:lnTo>
                    <a:pt x="171728" y="80268"/>
                  </a:lnTo>
                  <a:lnTo>
                    <a:pt x="134983" y="93457"/>
                  </a:lnTo>
                  <a:lnTo>
                    <a:pt x="73360" y="122188"/>
                  </a:lnTo>
                  <a:lnTo>
                    <a:pt x="29179" y="153769"/>
                  </a:lnTo>
                  <a:lnTo>
                    <a:pt x="3404" y="190521"/>
                  </a:lnTo>
                  <a:lnTo>
                    <a:pt x="0" y="210337"/>
                  </a:lnTo>
                  <a:lnTo>
                    <a:pt x="3753" y="229865"/>
                  </a:lnTo>
                  <a:lnTo>
                    <a:pt x="31654" y="267646"/>
                  </a:lnTo>
                  <a:lnTo>
                    <a:pt x="84954" y="303040"/>
                  </a:lnTo>
                  <a:lnTo>
                    <a:pt x="120454" y="319585"/>
                  </a:lnTo>
                  <a:lnTo>
                    <a:pt x="161495" y="335224"/>
                  </a:lnTo>
                  <a:lnTo>
                    <a:pt x="207809" y="349854"/>
                  </a:lnTo>
                  <a:lnTo>
                    <a:pt x="259125" y="363373"/>
                  </a:lnTo>
                  <a:lnTo>
                    <a:pt x="315173" y="375678"/>
                  </a:lnTo>
                  <a:lnTo>
                    <a:pt x="375686" y="386664"/>
                  </a:lnTo>
                  <a:lnTo>
                    <a:pt x="440392" y="396231"/>
                  </a:lnTo>
                  <a:lnTo>
                    <a:pt x="509023" y="404273"/>
                  </a:lnTo>
                  <a:lnTo>
                    <a:pt x="581310" y="410690"/>
                  </a:lnTo>
                  <a:lnTo>
                    <a:pt x="656983" y="415376"/>
                  </a:lnTo>
                  <a:lnTo>
                    <a:pt x="812431" y="492592"/>
                  </a:lnTo>
                  <a:lnTo>
                    <a:pt x="964958" y="414995"/>
                  </a:lnTo>
                  <a:lnTo>
                    <a:pt x="1032946" y="410687"/>
                  </a:lnTo>
                  <a:lnTo>
                    <a:pt x="1098490" y="404939"/>
                  </a:lnTo>
                  <a:lnTo>
                    <a:pt x="1161331" y="397819"/>
                  </a:lnTo>
                  <a:lnTo>
                    <a:pt x="1221209" y="389396"/>
                  </a:lnTo>
                  <a:lnTo>
                    <a:pt x="1277864" y="379737"/>
                  </a:lnTo>
                  <a:lnTo>
                    <a:pt x="1331037" y="368912"/>
                  </a:lnTo>
                  <a:lnTo>
                    <a:pt x="1380470" y="356988"/>
                  </a:lnTo>
                  <a:lnTo>
                    <a:pt x="1425902" y="344034"/>
                  </a:lnTo>
                  <a:lnTo>
                    <a:pt x="1467074" y="330117"/>
                  </a:lnTo>
                  <a:lnTo>
                    <a:pt x="1503726" y="315308"/>
                  </a:lnTo>
                  <a:lnTo>
                    <a:pt x="1562437" y="283280"/>
                  </a:lnTo>
                  <a:lnTo>
                    <a:pt x="1599958" y="248498"/>
                  </a:lnTo>
                  <a:lnTo>
                    <a:pt x="1614194" y="208682"/>
                  </a:lnTo>
                  <a:lnTo>
                    <a:pt x="1610440" y="189154"/>
                  </a:lnTo>
                  <a:lnTo>
                    <a:pt x="1582539" y="151373"/>
                  </a:lnTo>
                  <a:lnTo>
                    <a:pt x="1529239" y="115978"/>
                  </a:lnTo>
                  <a:lnTo>
                    <a:pt x="1493739" y="99434"/>
                  </a:lnTo>
                  <a:lnTo>
                    <a:pt x="1452698" y="83795"/>
                  </a:lnTo>
                  <a:lnTo>
                    <a:pt x="1406384" y="69164"/>
                  </a:lnTo>
                  <a:lnTo>
                    <a:pt x="1355069" y="55645"/>
                  </a:lnTo>
                  <a:lnTo>
                    <a:pt x="1299020" y="43341"/>
                  </a:lnTo>
                  <a:lnTo>
                    <a:pt x="1238508" y="32354"/>
                  </a:lnTo>
                  <a:lnTo>
                    <a:pt x="1173801" y="22788"/>
                  </a:lnTo>
                  <a:lnTo>
                    <a:pt x="1105170" y="14745"/>
                  </a:lnTo>
                  <a:lnTo>
                    <a:pt x="1032883" y="8329"/>
                  </a:lnTo>
                  <a:lnTo>
                    <a:pt x="957211" y="3642"/>
                  </a:lnTo>
                  <a:lnTo>
                    <a:pt x="891685" y="1119"/>
                  </a:lnTo>
                  <a:lnTo>
                    <a:pt x="8266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031597" y="1161328"/>
              <a:ext cx="1614805" cy="492759"/>
            </a:xfrm>
            <a:custGeom>
              <a:avLst/>
              <a:gdLst/>
              <a:ahLst/>
              <a:cxnLst/>
              <a:rect l="l" t="t" r="r" b="b"/>
              <a:pathLst>
                <a:path w="1614804" h="492760">
                  <a:moveTo>
                    <a:pt x="812431" y="492592"/>
                  </a:moveTo>
                  <a:lnTo>
                    <a:pt x="656983" y="415376"/>
                  </a:lnTo>
                  <a:lnTo>
                    <a:pt x="581310" y="410690"/>
                  </a:lnTo>
                  <a:lnTo>
                    <a:pt x="509023" y="404273"/>
                  </a:lnTo>
                  <a:lnTo>
                    <a:pt x="440392" y="396231"/>
                  </a:lnTo>
                  <a:lnTo>
                    <a:pt x="375686" y="386664"/>
                  </a:lnTo>
                  <a:lnTo>
                    <a:pt x="315173" y="375678"/>
                  </a:lnTo>
                  <a:lnTo>
                    <a:pt x="259125" y="363373"/>
                  </a:lnTo>
                  <a:lnTo>
                    <a:pt x="207809" y="349854"/>
                  </a:lnTo>
                  <a:lnTo>
                    <a:pt x="161495" y="335224"/>
                  </a:lnTo>
                  <a:lnTo>
                    <a:pt x="120454" y="319585"/>
                  </a:lnTo>
                  <a:lnTo>
                    <a:pt x="84954" y="303040"/>
                  </a:lnTo>
                  <a:lnTo>
                    <a:pt x="31654" y="267646"/>
                  </a:lnTo>
                  <a:lnTo>
                    <a:pt x="3753" y="229865"/>
                  </a:lnTo>
                  <a:lnTo>
                    <a:pt x="0" y="210337"/>
                  </a:lnTo>
                  <a:lnTo>
                    <a:pt x="3404" y="190521"/>
                  </a:lnTo>
                  <a:lnTo>
                    <a:pt x="29179" y="153769"/>
                  </a:lnTo>
                  <a:lnTo>
                    <a:pt x="73360" y="122188"/>
                  </a:lnTo>
                  <a:lnTo>
                    <a:pt x="134983" y="93457"/>
                  </a:lnTo>
                  <a:lnTo>
                    <a:pt x="171728" y="80268"/>
                  </a:lnTo>
                  <a:lnTo>
                    <a:pt x="212107" y="67920"/>
                  </a:lnTo>
                  <a:lnTo>
                    <a:pt x="255875" y="56458"/>
                  </a:lnTo>
                  <a:lnTo>
                    <a:pt x="302791" y="45924"/>
                  </a:lnTo>
                  <a:lnTo>
                    <a:pt x="352611" y="36361"/>
                  </a:lnTo>
                  <a:lnTo>
                    <a:pt x="405094" y="27812"/>
                  </a:lnTo>
                  <a:lnTo>
                    <a:pt x="459996" y="20321"/>
                  </a:lnTo>
                  <a:lnTo>
                    <a:pt x="517076" y="13931"/>
                  </a:lnTo>
                  <a:lnTo>
                    <a:pt x="576090" y="8684"/>
                  </a:lnTo>
                  <a:lnTo>
                    <a:pt x="636795" y="4625"/>
                  </a:lnTo>
                  <a:lnTo>
                    <a:pt x="698950" y="1795"/>
                  </a:lnTo>
                  <a:lnTo>
                    <a:pt x="762312" y="239"/>
                  </a:lnTo>
                  <a:lnTo>
                    <a:pt x="826638" y="0"/>
                  </a:lnTo>
                  <a:lnTo>
                    <a:pt x="891685" y="1119"/>
                  </a:lnTo>
                  <a:lnTo>
                    <a:pt x="957211" y="3642"/>
                  </a:lnTo>
                  <a:lnTo>
                    <a:pt x="1032883" y="8329"/>
                  </a:lnTo>
                  <a:lnTo>
                    <a:pt x="1105170" y="14745"/>
                  </a:lnTo>
                  <a:lnTo>
                    <a:pt x="1173801" y="22788"/>
                  </a:lnTo>
                  <a:lnTo>
                    <a:pt x="1238508" y="32354"/>
                  </a:lnTo>
                  <a:lnTo>
                    <a:pt x="1299020" y="43341"/>
                  </a:lnTo>
                  <a:lnTo>
                    <a:pt x="1355069" y="55645"/>
                  </a:lnTo>
                  <a:lnTo>
                    <a:pt x="1406384" y="69164"/>
                  </a:lnTo>
                  <a:lnTo>
                    <a:pt x="1452698" y="83795"/>
                  </a:lnTo>
                  <a:lnTo>
                    <a:pt x="1493739" y="99434"/>
                  </a:lnTo>
                  <a:lnTo>
                    <a:pt x="1529239" y="115978"/>
                  </a:lnTo>
                  <a:lnTo>
                    <a:pt x="1582539" y="151373"/>
                  </a:lnTo>
                  <a:lnTo>
                    <a:pt x="1610440" y="189154"/>
                  </a:lnTo>
                  <a:lnTo>
                    <a:pt x="1614194" y="208682"/>
                  </a:lnTo>
                  <a:lnTo>
                    <a:pt x="1610789" y="228498"/>
                  </a:lnTo>
                  <a:lnTo>
                    <a:pt x="1583975" y="266199"/>
                  </a:lnTo>
                  <a:lnTo>
                    <a:pt x="1535600" y="299672"/>
                  </a:lnTo>
                  <a:lnTo>
                    <a:pt x="1467074" y="330117"/>
                  </a:lnTo>
                  <a:lnTo>
                    <a:pt x="1425902" y="344034"/>
                  </a:lnTo>
                  <a:lnTo>
                    <a:pt x="1380470" y="356988"/>
                  </a:lnTo>
                  <a:lnTo>
                    <a:pt x="1331037" y="368912"/>
                  </a:lnTo>
                  <a:lnTo>
                    <a:pt x="1277864" y="379737"/>
                  </a:lnTo>
                  <a:lnTo>
                    <a:pt x="1221209" y="389396"/>
                  </a:lnTo>
                  <a:lnTo>
                    <a:pt x="1161331" y="397819"/>
                  </a:lnTo>
                  <a:lnTo>
                    <a:pt x="1098490" y="404939"/>
                  </a:lnTo>
                  <a:lnTo>
                    <a:pt x="1032946" y="410687"/>
                  </a:lnTo>
                  <a:lnTo>
                    <a:pt x="964958" y="414995"/>
                  </a:lnTo>
                  <a:lnTo>
                    <a:pt x="812431" y="49259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297553" y="1154945"/>
            <a:ext cx="6226175" cy="800735"/>
            <a:chOff x="4297553" y="1154945"/>
            <a:chExt cx="6226175" cy="800735"/>
          </a:xfrm>
        </p:grpSpPr>
        <p:sp>
          <p:nvSpPr>
            <p:cNvPr id="36" name="object 36"/>
            <p:cNvSpPr/>
            <p:nvPr/>
          </p:nvSpPr>
          <p:spPr>
            <a:xfrm>
              <a:off x="4300728" y="1719072"/>
              <a:ext cx="4087495" cy="233679"/>
            </a:xfrm>
            <a:custGeom>
              <a:avLst/>
              <a:gdLst/>
              <a:ahLst/>
              <a:cxnLst/>
              <a:rect l="l" t="t" r="r" b="b"/>
              <a:pathLst>
                <a:path w="4087495" h="233680">
                  <a:moveTo>
                    <a:pt x="0" y="233172"/>
                  </a:moveTo>
                  <a:lnTo>
                    <a:pt x="1518" y="187791"/>
                  </a:lnTo>
                  <a:lnTo>
                    <a:pt x="5667" y="150733"/>
                  </a:lnTo>
                  <a:lnTo>
                    <a:pt x="11840" y="125747"/>
                  </a:lnTo>
                  <a:lnTo>
                    <a:pt x="19431" y="116586"/>
                  </a:lnTo>
                  <a:lnTo>
                    <a:pt x="955929" y="116586"/>
                  </a:lnTo>
                  <a:lnTo>
                    <a:pt x="963465" y="107424"/>
                  </a:lnTo>
                  <a:lnTo>
                    <a:pt x="969645" y="82438"/>
                  </a:lnTo>
                  <a:lnTo>
                    <a:pt x="973824" y="45380"/>
                  </a:lnTo>
                  <a:lnTo>
                    <a:pt x="975360" y="0"/>
                  </a:lnTo>
                  <a:lnTo>
                    <a:pt x="976878" y="45380"/>
                  </a:lnTo>
                  <a:lnTo>
                    <a:pt x="981027" y="82438"/>
                  </a:lnTo>
                  <a:lnTo>
                    <a:pt x="987200" y="107424"/>
                  </a:lnTo>
                  <a:lnTo>
                    <a:pt x="994791" y="116586"/>
                  </a:lnTo>
                  <a:lnTo>
                    <a:pt x="1931289" y="116586"/>
                  </a:lnTo>
                  <a:lnTo>
                    <a:pt x="1938825" y="125747"/>
                  </a:lnTo>
                  <a:lnTo>
                    <a:pt x="1945004" y="150733"/>
                  </a:lnTo>
                  <a:lnTo>
                    <a:pt x="1949184" y="187791"/>
                  </a:lnTo>
                  <a:lnTo>
                    <a:pt x="1950720" y="233172"/>
                  </a:lnTo>
                </a:path>
                <a:path w="4087495" h="233680">
                  <a:moveTo>
                    <a:pt x="2961131" y="233172"/>
                  </a:moveTo>
                  <a:lnTo>
                    <a:pt x="2962650" y="187791"/>
                  </a:lnTo>
                  <a:lnTo>
                    <a:pt x="2966799" y="150733"/>
                  </a:lnTo>
                  <a:lnTo>
                    <a:pt x="2972972" y="125747"/>
                  </a:lnTo>
                  <a:lnTo>
                    <a:pt x="2980563" y="116586"/>
                  </a:lnTo>
                  <a:lnTo>
                    <a:pt x="3504819" y="116586"/>
                  </a:lnTo>
                  <a:lnTo>
                    <a:pt x="3512355" y="107424"/>
                  </a:lnTo>
                  <a:lnTo>
                    <a:pt x="3518535" y="82438"/>
                  </a:lnTo>
                  <a:lnTo>
                    <a:pt x="3522714" y="45380"/>
                  </a:lnTo>
                  <a:lnTo>
                    <a:pt x="3524250" y="0"/>
                  </a:lnTo>
                  <a:lnTo>
                    <a:pt x="3525768" y="45380"/>
                  </a:lnTo>
                  <a:lnTo>
                    <a:pt x="3529917" y="82438"/>
                  </a:lnTo>
                  <a:lnTo>
                    <a:pt x="3536090" y="107424"/>
                  </a:lnTo>
                  <a:lnTo>
                    <a:pt x="3543680" y="116586"/>
                  </a:lnTo>
                  <a:lnTo>
                    <a:pt x="4067937" y="116586"/>
                  </a:lnTo>
                  <a:lnTo>
                    <a:pt x="4075473" y="125747"/>
                  </a:lnTo>
                  <a:lnTo>
                    <a:pt x="4081653" y="150733"/>
                  </a:lnTo>
                  <a:lnTo>
                    <a:pt x="4085832" y="187791"/>
                  </a:lnTo>
                  <a:lnTo>
                    <a:pt x="4087368" y="233172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21208" y="0"/>
                  </a:moveTo>
                  <a:lnTo>
                    <a:pt x="756955" y="344"/>
                  </a:lnTo>
                  <a:lnTo>
                    <a:pt x="693693" y="2000"/>
                  </a:lnTo>
                  <a:lnTo>
                    <a:pt x="631663" y="4926"/>
                  </a:lnTo>
                  <a:lnTo>
                    <a:pt x="571108" y="9077"/>
                  </a:lnTo>
                  <a:lnTo>
                    <a:pt x="512268" y="14411"/>
                  </a:lnTo>
                  <a:lnTo>
                    <a:pt x="455385" y="20884"/>
                  </a:lnTo>
                  <a:lnTo>
                    <a:pt x="400700" y="28454"/>
                  </a:lnTo>
                  <a:lnTo>
                    <a:pt x="348455" y="37076"/>
                  </a:lnTo>
                  <a:lnTo>
                    <a:pt x="298892" y="46708"/>
                  </a:lnTo>
                  <a:lnTo>
                    <a:pt x="252251" y="57307"/>
                  </a:lnTo>
                  <a:lnTo>
                    <a:pt x="208774" y="68829"/>
                  </a:lnTo>
                  <a:lnTo>
                    <a:pt x="168703" y="81230"/>
                  </a:lnTo>
                  <a:lnTo>
                    <a:pt x="132279" y="94468"/>
                  </a:lnTo>
                  <a:lnTo>
                    <a:pt x="71339" y="123282"/>
                  </a:lnTo>
                  <a:lnTo>
                    <a:pt x="27884" y="154923"/>
                  </a:lnTo>
                  <a:lnTo>
                    <a:pt x="2952" y="191734"/>
                  </a:lnTo>
                  <a:lnTo>
                    <a:pt x="0" y="211572"/>
                  </a:lnTo>
                  <a:lnTo>
                    <a:pt x="4191" y="231107"/>
                  </a:lnTo>
                  <a:lnTo>
                    <a:pt x="32916" y="268864"/>
                  </a:lnTo>
                  <a:lnTo>
                    <a:pt x="86957" y="304187"/>
                  </a:lnTo>
                  <a:lnTo>
                    <a:pt x="122792" y="320679"/>
                  </a:lnTo>
                  <a:lnTo>
                    <a:pt x="164142" y="336257"/>
                  </a:lnTo>
                  <a:lnTo>
                    <a:pt x="210734" y="350817"/>
                  </a:lnTo>
                  <a:lnTo>
                    <a:pt x="262299" y="364257"/>
                  </a:lnTo>
                  <a:lnTo>
                    <a:pt x="318563" y="376476"/>
                  </a:lnTo>
                  <a:lnTo>
                    <a:pt x="379257" y="387370"/>
                  </a:lnTo>
                  <a:lnTo>
                    <a:pt x="444108" y="396839"/>
                  </a:lnTo>
                  <a:lnTo>
                    <a:pt x="512845" y="404778"/>
                  </a:lnTo>
                  <a:lnTo>
                    <a:pt x="585196" y="411087"/>
                  </a:lnTo>
                  <a:lnTo>
                    <a:pt x="660891" y="415663"/>
                  </a:lnTo>
                  <a:lnTo>
                    <a:pt x="819641" y="534916"/>
                  </a:lnTo>
                  <a:lnTo>
                    <a:pt x="968485" y="414774"/>
                  </a:lnTo>
                  <a:lnTo>
                    <a:pt x="1041441" y="409960"/>
                  </a:lnTo>
                  <a:lnTo>
                    <a:pt x="1111506" y="403486"/>
                  </a:lnTo>
                  <a:lnTo>
                    <a:pt x="1178356" y="395440"/>
                  </a:lnTo>
                  <a:lnTo>
                    <a:pt x="1241671" y="385906"/>
                  </a:lnTo>
                  <a:lnTo>
                    <a:pt x="1301129" y="374972"/>
                  </a:lnTo>
                  <a:lnTo>
                    <a:pt x="1356407" y="362723"/>
                  </a:lnTo>
                  <a:lnTo>
                    <a:pt x="1407184" y="349245"/>
                  </a:lnTo>
                  <a:lnTo>
                    <a:pt x="1453137" y="334624"/>
                  </a:lnTo>
                  <a:lnTo>
                    <a:pt x="1493946" y="318947"/>
                  </a:lnTo>
                  <a:lnTo>
                    <a:pt x="1529288" y="302298"/>
                  </a:lnTo>
                  <a:lnTo>
                    <a:pt x="1582284" y="266433"/>
                  </a:lnTo>
                  <a:lnTo>
                    <a:pt x="1609661" y="227351"/>
                  </a:lnTo>
                  <a:lnTo>
                    <a:pt x="1612613" y="207513"/>
                  </a:lnTo>
                  <a:lnTo>
                    <a:pt x="1608422" y="187977"/>
                  </a:lnTo>
                  <a:lnTo>
                    <a:pt x="1579696" y="150220"/>
                  </a:lnTo>
                  <a:lnTo>
                    <a:pt x="1525655" y="114898"/>
                  </a:lnTo>
                  <a:lnTo>
                    <a:pt x="1489820" y="98405"/>
                  </a:lnTo>
                  <a:lnTo>
                    <a:pt x="1448470" y="82828"/>
                  </a:lnTo>
                  <a:lnTo>
                    <a:pt x="1401878" y="68268"/>
                  </a:lnTo>
                  <a:lnTo>
                    <a:pt x="1350313" y="54827"/>
                  </a:lnTo>
                  <a:lnTo>
                    <a:pt x="1294049" y="42609"/>
                  </a:lnTo>
                  <a:lnTo>
                    <a:pt x="1233355" y="31714"/>
                  </a:lnTo>
                  <a:lnTo>
                    <a:pt x="1168504" y="22246"/>
                  </a:lnTo>
                  <a:lnTo>
                    <a:pt x="1099767" y="14306"/>
                  </a:lnTo>
                  <a:lnTo>
                    <a:pt x="1027416" y="7997"/>
                  </a:lnTo>
                  <a:lnTo>
                    <a:pt x="951721" y="3421"/>
                  </a:lnTo>
                  <a:lnTo>
                    <a:pt x="886210" y="1011"/>
                  </a:lnTo>
                  <a:lnTo>
                    <a:pt x="82120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904621" y="1161295"/>
              <a:ext cx="1612900" cy="535305"/>
            </a:xfrm>
            <a:custGeom>
              <a:avLst/>
              <a:gdLst/>
              <a:ahLst/>
              <a:cxnLst/>
              <a:rect l="l" t="t" r="r" b="b"/>
              <a:pathLst>
                <a:path w="1612900" h="535305">
                  <a:moveTo>
                    <a:pt x="819641" y="534916"/>
                  </a:moveTo>
                  <a:lnTo>
                    <a:pt x="660891" y="415663"/>
                  </a:lnTo>
                  <a:lnTo>
                    <a:pt x="585196" y="411087"/>
                  </a:lnTo>
                  <a:lnTo>
                    <a:pt x="512845" y="404778"/>
                  </a:lnTo>
                  <a:lnTo>
                    <a:pt x="444108" y="396839"/>
                  </a:lnTo>
                  <a:lnTo>
                    <a:pt x="379257" y="387370"/>
                  </a:lnTo>
                  <a:lnTo>
                    <a:pt x="318563" y="376476"/>
                  </a:lnTo>
                  <a:lnTo>
                    <a:pt x="262299" y="364257"/>
                  </a:lnTo>
                  <a:lnTo>
                    <a:pt x="210734" y="350817"/>
                  </a:lnTo>
                  <a:lnTo>
                    <a:pt x="164142" y="336257"/>
                  </a:lnTo>
                  <a:lnTo>
                    <a:pt x="122792" y="320679"/>
                  </a:lnTo>
                  <a:lnTo>
                    <a:pt x="86957" y="304187"/>
                  </a:lnTo>
                  <a:lnTo>
                    <a:pt x="32916" y="268864"/>
                  </a:lnTo>
                  <a:lnTo>
                    <a:pt x="4191" y="231107"/>
                  </a:lnTo>
                  <a:lnTo>
                    <a:pt x="0" y="211572"/>
                  </a:lnTo>
                  <a:lnTo>
                    <a:pt x="2952" y="191734"/>
                  </a:lnTo>
                  <a:lnTo>
                    <a:pt x="27884" y="154923"/>
                  </a:lnTo>
                  <a:lnTo>
                    <a:pt x="71339" y="123282"/>
                  </a:lnTo>
                  <a:lnTo>
                    <a:pt x="132279" y="94468"/>
                  </a:lnTo>
                  <a:lnTo>
                    <a:pt x="168703" y="81230"/>
                  </a:lnTo>
                  <a:lnTo>
                    <a:pt x="208774" y="68829"/>
                  </a:lnTo>
                  <a:lnTo>
                    <a:pt x="252251" y="57307"/>
                  </a:lnTo>
                  <a:lnTo>
                    <a:pt x="298892" y="46708"/>
                  </a:lnTo>
                  <a:lnTo>
                    <a:pt x="348455" y="37076"/>
                  </a:lnTo>
                  <a:lnTo>
                    <a:pt x="400700" y="28454"/>
                  </a:lnTo>
                  <a:lnTo>
                    <a:pt x="455385" y="20884"/>
                  </a:lnTo>
                  <a:lnTo>
                    <a:pt x="512268" y="14411"/>
                  </a:lnTo>
                  <a:lnTo>
                    <a:pt x="571108" y="9077"/>
                  </a:lnTo>
                  <a:lnTo>
                    <a:pt x="631663" y="4926"/>
                  </a:lnTo>
                  <a:lnTo>
                    <a:pt x="693693" y="2000"/>
                  </a:lnTo>
                  <a:lnTo>
                    <a:pt x="756955" y="344"/>
                  </a:lnTo>
                  <a:lnTo>
                    <a:pt x="821208" y="0"/>
                  </a:lnTo>
                  <a:lnTo>
                    <a:pt x="886210" y="1011"/>
                  </a:lnTo>
                  <a:lnTo>
                    <a:pt x="951721" y="3421"/>
                  </a:lnTo>
                  <a:lnTo>
                    <a:pt x="1027416" y="7997"/>
                  </a:lnTo>
                  <a:lnTo>
                    <a:pt x="1099767" y="14306"/>
                  </a:lnTo>
                  <a:lnTo>
                    <a:pt x="1168504" y="22246"/>
                  </a:lnTo>
                  <a:lnTo>
                    <a:pt x="1233355" y="31714"/>
                  </a:lnTo>
                  <a:lnTo>
                    <a:pt x="1294049" y="42609"/>
                  </a:lnTo>
                  <a:lnTo>
                    <a:pt x="1350313" y="54827"/>
                  </a:lnTo>
                  <a:lnTo>
                    <a:pt x="1401878" y="68268"/>
                  </a:lnTo>
                  <a:lnTo>
                    <a:pt x="1448470" y="82828"/>
                  </a:lnTo>
                  <a:lnTo>
                    <a:pt x="1489820" y="98405"/>
                  </a:lnTo>
                  <a:lnTo>
                    <a:pt x="1525655" y="114898"/>
                  </a:lnTo>
                  <a:lnTo>
                    <a:pt x="1579696" y="150220"/>
                  </a:lnTo>
                  <a:lnTo>
                    <a:pt x="1608422" y="187977"/>
                  </a:lnTo>
                  <a:lnTo>
                    <a:pt x="1612613" y="207513"/>
                  </a:lnTo>
                  <a:lnTo>
                    <a:pt x="1609661" y="227351"/>
                  </a:lnTo>
                  <a:lnTo>
                    <a:pt x="1582284" y="266433"/>
                  </a:lnTo>
                  <a:lnTo>
                    <a:pt x="1529288" y="302298"/>
                  </a:lnTo>
                  <a:lnTo>
                    <a:pt x="1493946" y="318947"/>
                  </a:lnTo>
                  <a:lnTo>
                    <a:pt x="1453137" y="334624"/>
                  </a:lnTo>
                  <a:lnTo>
                    <a:pt x="1407184" y="349245"/>
                  </a:lnTo>
                  <a:lnTo>
                    <a:pt x="1356407" y="362723"/>
                  </a:lnTo>
                  <a:lnTo>
                    <a:pt x="1301129" y="374972"/>
                  </a:lnTo>
                  <a:lnTo>
                    <a:pt x="1241671" y="385906"/>
                  </a:lnTo>
                  <a:lnTo>
                    <a:pt x="1178356" y="395440"/>
                  </a:lnTo>
                  <a:lnTo>
                    <a:pt x="1111506" y="403486"/>
                  </a:lnTo>
                  <a:lnTo>
                    <a:pt x="1041441" y="409960"/>
                  </a:lnTo>
                  <a:lnTo>
                    <a:pt x="968485" y="414774"/>
                  </a:lnTo>
                  <a:lnTo>
                    <a:pt x="819641" y="5349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439659" y="1165682"/>
            <a:ext cx="7994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Russia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Ukraine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War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40977" y="1165682"/>
            <a:ext cx="7404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Seller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148571" y="1760220"/>
            <a:ext cx="1125220" cy="192405"/>
          </a:xfrm>
          <a:custGeom>
            <a:avLst/>
            <a:gdLst/>
            <a:ahLst/>
            <a:cxnLst/>
            <a:rect l="l" t="t" r="r" b="b"/>
            <a:pathLst>
              <a:path w="1125220" h="192405">
                <a:moveTo>
                  <a:pt x="0" y="192024"/>
                </a:moveTo>
                <a:lnTo>
                  <a:pt x="1250" y="154626"/>
                </a:lnTo>
                <a:lnTo>
                  <a:pt x="4667" y="124110"/>
                </a:lnTo>
                <a:lnTo>
                  <a:pt x="9751" y="103548"/>
                </a:lnTo>
                <a:lnTo>
                  <a:pt x="16001" y="96012"/>
                </a:lnTo>
                <a:lnTo>
                  <a:pt x="546353" y="96012"/>
                </a:lnTo>
                <a:lnTo>
                  <a:pt x="552604" y="88475"/>
                </a:lnTo>
                <a:lnTo>
                  <a:pt x="557688" y="67913"/>
                </a:lnTo>
                <a:lnTo>
                  <a:pt x="561105" y="37397"/>
                </a:lnTo>
                <a:lnTo>
                  <a:pt x="562355" y="0"/>
                </a:lnTo>
                <a:lnTo>
                  <a:pt x="563606" y="37397"/>
                </a:lnTo>
                <a:lnTo>
                  <a:pt x="567023" y="67913"/>
                </a:lnTo>
                <a:lnTo>
                  <a:pt x="572107" y="88475"/>
                </a:lnTo>
                <a:lnTo>
                  <a:pt x="578357" y="96012"/>
                </a:lnTo>
                <a:lnTo>
                  <a:pt x="1108709" y="96012"/>
                </a:lnTo>
                <a:lnTo>
                  <a:pt x="1114960" y="103548"/>
                </a:lnTo>
                <a:lnTo>
                  <a:pt x="1120044" y="124110"/>
                </a:lnTo>
                <a:lnTo>
                  <a:pt x="1123461" y="154626"/>
                </a:lnTo>
                <a:lnTo>
                  <a:pt x="1124711" y="192024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39013" y="5862624"/>
            <a:ext cx="10666730" cy="41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Earning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before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Interest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Tax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Depreciation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Appropriation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Net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Gross</a:t>
            </a:r>
            <a:r>
              <a:rPr dirty="0" sz="800" spc="5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less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7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investments,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marketable</a:t>
            </a:r>
            <a:r>
              <a:rPr dirty="0" sz="800" spc="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(non-current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held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RRE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EBIDTA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–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 </a:t>
            </a:r>
            <a:r>
              <a:rPr dirty="0" sz="800" spc="-20">
                <a:latin typeface="Calibri"/>
                <a:cs typeface="Calibri"/>
              </a:rPr>
              <a:t>no's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latin typeface="Calibri"/>
                <a:cs typeface="Calibri"/>
              </a:rPr>
              <a:t>Note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0">
                <a:latin typeface="Calibri"/>
                <a:cs typeface="Calibri"/>
              </a:rPr>
              <a:t>–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9013" y="6254292"/>
            <a:ext cx="3912870" cy="5486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Portfolio 9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months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Audited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EBIDTA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22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no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 Ambuja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consolidated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(Incl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ACC)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uses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Calendar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financial</a:t>
            </a:r>
            <a:r>
              <a:rPr dirty="0" sz="800" spc="2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Year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included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0">
                <a:latin typeface="Calibri"/>
                <a:cs typeface="Calibri"/>
              </a:rPr>
              <a:t> acquisition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Cement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business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4.5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5">
                <a:latin typeface="Calibri"/>
                <a:cs typeface="Calibri"/>
              </a:rPr>
              <a:t>Bn</a:t>
            </a:r>
            <a:endParaRPr sz="8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800">
                <a:latin typeface="Calibri"/>
                <a:cs typeface="Calibri"/>
              </a:rPr>
              <a:t>FY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23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est.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debt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prepayment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US$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700</a:t>
            </a:r>
            <a:r>
              <a:rPr dirty="0" sz="800" spc="-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basis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revised capital management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20">
                <a:latin typeface="Calibri"/>
                <a:cs typeface="Calibri"/>
              </a:rPr>
              <a:t>plan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50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Growth</a:t>
            </a:r>
            <a:r>
              <a:rPr dirty="0" sz="2200" spc="-35"/>
              <a:t> </a:t>
            </a:r>
            <a:r>
              <a:rPr dirty="0" sz="2200"/>
              <a:t>with</a:t>
            </a:r>
            <a:r>
              <a:rPr dirty="0" sz="2200" spc="-50"/>
              <a:t> </a:t>
            </a:r>
            <a:r>
              <a:rPr dirty="0" sz="2200"/>
              <a:t>Credit</a:t>
            </a:r>
            <a:r>
              <a:rPr dirty="0" sz="2200" spc="-55"/>
              <a:t> </a:t>
            </a:r>
            <a:r>
              <a:rPr dirty="0" sz="2200" spc="-10"/>
              <a:t>Discipline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1668" y="1262380"/>
          <a:ext cx="11209655" cy="313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5575"/>
                <a:gridCol w="1213485"/>
                <a:gridCol w="1375410"/>
                <a:gridCol w="1466215"/>
                <a:gridCol w="1477009"/>
                <a:gridCol w="1438275"/>
                <a:gridCol w="1470659"/>
              </a:tblGrid>
              <a:tr h="395605">
                <a:tc>
                  <a:txBody>
                    <a:bodyPr/>
                    <a:lstStyle/>
                    <a:p>
                      <a:pPr marL="95376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800" spc="-1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Particulars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2019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r>
                        <a:rPr dirty="0" sz="1800" spc="-1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1F1F1"/>
                          </a:solidFill>
                          <a:latin typeface="Calibri"/>
                          <a:cs typeface="Calibri"/>
                        </a:rPr>
                        <a:t>RRE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24,260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26,847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32,295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61,163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Assets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158,363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183,982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222,826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348,450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390,688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110,948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126,223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136,173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188,275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221,495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Cash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11,170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17,252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14,925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40,316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588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31,646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Cr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99,778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108,971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121,248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31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147,959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189,849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683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Debt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/EBITDA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4.1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3.1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Assets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Debt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1.6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927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1.7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1.8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2.4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2.1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731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6166" y="6100673"/>
            <a:ext cx="1117409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Earning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before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Interest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Tax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Depreciation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Appropriation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Net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less 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Balances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equivalents, bank</a:t>
            </a:r>
            <a:r>
              <a:rPr dirty="0" sz="700" spc="-10">
                <a:latin typeface="Calibri"/>
                <a:cs typeface="Calibri"/>
              </a:rPr>
              <a:t> balances,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market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value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 marketable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securities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(non-</a:t>
            </a:r>
            <a:r>
              <a:rPr dirty="0" sz="700">
                <a:latin typeface="Calibri"/>
                <a:cs typeface="Calibri"/>
              </a:rPr>
              <a:t>current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investments), balance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held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margin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money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&amp;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deposit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for</a:t>
            </a:r>
            <a:r>
              <a:rPr dirty="0" sz="700" spc="50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more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than 12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months.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1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Gross 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Property,</a:t>
            </a:r>
            <a:r>
              <a:rPr dirty="0" sz="700" spc="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Plant 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Equipment;</a:t>
            </a:r>
            <a:r>
              <a:rPr dirty="0" sz="700" spc="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Capital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Work In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Progress;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Assets; Right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Use,</a:t>
            </a:r>
            <a:r>
              <a:rPr dirty="0" sz="700" spc="-10">
                <a:latin typeface="Calibri"/>
                <a:cs typeface="Calibri"/>
              </a:rPr>
              <a:t> Goodwill,</a:t>
            </a:r>
            <a:r>
              <a:rPr dirty="0" sz="700" spc="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Investment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Property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Intangible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under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development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RRE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Audited </a:t>
            </a:r>
            <a:r>
              <a:rPr dirty="0" sz="700" spc="-20">
                <a:latin typeface="Calibri"/>
                <a:cs typeface="Calibri"/>
              </a:rPr>
              <a:t>no's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-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2023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Run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EBIDTA.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RR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includes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cement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business</a:t>
            </a:r>
            <a:r>
              <a:rPr dirty="0" sz="700">
                <a:latin typeface="Calibri"/>
                <a:cs typeface="Calibri"/>
              </a:rPr>
              <a:t> RR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basis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efficiency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gain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related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to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power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logistics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Adani</a:t>
            </a:r>
            <a:r>
              <a:rPr dirty="0" sz="2400" spc="-45"/>
              <a:t> </a:t>
            </a:r>
            <a:r>
              <a:rPr dirty="0" sz="2400"/>
              <a:t>Complex:</a:t>
            </a:r>
            <a:r>
              <a:rPr dirty="0" sz="2400" spc="-55"/>
              <a:t> </a:t>
            </a:r>
            <a:r>
              <a:rPr dirty="0" sz="2400"/>
              <a:t>Near</a:t>
            </a:r>
            <a:r>
              <a:rPr dirty="0" sz="2400" spc="-45"/>
              <a:t> Term</a:t>
            </a:r>
            <a:r>
              <a:rPr dirty="0" sz="2400" spc="-35"/>
              <a:t> </a:t>
            </a:r>
            <a:r>
              <a:rPr dirty="0" sz="2400"/>
              <a:t>Maturities</a:t>
            </a:r>
            <a:r>
              <a:rPr dirty="0" sz="2400" spc="-55"/>
              <a:t> </a:t>
            </a:r>
            <a:r>
              <a:rPr dirty="0" sz="2400"/>
              <a:t>&amp;</a:t>
            </a:r>
            <a:r>
              <a:rPr dirty="0" sz="2400" spc="-40"/>
              <a:t> </a:t>
            </a:r>
            <a:r>
              <a:rPr dirty="0" sz="2400"/>
              <a:t>Funding</a:t>
            </a:r>
            <a:r>
              <a:rPr dirty="0" sz="2400" spc="-45"/>
              <a:t> </a:t>
            </a:r>
            <a:r>
              <a:rPr dirty="0" sz="2400" spc="-20"/>
              <a:t>Plan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3316" y="2122932"/>
            <a:ext cx="4572000" cy="1177290"/>
            <a:chOff x="623316" y="2122932"/>
            <a:chExt cx="4572000" cy="1177290"/>
          </a:xfrm>
        </p:grpSpPr>
        <p:sp>
          <p:nvSpPr>
            <p:cNvPr id="5" name="object 5"/>
            <p:cNvSpPr/>
            <p:nvPr/>
          </p:nvSpPr>
          <p:spPr>
            <a:xfrm>
              <a:off x="737616" y="2122931"/>
              <a:ext cx="4343400" cy="1172210"/>
            </a:xfrm>
            <a:custGeom>
              <a:avLst/>
              <a:gdLst/>
              <a:ahLst/>
              <a:cxnLst/>
              <a:rect l="l" t="t" r="r" b="b"/>
              <a:pathLst>
                <a:path w="4343400" h="1172210">
                  <a:moveTo>
                    <a:pt x="914400" y="536448"/>
                  </a:moveTo>
                  <a:lnTo>
                    <a:pt x="0" y="536448"/>
                  </a:lnTo>
                  <a:lnTo>
                    <a:pt x="0" y="1171956"/>
                  </a:lnTo>
                  <a:lnTo>
                    <a:pt x="914400" y="1171956"/>
                  </a:lnTo>
                  <a:lnTo>
                    <a:pt x="914400" y="536448"/>
                  </a:lnTo>
                  <a:close/>
                </a:path>
                <a:path w="4343400" h="1172210">
                  <a:moveTo>
                    <a:pt x="2057400" y="848868"/>
                  </a:moveTo>
                  <a:lnTo>
                    <a:pt x="1143000" y="848868"/>
                  </a:lnTo>
                  <a:lnTo>
                    <a:pt x="1143000" y="1171956"/>
                  </a:lnTo>
                  <a:lnTo>
                    <a:pt x="2057400" y="1171956"/>
                  </a:lnTo>
                  <a:lnTo>
                    <a:pt x="2057400" y="848868"/>
                  </a:lnTo>
                  <a:close/>
                </a:path>
                <a:path w="4343400" h="1172210">
                  <a:moveTo>
                    <a:pt x="3200400" y="0"/>
                  </a:moveTo>
                  <a:lnTo>
                    <a:pt x="2286000" y="0"/>
                  </a:lnTo>
                  <a:lnTo>
                    <a:pt x="2286000" y="1171956"/>
                  </a:lnTo>
                  <a:lnTo>
                    <a:pt x="3200400" y="1171956"/>
                  </a:lnTo>
                  <a:lnTo>
                    <a:pt x="3200400" y="0"/>
                  </a:lnTo>
                  <a:close/>
                </a:path>
                <a:path w="4343400" h="1172210">
                  <a:moveTo>
                    <a:pt x="4343400" y="905256"/>
                  </a:moveTo>
                  <a:lnTo>
                    <a:pt x="3429000" y="905256"/>
                  </a:lnTo>
                  <a:lnTo>
                    <a:pt x="3429000" y="1171956"/>
                  </a:lnTo>
                  <a:lnTo>
                    <a:pt x="4343400" y="1171956"/>
                  </a:lnTo>
                  <a:lnTo>
                    <a:pt x="4343400" y="9052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3316" y="3294888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 h="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65072" y="244525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4,391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8402" y="2756661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2,239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1403" y="190754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8,106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4657" y="281343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1,848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893" y="335013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3610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6864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0117" y="335013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5950" y="1154049"/>
            <a:ext cx="3630295" cy="602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1670"/>
              </a:lnSpc>
              <a:spcBef>
                <a:spcPts val="105"/>
              </a:spcBef>
            </a:pP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4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400" spc="-5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4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4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4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4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400">
              <a:latin typeface="Calibri"/>
              <a:cs typeface="Calibri"/>
            </a:endParaRPr>
          </a:p>
          <a:p>
            <a:pPr marL="48895" marR="1288415">
              <a:lnSpc>
                <a:spcPts val="1440"/>
              </a:lnSpc>
              <a:spcBef>
                <a:spcPts val="3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6,257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13,900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396" y="6389014"/>
            <a:ext cx="995299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28270" algn="l"/>
              </a:tabLst>
            </a:pP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31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Dec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2022: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cash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equivalents,</a:t>
            </a:r>
            <a:r>
              <a:rPr dirty="0" sz="800" spc="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bank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balances,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investments,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market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value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marketable </a:t>
            </a:r>
            <a:r>
              <a:rPr dirty="0" sz="800">
                <a:latin typeface="Calibri"/>
                <a:cs typeface="Calibri"/>
              </a:rPr>
              <a:t>securities</a:t>
            </a:r>
            <a:r>
              <a:rPr dirty="0" sz="800" spc="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(non-</a:t>
            </a:r>
            <a:r>
              <a:rPr dirty="0" sz="800">
                <a:latin typeface="Calibri"/>
                <a:cs typeface="Calibri"/>
              </a:rPr>
              <a:t>current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investments),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balance held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margin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money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&amp;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deposit for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more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than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12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months.</a:t>
            </a:r>
            <a:endParaRPr sz="800">
              <a:latin typeface="Calibri"/>
              <a:cs typeface="Calibri"/>
            </a:endParaRPr>
          </a:p>
          <a:p>
            <a:pPr marL="128270" indent="-1155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28270" algn="l"/>
              </a:tabLst>
            </a:pPr>
            <a:r>
              <a:rPr dirty="0" sz="800" spc="-10">
                <a:latin typeface="Calibri"/>
                <a:cs typeface="Calibri"/>
              </a:rPr>
              <a:t>Run-</a:t>
            </a:r>
            <a:r>
              <a:rPr dirty="0" sz="800">
                <a:latin typeface="Calibri"/>
                <a:cs typeface="Calibri"/>
              </a:rPr>
              <a:t>rate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considers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annualized</a:t>
            </a:r>
            <a:r>
              <a:rPr dirty="0" sz="800" spc="30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EBITDA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for assets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commissioned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after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start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 the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year.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Run rate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EBITDA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includes</a:t>
            </a:r>
            <a:r>
              <a:rPr dirty="0" sz="800" spc="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other</a:t>
            </a:r>
            <a:r>
              <a:rPr dirty="0" sz="800" spc="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income.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35495" y="1816607"/>
            <a:ext cx="4602480" cy="1475740"/>
            <a:chOff x="6635495" y="1816607"/>
            <a:chExt cx="4602480" cy="1475740"/>
          </a:xfrm>
        </p:grpSpPr>
        <p:sp>
          <p:nvSpPr>
            <p:cNvPr id="18" name="object 18"/>
            <p:cNvSpPr/>
            <p:nvPr/>
          </p:nvSpPr>
          <p:spPr>
            <a:xfrm>
              <a:off x="6827520" y="1816607"/>
              <a:ext cx="4220210" cy="1470660"/>
            </a:xfrm>
            <a:custGeom>
              <a:avLst/>
              <a:gdLst/>
              <a:ahLst/>
              <a:cxnLst/>
              <a:rect l="l" t="t" r="r" b="b"/>
              <a:pathLst>
                <a:path w="4220209" h="1470660">
                  <a:moveTo>
                    <a:pt x="768096" y="1296924"/>
                  </a:moveTo>
                  <a:lnTo>
                    <a:pt x="0" y="1296924"/>
                  </a:lnTo>
                  <a:lnTo>
                    <a:pt x="0" y="1470660"/>
                  </a:lnTo>
                  <a:lnTo>
                    <a:pt x="768096" y="1470660"/>
                  </a:lnTo>
                  <a:lnTo>
                    <a:pt x="768096" y="1296924"/>
                  </a:lnTo>
                  <a:close/>
                </a:path>
                <a:path w="4220209" h="1470660">
                  <a:moveTo>
                    <a:pt x="1918716" y="348996"/>
                  </a:moveTo>
                  <a:lnTo>
                    <a:pt x="1150620" y="348996"/>
                  </a:lnTo>
                  <a:lnTo>
                    <a:pt x="1150620" y="1470660"/>
                  </a:lnTo>
                  <a:lnTo>
                    <a:pt x="1918716" y="1470660"/>
                  </a:lnTo>
                  <a:lnTo>
                    <a:pt x="1918716" y="348996"/>
                  </a:lnTo>
                  <a:close/>
                </a:path>
                <a:path w="4220209" h="1470660">
                  <a:moveTo>
                    <a:pt x="3069336" y="0"/>
                  </a:moveTo>
                  <a:lnTo>
                    <a:pt x="2301240" y="0"/>
                  </a:lnTo>
                  <a:lnTo>
                    <a:pt x="2301240" y="1470660"/>
                  </a:lnTo>
                  <a:lnTo>
                    <a:pt x="3069336" y="1470660"/>
                  </a:lnTo>
                  <a:lnTo>
                    <a:pt x="3069336" y="0"/>
                  </a:lnTo>
                  <a:close/>
                </a:path>
                <a:path w="4220209" h="1470660">
                  <a:moveTo>
                    <a:pt x="4219956" y="45720"/>
                  </a:moveTo>
                  <a:lnTo>
                    <a:pt x="3451860" y="45720"/>
                  </a:lnTo>
                  <a:lnTo>
                    <a:pt x="3451860" y="1470660"/>
                  </a:lnTo>
                  <a:lnTo>
                    <a:pt x="4219956" y="1470660"/>
                  </a:lnTo>
                  <a:lnTo>
                    <a:pt x="4219956" y="4572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35495" y="3287267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 h="0">
                  <a:moveTo>
                    <a:pt x="0" y="0"/>
                  </a:moveTo>
                  <a:lnTo>
                    <a:pt x="460248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32446" y="2914650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112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3320" y="1966087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724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4321" y="1617726"/>
            <a:ext cx="18097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949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4942" y="1662506"/>
            <a:ext cx="1809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404040"/>
                </a:solidFill>
                <a:latin typeface="Calibri"/>
                <a:cs typeface="Calibri"/>
              </a:rPr>
              <a:t>920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9930" y="3328542"/>
            <a:ext cx="3048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Calibri"/>
                <a:cs typeface="Calibri"/>
              </a:rPr>
              <a:t>FY23Q4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6325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FY24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13875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64748" y="3328542"/>
            <a:ext cx="200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latin typeface="Calibri"/>
                <a:cs typeface="Calibri"/>
              </a:rPr>
              <a:t>FY26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32598" y="1055798"/>
            <a:ext cx="3375025" cy="5175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550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3,486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2598" y="1547876"/>
            <a:ext cx="1740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5,989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9475" y="4703064"/>
            <a:ext cx="5009515" cy="1163320"/>
            <a:chOff x="379475" y="4703064"/>
            <a:chExt cx="5009515" cy="1163320"/>
          </a:xfrm>
        </p:grpSpPr>
        <p:sp>
          <p:nvSpPr>
            <p:cNvPr id="31" name="object 31"/>
            <p:cNvSpPr/>
            <p:nvPr/>
          </p:nvSpPr>
          <p:spPr>
            <a:xfrm>
              <a:off x="545592" y="4703063"/>
              <a:ext cx="4677410" cy="1158240"/>
            </a:xfrm>
            <a:custGeom>
              <a:avLst/>
              <a:gdLst/>
              <a:ahLst/>
              <a:cxnLst/>
              <a:rect l="l" t="t" r="r" b="b"/>
              <a:pathLst>
                <a:path w="4677410" h="1158239">
                  <a:moveTo>
                    <a:pt x="920496" y="1129284"/>
                  </a:moveTo>
                  <a:lnTo>
                    <a:pt x="0" y="1129284"/>
                  </a:lnTo>
                  <a:lnTo>
                    <a:pt x="0" y="1158240"/>
                  </a:lnTo>
                  <a:lnTo>
                    <a:pt x="920496" y="1158240"/>
                  </a:lnTo>
                  <a:lnTo>
                    <a:pt x="920496" y="1129284"/>
                  </a:lnTo>
                  <a:close/>
                </a:path>
                <a:path w="4677410" h="1158239">
                  <a:moveTo>
                    <a:pt x="2173224" y="1037844"/>
                  </a:moveTo>
                  <a:lnTo>
                    <a:pt x="1251204" y="1037844"/>
                  </a:lnTo>
                  <a:lnTo>
                    <a:pt x="1251204" y="1158240"/>
                  </a:lnTo>
                  <a:lnTo>
                    <a:pt x="2173224" y="1158240"/>
                  </a:lnTo>
                  <a:lnTo>
                    <a:pt x="2173224" y="1037844"/>
                  </a:lnTo>
                  <a:close/>
                </a:path>
                <a:path w="4677410" h="1158239">
                  <a:moveTo>
                    <a:pt x="3424428" y="0"/>
                  </a:moveTo>
                  <a:lnTo>
                    <a:pt x="2503932" y="0"/>
                  </a:lnTo>
                  <a:lnTo>
                    <a:pt x="2503932" y="1158240"/>
                  </a:lnTo>
                  <a:lnTo>
                    <a:pt x="3424428" y="1158240"/>
                  </a:lnTo>
                  <a:lnTo>
                    <a:pt x="3424428" y="0"/>
                  </a:lnTo>
                  <a:close/>
                </a:path>
                <a:path w="4677410" h="1158239">
                  <a:moveTo>
                    <a:pt x="4677156" y="999744"/>
                  </a:moveTo>
                  <a:lnTo>
                    <a:pt x="3756660" y="999744"/>
                  </a:lnTo>
                  <a:lnTo>
                    <a:pt x="3756660" y="1158240"/>
                  </a:lnTo>
                  <a:lnTo>
                    <a:pt x="4677156" y="1158240"/>
                  </a:lnTo>
                  <a:lnTo>
                    <a:pt x="4677156" y="99974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9475" y="5861304"/>
              <a:ext cx="5009515" cy="0"/>
            </a:xfrm>
            <a:custGeom>
              <a:avLst/>
              <a:gdLst/>
              <a:ahLst/>
              <a:cxnLst/>
              <a:rect l="l" t="t" r="r" b="b"/>
              <a:pathLst>
                <a:path w="5009515" h="0">
                  <a:moveTo>
                    <a:pt x="0" y="0"/>
                  </a:moveTo>
                  <a:lnTo>
                    <a:pt x="500938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17854" y="5617565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04040"/>
                </a:solidFill>
                <a:latin typeface="Calibri"/>
                <a:cs typeface="Calibri"/>
              </a:rPr>
              <a:t>305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7885" y="5526430"/>
            <a:ext cx="28702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1,224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1403" y="4489195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11,729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2705" y="548802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1,617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3612" y="5917183"/>
            <a:ext cx="383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FY23Q4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3345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86073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38547" y="5917183"/>
            <a:ext cx="2495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Calibri"/>
                <a:cs typeface="Calibri"/>
              </a:rPr>
              <a:t>FY26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8862" y="3758310"/>
            <a:ext cx="3388360" cy="594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Debt</a:t>
            </a:r>
            <a:r>
              <a:rPr dirty="0" sz="13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Maturity</a:t>
            </a:r>
            <a:r>
              <a:rPr dirty="0" sz="13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Profile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31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Dec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2022</a:t>
            </a:r>
            <a:r>
              <a:rPr dirty="0" sz="1300" spc="-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1F5F"/>
                </a:solidFill>
                <a:latin typeface="Calibri"/>
                <a:cs typeface="Calibri"/>
              </a:rPr>
              <a:t>(INR</a:t>
            </a:r>
            <a:r>
              <a:rPr dirty="0" sz="1300" spc="-4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001F5F"/>
                </a:solidFill>
                <a:latin typeface="Calibri"/>
                <a:cs typeface="Calibri"/>
              </a:rPr>
              <a:t>Cr)</a:t>
            </a:r>
            <a:endParaRPr sz="1300">
              <a:latin typeface="Calibri"/>
              <a:cs typeface="Calibri"/>
            </a:endParaRPr>
          </a:p>
          <a:p>
            <a:pPr marL="38100" marR="1057910">
              <a:lnSpc>
                <a:spcPct val="100000"/>
              </a:lnSpc>
              <a:spcBef>
                <a:spcPts val="40"/>
              </a:spcBef>
            </a:pPr>
            <a:r>
              <a:rPr dirty="0" sz="1200" b="1">
                <a:latin typeface="Calibri"/>
                <a:cs typeface="Calibri"/>
              </a:rPr>
              <a:t>Cash and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equivalents</a:t>
            </a:r>
            <a:r>
              <a:rPr dirty="0" baseline="24305" sz="1200" spc="-15" b="1">
                <a:latin typeface="Calibri"/>
                <a:cs typeface="Calibri"/>
              </a:rPr>
              <a:t>1</a:t>
            </a:r>
            <a:r>
              <a:rPr dirty="0" sz="1200" spc="-10" b="1">
                <a:latin typeface="Calibri"/>
                <a:cs typeface="Calibri"/>
              </a:rPr>
              <a:t>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4,711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 </a:t>
            </a:r>
            <a:r>
              <a:rPr dirty="0" sz="1200" b="1">
                <a:latin typeface="Calibri"/>
                <a:cs typeface="Calibri"/>
              </a:rPr>
              <a:t>Run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EBITDA</a:t>
            </a:r>
            <a:r>
              <a:rPr dirty="0" baseline="24305" sz="1200" b="1">
                <a:latin typeface="Calibri"/>
                <a:cs typeface="Calibri"/>
              </a:rPr>
              <a:t>2</a:t>
            </a:r>
            <a:r>
              <a:rPr dirty="0" sz="1200" b="1">
                <a:latin typeface="Calibri"/>
                <a:cs typeface="Calibri"/>
              </a:rPr>
              <a:t>: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7,380</a:t>
            </a:r>
            <a:r>
              <a:rPr dirty="0" sz="1200" spc="-25" b="1">
                <a:latin typeface="Calibri"/>
                <a:cs typeface="Calibri"/>
              </a:rPr>
              <a:t> 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46470" y="4192016"/>
            <a:ext cx="315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APSEZ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10">
                <a:latin typeface="Calibri"/>
                <a:cs typeface="Calibri"/>
              </a:rPr>
              <a:t> 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46470" y="4527295"/>
            <a:ext cx="3602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ATL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cashflow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46470" y="4862829"/>
            <a:ext cx="5504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maturity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outside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cashflow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comprehensive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finance </a:t>
            </a:r>
            <a:r>
              <a:rPr dirty="0" sz="1200" spc="-20">
                <a:latin typeface="Calibri"/>
                <a:cs typeface="Calibri"/>
              </a:rPr>
              <a:t>plan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68973" y="5380990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USD 460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0">
                <a:latin typeface="Calibri"/>
                <a:cs typeface="Calibri"/>
              </a:rPr>
              <a:t>received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inbound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 year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 </a:t>
            </a:r>
            <a:r>
              <a:rPr dirty="0" sz="1200" spc="-10">
                <a:latin typeface="Calibri"/>
                <a:cs typeface="Calibri"/>
              </a:rPr>
              <a:t>amount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350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Mn)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68973" y="5716320"/>
            <a:ext cx="2896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0">
                <a:latin typeface="Calibri"/>
                <a:cs typeface="Calibri"/>
              </a:rPr>
              <a:t> Corporate)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800 </a:t>
            </a:r>
            <a:r>
              <a:rPr dirty="0" sz="1200" spc="-25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45"/>
              <a:t> </a:t>
            </a:r>
            <a:r>
              <a:rPr dirty="0" sz="2200" spc="-10"/>
              <a:t>Portfolio:</a:t>
            </a:r>
            <a:r>
              <a:rPr dirty="0" sz="2200" spc="-50"/>
              <a:t> </a:t>
            </a:r>
            <a:r>
              <a:rPr dirty="0" sz="2200"/>
              <a:t>Ratings</a:t>
            </a:r>
            <a:r>
              <a:rPr dirty="0" sz="2200" spc="-25"/>
              <a:t> </a:t>
            </a:r>
            <a:r>
              <a:rPr dirty="0" sz="2200" spc="-10"/>
              <a:t>affirmation</a:t>
            </a:r>
            <a:endParaRPr sz="2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5356" y="1209928"/>
          <a:ext cx="10593070" cy="306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0"/>
                <a:gridCol w="5131434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Company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214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Ports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Special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Zone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(APSEZ)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Container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Terminal Private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(AICTPL)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(ATL)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ATL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USPP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Electricity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(AEML)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(S&amp;P,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Fitch)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Transmission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Step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(ATSOL)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Obligor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Group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Baa3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Energy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(AGEL)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Ba3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(Moody's)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BBB-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Ba1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04470">
                <a:tc>
                  <a:txBody>
                    <a:bodyPr/>
                    <a:lstStyle/>
                    <a:p>
                      <a:pPr marL="182880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AGEL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RG1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ts val="140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(Fitch)/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Ba2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(Moody's)/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BB-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(S&amp;P)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Adani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Holdings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(AAHL)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Mumbai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International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Airport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(MIAL)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BB+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(Fitch)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5356" y="4741671"/>
          <a:ext cx="10553700" cy="197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2300"/>
                <a:gridCol w="3865879"/>
                <a:gridCol w="4719320"/>
              </a:tblGrid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Listed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Domestic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Agencies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INR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Ambuja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CRISIL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APSEZ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Ratings,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ATL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ATGL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ICRA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AWL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CARE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AA-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CARE,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AGEL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A+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APL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CRISIL,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India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88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A, 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T w="6350">
                      <a:solidFill>
                        <a:srgbClr val="999999"/>
                      </a:solidFill>
                      <a:prstDash val="solid"/>
                    </a:lnT>
                    <a:lnB w="6350">
                      <a:solidFill>
                        <a:srgbClr val="9999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5368" y="927862"/>
            <a:ext cx="21062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International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368" y="4460494"/>
            <a:ext cx="183451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Domestic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Ratings: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11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1132205" marR="5080">
              <a:lnSpc>
                <a:spcPts val="19145"/>
              </a:lnSpc>
              <a:spcBef>
                <a:spcPts val="95"/>
              </a:spcBef>
            </a:pPr>
            <a:r>
              <a:rPr dirty="0" sz="16000" spc="-50">
                <a:solidFill>
                  <a:srgbClr val="000000"/>
                </a:solidFill>
                <a:latin typeface="Calibri Light"/>
                <a:cs typeface="Calibri Light"/>
              </a:rPr>
              <a:t>3</a:t>
            </a:r>
            <a:endParaRPr sz="16000">
              <a:latin typeface="Calibri Light"/>
              <a:cs typeface="Calibri Light"/>
            </a:endParaRPr>
          </a:p>
          <a:p>
            <a:pPr marL="1144905">
              <a:lnSpc>
                <a:spcPts val="2825"/>
              </a:lnSpc>
            </a:pPr>
            <a:r>
              <a:rPr dirty="0" sz="2400">
                <a:solidFill>
                  <a:srgbClr val="000000"/>
                </a:solidFill>
              </a:rPr>
              <a:t>Adani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Portfolio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–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Risk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Management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Tested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20"/>
              <a:t>Transmission</a:t>
            </a:r>
            <a:r>
              <a:rPr dirty="0" sz="2200" spc="-85"/>
              <a:t> </a:t>
            </a:r>
            <a:r>
              <a:rPr dirty="0" sz="2200"/>
              <a:t>Limited</a:t>
            </a:r>
            <a:r>
              <a:rPr dirty="0" sz="2200" spc="-60"/>
              <a:t> </a:t>
            </a:r>
            <a:r>
              <a:rPr dirty="0" sz="2200" spc="-20"/>
              <a:t>(ATL)</a:t>
            </a:r>
            <a:r>
              <a:rPr dirty="0" sz="2200" spc="-50"/>
              <a:t> </a:t>
            </a:r>
            <a:r>
              <a:rPr dirty="0" sz="2200"/>
              <a:t>–</a:t>
            </a:r>
            <a:r>
              <a:rPr dirty="0" sz="2200" spc="-70"/>
              <a:t> </a:t>
            </a:r>
            <a:r>
              <a:rPr dirty="0" sz="2200"/>
              <a:t>Ring</a:t>
            </a:r>
            <a:r>
              <a:rPr dirty="0" sz="2200" spc="-60"/>
              <a:t> </a:t>
            </a:r>
            <a:r>
              <a:rPr dirty="0" sz="2200"/>
              <a:t>fence</a:t>
            </a:r>
            <a:r>
              <a:rPr dirty="0" sz="2200" spc="-55"/>
              <a:t> </a:t>
            </a:r>
            <a:r>
              <a:rPr dirty="0" sz="2200"/>
              <a:t>structure</a:t>
            </a:r>
            <a:r>
              <a:rPr dirty="0" sz="2200" spc="-75"/>
              <a:t> </a:t>
            </a:r>
            <a:r>
              <a:rPr dirty="0" sz="2200"/>
              <a:t>integrity</a:t>
            </a:r>
            <a:r>
              <a:rPr dirty="0" sz="2200" spc="-55"/>
              <a:t> </a:t>
            </a:r>
            <a:r>
              <a:rPr dirty="0" sz="2200" spc="-10"/>
              <a:t>tested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188" y="6460642"/>
            <a:ext cx="45053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Calibri"/>
                <a:cs typeface="Calibri"/>
              </a:rPr>
              <a:t>*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Due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to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CERC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restriction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51%</a:t>
            </a:r>
            <a:r>
              <a:rPr dirty="0" sz="800" spc="-4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are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pledged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in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favour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ATL</a:t>
            </a:r>
            <a:r>
              <a:rPr dirty="0" sz="800" spc="12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**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Currently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AEML</a:t>
            </a:r>
            <a:r>
              <a:rPr dirty="0" sz="800" spc="-3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holds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shares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of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AEMIL.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5447" y="893452"/>
            <a:ext cx="11690985" cy="5041900"/>
            <a:chOff x="155447" y="893452"/>
            <a:chExt cx="11690985" cy="5041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7" y="893452"/>
              <a:ext cx="11690805" cy="5041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4047" y="4832603"/>
              <a:ext cx="216407" cy="2164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71866" y="4853432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7827" y="4784852"/>
            <a:ext cx="9950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333333"/>
                </a:solidFill>
                <a:latin typeface="Calibri"/>
                <a:cs typeface="Calibri"/>
              </a:rPr>
              <a:t>Construction</a:t>
            </a:r>
            <a:r>
              <a:rPr dirty="0" sz="9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Facility</a:t>
            </a:r>
            <a:r>
              <a:rPr dirty="0" sz="900" spc="50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333333"/>
                </a:solidFill>
                <a:latin typeface="Calibri"/>
                <a:cs typeface="Calibri"/>
              </a:rPr>
              <a:t>(SWIFT1)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55"/>
              <a:t> </a:t>
            </a:r>
            <a:r>
              <a:rPr dirty="0" spc="-10"/>
              <a:t>Portfolio-</a:t>
            </a:r>
            <a:r>
              <a:rPr dirty="0" spc="-40"/>
              <a:t> </a:t>
            </a:r>
            <a:r>
              <a:rPr dirty="0" spc="-10"/>
              <a:t>rate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FX</a:t>
            </a:r>
            <a:r>
              <a:rPr dirty="0" spc="-40"/>
              <a:t> </a:t>
            </a:r>
            <a:r>
              <a:rPr dirty="0"/>
              <a:t>risk</a:t>
            </a:r>
            <a:r>
              <a:rPr dirty="0" spc="-30"/>
              <a:t> </a:t>
            </a:r>
            <a:r>
              <a:rPr dirty="0"/>
              <a:t>management</a:t>
            </a:r>
            <a:r>
              <a:rPr dirty="0" spc="-50"/>
              <a:t> </a:t>
            </a:r>
            <a:r>
              <a:rPr dirty="0" spc="-10"/>
              <a:t>tested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625" y="6364630"/>
            <a:ext cx="53117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Note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50">
                <a:latin typeface="Calibri"/>
                <a:cs typeface="Calibri"/>
              </a:rPr>
              <a:t>–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40665" algn="l"/>
              </a:tabLst>
            </a:pPr>
            <a:r>
              <a:rPr dirty="0" sz="700" spc="-25">
                <a:latin typeface="Calibri"/>
                <a:cs typeface="Calibri"/>
              </a:rPr>
              <a:t>1.</a:t>
            </a:r>
            <a:r>
              <a:rPr dirty="0" sz="700">
                <a:latin typeface="Calibri"/>
                <a:cs typeface="Calibri"/>
              </a:rPr>
              <a:t>	Debt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Outstanding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Closing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Debt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Derivative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assets/ Other </a:t>
            </a:r>
            <a:r>
              <a:rPr dirty="0" sz="700" spc="-10">
                <a:latin typeface="Calibri"/>
                <a:cs typeface="Calibri"/>
              </a:rPr>
              <a:t>comprehensive</a:t>
            </a:r>
            <a:r>
              <a:rPr dirty="0" sz="700" spc="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income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–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Reserve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Cash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available 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servicing =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RG1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225" y="6577990"/>
            <a:ext cx="41243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4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 RG2</a:t>
            </a:r>
            <a:r>
              <a:rPr dirty="0" sz="700" spc="-3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EBIDTA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+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AGEL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Holdco</a:t>
            </a:r>
            <a:r>
              <a:rPr dirty="0" sz="700" spc="10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FCFE</a:t>
            </a:r>
            <a:endParaRPr sz="7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tabLst>
                <a:tab pos="266065" algn="l"/>
              </a:tabLst>
            </a:pPr>
            <a:r>
              <a:rPr dirty="0" sz="700" spc="-25">
                <a:latin typeface="Calibri"/>
                <a:cs typeface="Calibri"/>
              </a:rPr>
              <a:t>2.</a:t>
            </a:r>
            <a:r>
              <a:rPr dirty="0" sz="700">
                <a:latin typeface="Calibri"/>
                <a:cs typeface="Calibri"/>
              </a:rPr>
              <a:t>	Assumed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the USD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/INR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Exchange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rate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for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11</a:t>
            </a:r>
            <a:r>
              <a:rPr dirty="0" baseline="24691" sz="675">
                <a:latin typeface="Calibri"/>
                <a:cs typeface="Calibri"/>
              </a:rPr>
              <a:t>th</a:t>
            </a:r>
            <a:r>
              <a:rPr dirty="0" baseline="24691" sz="675" spc="89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October,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2022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@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INR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82.39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is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constant till</a:t>
            </a:r>
            <a:r>
              <a:rPr dirty="0" sz="700" spc="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31</a:t>
            </a:r>
            <a:r>
              <a:rPr dirty="0" baseline="24691" sz="675">
                <a:latin typeface="Calibri"/>
                <a:cs typeface="Calibri"/>
              </a:rPr>
              <a:t>st</a:t>
            </a:r>
            <a:r>
              <a:rPr dirty="0" baseline="24691" sz="675" spc="67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March,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2023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38" y="6652666"/>
            <a:ext cx="19970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Negative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unhedged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8538" y="6406388"/>
            <a:ext cx="19602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Positive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gap</a:t>
            </a:r>
            <a:r>
              <a:rPr dirty="0" sz="700" spc="-2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between</a:t>
            </a:r>
            <a:r>
              <a:rPr dirty="0" sz="700" spc="-10">
                <a:latin typeface="Calibri"/>
                <a:cs typeface="Calibri"/>
              </a:rPr>
              <a:t> unhedged </a:t>
            </a:r>
            <a:r>
              <a:rPr dirty="0" sz="700">
                <a:latin typeface="Calibri"/>
                <a:cs typeface="Calibri"/>
              </a:rPr>
              <a:t>and</a:t>
            </a:r>
            <a:r>
              <a:rPr dirty="0" sz="700" spc="-3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hedged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servicing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28232" y="6662928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25184" y="6416040"/>
            <a:ext cx="467995" cy="166370"/>
          </a:xfrm>
          <a:custGeom>
            <a:avLst/>
            <a:gdLst/>
            <a:ahLst/>
            <a:cxnLst/>
            <a:rect l="l" t="t" r="r" b="b"/>
            <a:pathLst>
              <a:path w="467995" h="166370">
                <a:moveTo>
                  <a:pt x="0" y="166116"/>
                </a:moveTo>
                <a:lnTo>
                  <a:pt x="467867" y="166116"/>
                </a:lnTo>
                <a:lnTo>
                  <a:pt x="467867" y="0"/>
                </a:lnTo>
                <a:lnTo>
                  <a:pt x="0" y="0"/>
                </a:lnTo>
                <a:lnTo>
                  <a:pt x="0" y="166116"/>
                </a:lnTo>
                <a:close/>
              </a:path>
            </a:pathLst>
          </a:custGeom>
          <a:ln w="1270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485965" y="4207764"/>
            <a:ext cx="4839335" cy="1377950"/>
            <a:chOff x="485965" y="4207764"/>
            <a:chExt cx="4839335" cy="1377950"/>
          </a:xfrm>
        </p:grpSpPr>
        <p:sp>
          <p:nvSpPr>
            <p:cNvPr id="11" name="object 11"/>
            <p:cNvSpPr/>
            <p:nvPr/>
          </p:nvSpPr>
          <p:spPr>
            <a:xfrm>
              <a:off x="3267443" y="4207763"/>
              <a:ext cx="1690370" cy="1373505"/>
            </a:xfrm>
            <a:custGeom>
              <a:avLst/>
              <a:gdLst/>
              <a:ahLst/>
              <a:cxnLst/>
              <a:rect l="l" t="t" r="r" b="b"/>
              <a:pathLst>
                <a:path w="1690370" h="1373504">
                  <a:moveTo>
                    <a:pt x="483120" y="667512"/>
                  </a:moveTo>
                  <a:lnTo>
                    <a:pt x="0" y="667512"/>
                  </a:lnTo>
                  <a:lnTo>
                    <a:pt x="0" y="1373124"/>
                  </a:lnTo>
                  <a:lnTo>
                    <a:pt x="483120" y="1373124"/>
                  </a:lnTo>
                  <a:lnTo>
                    <a:pt x="483120" y="667512"/>
                  </a:lnTo>
                  <a:close/>
                </a:path>
                <a:path w="1690370" h="1373504">
                  <a:moveTo>
                    <a:pt x="1690128" y="0"/>
                  </a:moveTo>
                  <a:lnTo>
                    <a:pt x="1207020" y="0"/>
                  </a:lnTo>
                  <a:lnTo>
                    <a:pt x="1207020" y="1373124"/>
                  </a:lnTo>
                  <a:lnTo>
                    <a:pt x="1690128" y="1373124"/>
                  </a:lnTo>
                  <a:lnTo>
                    <a:pt x="1690128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0727" y="5580888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93469" y="4856226"/>
              <a:ext cx="3622675" cy="289560"/>
            </a:xfrm>
            <a:custGeom>
              <a:avLst/>
              <a:gdLst/>
              <a:ahLst/>
              <a:cxnLst/>
              <a:rect l="l" t="t" r="r" b="b"/>
              <a:pathLst>
                <a:path w="3622675" h="289560">
                  <a:moveTo>
                    <a:pt x="0" y="289560"/>
                  </a:moveTo>
                  <a:lnTo>
                    <a:pt x="1208532" y="150875"/>
                  </a:lnTo>
                  <a:lnTo>
                    <a:pt x="2415540" y="0"/>
                  </a:lnTo>
                  <a:lnTo>
                    <a:pt x="3622548" y="13716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51916" y="5222747"/>
            <a:ext cx="483234" cy="35814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dirty="0" sz="900" spc="-25">
                <a:latin typeface="Calibri"/>
                <a:cs typeface="Calibri"/>
              </a:rPr>
              <a:t>559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9111" y="5287009"/>
            <a:ext cx="541020" cy="2895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9271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730"/>
              </a:spcBef>
            </a:pPr>
            <a:r>
              <a:rPr dirty="0" sz="900" spc="-25">
                <a:latin typeface="Calibri"/>
                <a:cs typeface="Calibri"/>
              </a:rPr>
              <a:t>478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9089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1,097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6478" y="5367020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2,136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44041" y="4141978"/>
            <a:ext cx="4205605" cy="1145540"/>
            <a:chOff x="844041" y="4141978"/>
            <a:chExt cx="4205605" cy="1145540"/>
          </a:xfrm>
        </p:grpSpPr>
        <p:sp>
          <p:nvSpPr>
            <p:cNvPr id="19" name="object 19"/>
            <p:cNvSpPr/>
            <p:nvPr/>
          </p:nvSpPr>
          <p:spPr>
            <a:xfrm>
              <a:off x="4715256" y="4826508"/>
              <a:ext cx="329565" cy="43180"/>
            </a:xfrm>
            <a:custGeom>
              <a:avLst/>
              <a:gdLst/>
              <a:ahLst/>
              <a:cxnLst/>
              <a:rect l="l" t="t" r="r" b="b"/>
              <a:pathLst>
                <a:path w="329564" h="43179">
                  <a:moveTo>
                    <a:pt x="0" y="42672"/>
                  </a:moveTo>
                  <a:lnTo>
                    <a:pt x="271272" y="0"/>
                  </a:lnTo>
                  <a:lnTo>
                    <a:pt x="329184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50391" y="5007864"/>
              <a:ext cx="1729739" cy="273050"/>
            </a:xfrm>
            <a:custGeom>
              <a:avLst/>
              <a:gdLst/>
              <a:ahLst/>
              <a:cxnLst/>
              <a:rect l="l" t="t" r="r" b="b"/>
              <a:pathLst>
                <a:path w="1729739" h="273050">
                  <a:moveTo>
                    <a:pt x="1188720" y="272796"/>
                  </a:moveTo>
                  <a:lnTo>
                    <a:pt x="1729739" y="272796"/>
                  </a:lnTo>
                  <a:lnTo>
                    <a:pt x="1729739" y="0"/>
                  </a:lnTo>
                  <a:lnTo>
                    <a:pt x="1188720" y="0"/>
                  </a:lnTo>
                  <a:lnTo>
                    <a:pt x="1188720" y="272796"/>
                  </a:lnTo>
                  <a:close/>
                </a:path>
                <a:path w="1729739" h="273050">
                  <a:moveTo>
                    <a:pt x="0" y="220980"/>
                  </a:moveTo>
                  <a:lnTo>
                    <a:pt x="515112" y="220980"/>
                  </a:lnTo>
                  <a:lnTo>
                    <a:pt x="515112" y="120396"/>
                  </a:lnTo>
                  <a:lnTo>
                    <a:pt x="0" y="120396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7220" y="4148328"/>
              <a:ext cx="586740" cy="707390"/>
            </a:xfrm>
            <a:custGeom>
              <a:avLst/>
              <a:gdLst/>
              <a:ahLst/>
              <a:cxnLst/>
              <a:rect l="l" t="t" r="r" b="b"/>
              <a:pathLst>
                <a:path w="586739" h="707389">
                  <a:moveTo>
                    <a:pt x="0" y="707136"/>
                  </a:moveTo>
                  <a:lnTo>
                    <a:pt x="586739" y="707136"/>
                  </a:lnTo>
                  <a:lnTo>
                    <a:pt x="586739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06551" y="4899736"/>
            <a:ext cx="19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676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4117" y="4761103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libri"/>
                <a:cs typeface="Calibri"/>
              </a:rPr>
              <a:t>892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9089" y="4610227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5494" y="4739385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1,107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540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1617" y="5606897"/>
            <a:ext cx="1775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304165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2021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+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MTM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(if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hedged)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80613" y="5636463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78960" y="5606897"/>
            <a:ext cx="1013460" cy="3594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r" marR="52069">
              <a:lnSpc>
                <a:spcPct val="100000"/>
              </a:lnSpc>
              <a:spcBef>
                <a:spcPts val="33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23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Total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Actual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servicing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04316" y="5865876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21785" y="589711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23672" y="3512820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8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Aligning</a:t>
            </a:r>
            <a:r>
              <a:rPr dirty="0" u="sng" sz="1000" spc="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cash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outflow and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making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it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full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hedging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04203" y="914400"/>
            <a:ext cx="5184775" cy="24701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…in</a:t>
            </a:r>
            <a:r>
              <a:rPr dirty="0" u="sng" sz="1000" spc="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fluctuating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market</a:t>
            </a:r>
            <a:r>
              <a:rPr dirty="0" u="sng" sz="10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1581" y="1464563"/>
            <a:ext cx="4839335" cy="1395095"/>
            <a:chOff x="461581" y="1464563"/>
            <a:chExt cx="4839335" cy="1395095"/>
          </a:xfrm>
        </p:grpSpPr>
        <p:sp>
          <p:nvSpPr>
            <p:cNvPr id="35" name="object 35"/>
            <p:cNvSpPr/>
            <p:nvPr/>
          </p:nvSpPr>
          <p:spPr>
            <a:xfrm>
              <a:off x="3211068" y="1616963"/>
              <a:ext cx="1755775" cy="1237615"/>
            </a:xfrm>
            <a:custGeom>
              <a:avLst/>
              <a:gdLst/>
              <a:ahLst/>
              <a:cxnLst/>
              <a:rect l="l" t="t" r="r" b="b"/>
              <a:pathLst>
                <a:path w="1755775" h="1237614">
                  <a:moveTo>
                    <a:pt x="5486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8640" y="1237488"/>
                  </a:lnTo>
                  <a:lnTo>
                    <a:pt x="548640" y="0"/>
                  </a:lnTo>
                  <a:close/>
                </a:path>
                <a:path w="1755775" h="1237614">
                  <a:moveTo>
                    <a:pt x="1755648" y="12192"/>
                  </a:moveTo>
                  <a:lnTo>
                    <a:pt x="1207008" y="12192"/>
                  </a:lnTo>
                  <a:lnTo>
                    <a:pt x="1207008" y="1237488"/>
                  </a:lnTo>
                  <a:lnTo>
                    <a:pt x="1755648" y="1237488"/>
                  </a:lnTo>
                  <a:lnTo>
                    <a:pt x="1755648" y="1219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11068" y="1464563"/>
              <a:ext cx="1755775" cy="165100"/>
            </a:xfrm>
            <a:custGeom>
              <a:avLst/>
              <a:gdLst/>
              <a:ahLst/>
              <a:cxnLst/>
              <a:rect l="l" t="t" r="r" b="b"/>
              <a:pathLst>
                <a:path w="1755775" h="165100">
                  <a:moveTo>
                    <a:pt x="548640" y="89916"/>
                  </a:moveTo>
                  <a:lnTo>
                    <a:pt x="0" y="89916"/>
                  </a:lnTo>
                  <a:lnTo>
                    <a:pt x="0" y="152400"/>
                  </a:lnTo>
                  <a:lnTo>
                    <a:pt x="548640" y="152400"/>
                  </a:lnTo>
                  <a:lnTo>
                    <a:pt x="548640" y="89916"/>
                  </a:lnTo>
                  <a:close/>
                </a:path>
                <a:path w="1755775" h="165100">
                  <a:moveTo>
                    <a:pt x="1755648" y="0"/>
                  </a:moveTo>
                  <a:lnTo>
                    <a:pt x="1207008" y="0"/>
                  </a:lnTo>
                  <a:lnTo>
                    <a:pt x="1207008" y="164592"/>
                  </a:lnTo>
                  <a:lnTo>
                    <a:pt x="1755648" y="164592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66344" y="2854452"/>
              <a:ext cx="4829810" cy="0"/>
            </a:xfrm>
            <a:custGeom>
              <a:avLst/>
              <a:gdLst/>
              <a:ahLst/>
              <a:cxnLst/>
              <a:rect l="l" t="t" r="r" b="b"/>
              <a:pathLst>
                <a:path w="4829810" h="0">
                  <a:moveTo>
                    <a:pt x="0" y="0"/>
                  </a:moveTo>
                  <a:lnTo>
                    <a:pt x="482955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795527" y="2103120"/>
            <a:ext cx="548640" cy="40005"/>
          </a:xfrm>
          <a:custGeom>
            <a:avLst/>
            <a:gdLst/>
            <a:ahLst/>
            <a:cxnLst/>
            <a:rect l="l" t="t" r="r" b="b"/>
            <a:pathLst>
              <a:path w="548640" h="40005">
                <a:moveTo>
                  <a:pt x="548640" y="0"/>
                </a:moveTo>
                <a:lnTo>
                  <a:pt x="0" y="0"/>
                </a:lnTo>
                <a:lnTo>
                  <a:pt x="0" y="39624"/>
                </a:lnTo>
                <a:lnTo>
                  <a:pt x="548640" y="39624"/>
                </a:lnTo>
                <a:lnTo>
                  <a:pt x="54864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004060" y="2132076"/>
            <a:ext cx="548640" cy="18415"/>
          </a:xfrm>
          <a:custGeom>
            <a:avLst/>
            <a:gdLst/>
            <a:ahLst/>
            <a:cxnLst/>
            <a:rect l="l" t="t" r="r" b="b"/>
            <a:pathLst>
              <a:path w="548639" h="18414">
                <a:moveTo>
                  <a:pt x="548639" y="0"/>
                </a:moveTo>
                <a:lnTo>
                  <a:pt x="0" y="0"/>
                </a:lnTo>
                <a:lnTo>
                  <a:pt x="0" y="18287"/>
                </a:lnTo>
                <a:lnTo>
                  <a:pt x="548639" y="18287"/>
                </a:lnTo>
                <a:lnTo>
                  <a:pt x="548639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326638" y="2148078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12,324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4027" y="2153869"/>
            <a:ext cx="3448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12,198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98265" y="1497329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621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62983" y="1458848"/>
            <a:ext cx="285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1,641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77321" y="1212913"/>
            <a:ext cx="430530" cy="252095"/>
            <a:chOff x="4477321" y="1212913"/>
            <a:chExt cx="430530" cy="252095"/>
          </a:xfrm>
        </p:grpSpPr>
        <p:sp>
          <p:nvSpPr>
            <p:cNvPr id="45" name="object 45"/>
            <p:cNvSpPr/>
            <p:nvPr/>
          </p:nvSpPr>
          <p:spPr>
            <a:xfrm>
              <a:off x="4692396" y="1394459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w="0" h="70484">
                  <a:moveTo>
                    <a:pt x="0" y="7010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482084" y="1217675"/>
              <a:ext cx="421005" cy="177165"/>
            </a:xfrm>
            <a:custGeom>
              <a:avLst/>
              <a:gdLst/>
              <a:ahLst/>
              <a:cxnLst/>
              <a:rect l="l" t="t" r="r" b="b"/>
              <a:pathLst>
                <a:path w="421004" h="177165">
                  <a:moveTo>
                    <a:pt x="0" y="176784"/>
                  </a:moveTo>
                  <a:lnTo>
                    <a:pt x="420624" y="176784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3275076" y="1307591"/>
            <a:ext cx="421005" cy="177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12,945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34027" y="1217803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13,838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795527" y="1885188"/>
          <a:ext cx="1833880" cy="121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15"/>
                <a:gridCol w="361315"/>
                <a:gridCol w="93345"/>
                <a:gridCol w="660400"/>
                <a:gridCol w="93344"/>
                <a:gridCol w="361314"/>
                <a:gridCol w="94614"/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7,491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7,193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396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178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7,094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7,015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7155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spc="-20">
                          <a:solidFill>
                            <a:srgbClr val="585858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335711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64507" y="2909696"/>
            <a:ext cx="25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2023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7991" y="3240023"/>
            <a:ext cx="62865" cy="64135"/>
          </a:xfrm>
          <a:custGeom>
            <a:avLst/>
            <a:gdLst/>
            <a:ahLst/>
            <a:cxnLst/>
            <a:rect l="l" t="t" r="r" b="b"/>
            <a:pathLst>
              <a:path w="62865" h="64135">
                <a:moveTo>
                  <a:pt x="62484" y="0"/>
                </a:moveTo>
                <a:lnTo>
                  <a:pt x="0" y="0"/>
                </a:lnTo>
                <a:lnTo>
                  <a:pt x="0" y="64008"/>
                </a:lnTo>
                <a:lnTo>
                  <a:pt x="62484" y="64008"/>
                </a:lnTo>
                <a:lnTo>
                  <a:pt x="62484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69364" y="3240023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64007" y="0"/>
                </a:moveTo>
                <a:lnTo>
                  <a:pt x="0" y="0"/>
                </a:lnTo>
                <a:lnTo>
                  <a:pt x="0" y="64008"/>
                </a:lnTo>
                <a:lnTo>
                  <a:pt x="64007" y="64008"/>
                </a:lnTo>
                <a:lnTo>
                  <a:pt x="64007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74903" y="3177921"/>
            <a:ext cx="4635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3101975" algn="l"/>
              </a:tabLst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AGEL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Unhedged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notional</a:t>
            </a:r>
            <a:r>
              <a:rPr dirty="0" sz="9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Exposure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AGEL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o/s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(w/o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hedge)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7636" y="3136138"/>
            <a:ext cx="5210175" cy="288290"/>
            <a:chOff x="397636" y="3136138"/>
            <a:chExt cx="5210175" cy="288290"/>
          </a:xfrm>
        </p:grpSpPr>
        <p:sp>
          <p:nvSpPr>
            <p:cNvPr id="56" name="object 56"/>
            <p:cNvSpPr/>
            <p:nvPr/>
          </p:nvSpPr>
          <p:spPr>
            <a:xfrm>
              <a:off x="400811" y="3396996"/>
              <a:ext cx="5203825" cy="24130"/>
            </a:xfrm>
            <a:custGeom>
              <a:avLst/>
              <a:gdLst/>
              <a:ahLst/>
              <a:cxnLst/>
              <a:rect l="l" t="t" r="r" b="b"/>
              <a:pathLst>
                <a:path w="5203825" h="24129">
                  <a:moveTo>
                    <a:pt x="0" y="23875"/>
                  </a:moveTo>
                  <a:lnTo>
                    <a:pt x="5203698" y="0"/>
                  </a:lnTo>
                </a:path>
              </a:pathLst>
            </a:custGeom>
            <a:ln w="63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616451" y="3142488"/>
              <a:ext cx="1800225" cy="264160"/>
            </a:xfrm>
            <a:custGeom>
              <a:avLst/>
              <a:gdLst/>
              <a:ahLst/>
              <a:cxnLst/>
              <a:rect l="l" t="t" r="r" b="b"/>
              <a:pathLst>
                <a:path w="1800225" h="264160">
                  <a:moveTo>
                    <a:pt x="0" y="263651"/>
                  </a:moveTo>
                  <a:lnTo>
                    <a:pt x="1799844" y="263651"/>
                  </a:lnTo>
                  <a:lnTo>
                    <a:pt x="179984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31291" y="900683"/>
            <a:ext cx="5143500" cy="2457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368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Stable</a:t>
            </a:r>
            <a:r>
              <a:rPr dirty="0" u="sng" sz="1000" spc="-3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predictable</a:t>
            </a:r>
            <a:r>
              <a:rPr dirty="0" u="sng" sz="1000" spc="-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closing</a:t>
            </a:r>
            <a:r>
              <a:rPr dirty="0" u="sng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liability…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8" y="6097523"/>
            <a:ext cx="10405872" cy="26212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994151" y="6108598"/>
            <a:ext cx="55156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Assuring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predictable</a:t>
            </a:r>
            <a:r>
              <a:rPr dirty="0" sz="1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coverage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volatile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292596" y="1295590"/>
            <a:ext cx="5203190" cy="1043940"/>
            <a:chOff x="6292596" y="1295590"/>
            <a:chExt cx="5203190" cy="1043940"/>
          </a:xfrm>
        </p:grpSpPr>
        <p:sp>
          <p:nvSpPr>
            <p:cNvPr id="62" name="object 62"/>
            <p:cNvSpPr/>
            <p:nvPr/>
          </p:nvSpPr>
          <p:spPr>
            <a:xfrm>
              <a:off x="6681216" y="1702307"/>
              <a:ext cx="4053840" cy="632460"/>
            </a:xfrm>
            <a:custGeom>
              <a:avLst/>
              <a:gdLst/>
              <a:ahLst/>
              <a:cxnLst/>
              <a:rect l="l" t="t" r="r" b="b"/>
              <a:pathLst>
                <a:path w="4053840" h="632460">
                  <a:moveTo>
                    <a:pt x="338328" y="76200"/>
                  </a:moveTo>
                  <a:lnTo>
                    <a:pt x="0" y="76200"/>
                  </a:lnTo>
                  <a:lnTo>
                    <a:pt x="0" y="632460"/>
                  </a:lnTo>
                  <a:lnTo>
                    <a:pt x="338328" y="632460"/>
                  </a:lnTo>
                  <a:lnTo>
                    <a:pt x="338328" y="76200"/>
                  </a:lnTo>
                  <a:close/>
                </a:path>
                <a:path w="4053840" h="632460">
                  <a:moveTo>
                    <a:pt x="1080516" y="30480"/>
                  </a:moveTo>
                  <a:lnTo>
                    <a:pt x="743712" y="30480"/>
                  </a:lnTo>
                  <a:lnTo>
                    <a:pt x="743712" y="632460"/>
                  </a:lnTo>
                  <a:lnTo>
                    <a:pt x="1080516" y="632460"/>
                  </a:lnTo>
                  <a:lnTo>
                    <a:pt x="1080516" y="30480"/>
                  </a:lnTo>
                  <a:close/>
                </a:path>
                <a:path w="4053840" h="632460">
                  <a:moveTo>
                    <a:pt x="1824228" y="38100"/>
                  </a:moveTo>
                  <a:lnTo>
                    <a:pt x="1485900" y="38100"/>
                  </a:lnTo>
                  <a:lnTo>
                    <a:pt x="1485900" y="632460"/>
                  </a:lnTo>
                  <a:lnTo>
                    <a:pt x="1824228" y="632460"/>
                  </a:lnTo>
                  <a:lnTo>
                    <a:pt x="1824228" y="38100"/>
                  </a:lnTo>
                  <a:close/>
                </a:path>
                <a:path w="4053840" h="632460">
                  <a:moveTo>
                    <a:pt x="2567940" y="15240"/>
                  </a:moveTo>
                  <a:lnTo>
                    <a:pt x="2229612" y="15240"/>
                  </a:lnTo>
                  <a:lnTo>
                    <a:pt x="2229612" y="632460"/>
                  </a:lnTo>
                  <a:lnTo>
                    <a:pt x="2567940" y="632460"/>
                  </a:lnTo>
                  <a:lnTo>
                    <a:pt x="2567940" y="15240"/>
                  </a:lnTo>
                  <a:close/>
                </a:path>
                <a:path w="4053840" h="632460">
                  <a:moveTo>
                    <a:pt x="3310128" y="0"/>
                  </a:moveTo>
                  <a:lnTo>
                    <a:pt x="2973324" y="0"/>
                  </a:lnTo>
                  <a:lnTo>
                    <a:pt x="2973324" y="632460"/>
                  </a:lnTo>
                  <a:lnTo>
                    <a:pt x="3310128" y="632460"/>
                  </a:lnTo>
                  <a:lnTo>
                    <a:pt x="3310128" y="0"/>
                  </a:lnTo>
                  <a:close/>
                </a:path>
                <a:path w="4053840" h="632460">
                  <a:moveTo>
                    <a:pt x="4053840" y="7620"/>
                  </a:moveTo>
                  <a:lnTo>
                    <a:pt x="3715512" y="7620"/>
                  </a:lnTo>
                  <a:lnTo>
                    <a:pt x="3715512" y="632460"/>
                  </a:lnTo>
                  <a:lnTo>
                    <a:pt x="4053840" y="632460"/>
                  </a:lnTo>
                  <a:lnTo>
                    <a:pt x="4053840" y="762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292596" y="2334767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479286" y="1309877"/>
              <a:ext cx="4829810" cy="591820"/>
            </a:xfrm>
            <a:custGeom>
              <a:avLst/>
              <a:gdLst/>
              <a:ahLst/>
              <a:cxnLst/>
              <a:rect l="l" t="t" r="r" b="b"/>
              <a:pathLst>
                <a:path w="4829809" h="591819">
                  <a:moveTo>
                    <a:pt x="0" y="591312"/>
                  </a:moveTo>
                  <a:lnTo>
                    <a:pt x="370332" y="536448"/>
                  </a:lnTo>
                  <a:lnTo>
                    <a:pt x="742188" y="525780"/>
                  </a:lnTo>
                  <a:lnTo>
                    <a:pt x="1114043" y="321563"/>
                  </a:lnTo>
                  <a:lnTo>
                    <a:pt x="1485899" y="316992"/>
                  </a:lnTo>
                  <a:lnTo>
                    <a:pt x="1857756" y="393192"/>
                  </a:lnTo>
                  <a:lnTo>
                    <a:pt x="2228088" y="399288"/>
                  </a:lnTo>
                  <a:lnTo>
                    <a:pt x="2599943" y="406908"/>
                  </a:lnTo>
                  <a:lnTo>
                    <a:pt x="2971799" y="429768"/>
                  </a:lnTo>
                  <a:lnTo>
                    <a:pt x="3343656" y="373380"/>
                  </a:lnTo>
                  <a:lnTo>
                    <a:pt x="3715512" y="306324"/>
                  </a:lnTo>
                  <a:lnTo>
                    <a:pt x="4087367" y="301751"/>
                  </a:lnTo>
                  <a:lnTo>
                    <a:pt x="4457699" y="208787"/>
                  </a:lnTo>
                  <a:lnTo>
                    <a:pt x="4829556" y="0"/>
                  </a:lnTo>
                </a:path>
              </a:pathLst>
            </a:custGeom>
            <a:ln w="2857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929496" y="2119376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19469" y="152062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69.46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90943" y="1463542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70.69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62800" y="14550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70.90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4402" y="124973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05877" y="124605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75.47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77479" y="1321175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48852" y="1327999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020936" y="1334637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92411" y="1359084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72.99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764014" y="1301553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135489" y="123449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507344" y="1231068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878946" y="11375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77.84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250548" y="112324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46952" y="2375661"/>
            <a:ext cx="2635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934450" y="2375661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170666" y="2375661"/>
            <a:ext cx="2787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136635" y="2557272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699884" y="2119376"/>
            <a:ext cx="216725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650" algn="l"/>
                <a:tab pos="1498600" algn="l"/>
              </a:tabLst>
            </a:pPr>
            <a:r>
              <a:rPr dirty="0" sz="900">
                <a:latin typeface="Calibri"/>
                <a:cs typeface="Calibri"/>
              </a:rPr>
              <a:t>1.73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930"/>
              </a:spcBef>
              <a:tabLst>
                <a:tab pos="151257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r>
              <a:rPr dirty="0" sz="700" spc="34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RG1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306814" y="2119376"/>
            <a:ext cx="176339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  <a:tabLst>
                <a:tab pos="1121410" algn="l"/>
              </a:tabLst>
            </a:pPr>
            <a:r>
              <a:rPr dirty="0" sz="900">
                <a:latin typeface="Calibri"/>
                <a:cs typeface="Calibri"/>
              </a:rPr>
              <a:t>1.83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r>
              <a:rPr dirty="0" sz="900">
                <a:latin typeface="Calibri"/>
                <a:cs typeface="Calibri"/>
              </a:rPr>
              <a:t>	1.82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930"/>
              </a:spcBef>
              <a:tabLst>
                <a:tab pos="392430" algn="l"/>
              </a:tabLst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4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Dec-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r>
              <a:rPr dirty="0" sz="700" spc="305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r>
              <a:rPr dirty="0" sz="700" spc="330">
                <a:solidFill>
                  <a:srgbClr val="585858"/>
                </a:solidFill>
                <a:latin typeface="Calibri"/>
                <a:cs typeface="Calibri"/>
              </a:rPr>
              <a:t> 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Jun-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9048750" y="258851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6257544" y="3045142"/>
            <a:ext cx="5203190" cy="990600"/>
            <a:chOff x="6257544" y="3045142"/>
            <a:chExt cx="5203190" cy="990600"/>
          </a:xfrm>
        </p:grpSpPr>
        <p:sp>
          <p:nvSpPr>
            <p:cNvPr id="88" name="object 88"/>
            <p:cNvSpPr/>
            <p:nvPr/>
          </p:nvSpPr>
          <p:spPr>
            <a:xfrm>
              <a:off x="6711696" y="3461003"/>
              <a:ext cx="3862070" cy="570230"/>
            </a:xfrm>
            <a:custGeom>
              <a:avLst/>
              <a:gdLst/>
              <a:ahLst/>
              <a:cxnLst/>
              <a:rect l="l" t="t" r="r" b="b"/>
              <a:pathLst>
                <a:path w="3862070" h="570229">
                  <a:moveTo>
                    <a:pt x="393192" y="21336"/>
                  </a:moveTo>
                  <a:lnTo>
                    <a:pt x="0" y="21336"/>
                  </a:lnTo>
                  <a:lnTo>
                    <a:pt x="0" y="569976"/>
                  </a:lnTo>
                  <a:lnTo>
                    <a:pt x="393192" y="569976"/>
                  </a:lnTo>
                  <a:lnTo>
                    <a:pt x="393192" y="21336"/>
                  </a:lnTo>
                  <a:close/>
                </a:path>
                <a:path w="3862070" h="570229">
                  <a:moveTo>
                    <a:pt x="1260348" y="13716"/>
                  </a:moveTo>
                  <a:lnTo>
                    <a:pt x="867156" y="13716"/>
                  </a:lnTo>
                  <a:lnTo>
                    <a:pt x="867156" y="569976"/>
                  </a:lnTo>
                  <a:lnTo>
                    <a:pt x="1260348" y="569976"/>
                  </a:lnTo>
                  <a:lnTo>
                    <a:pt x="1260348" y="13716"/>
                  </a:lnTo>
                  <a:close/>
                </a:path>
                <a:path w="3862070" h="570229">
                  <a:moveTo>
                    <a:pt x="2127504" y="7620"/>
                  </a:moveTo>
                  <a:lnTo>
                    <a:pt x="1734312" y="7620"/>
                  </a:lnTo>
                  <a:lnTo>
                    <a:pt x="1734312" y="569976"/>
                  </a:lnTo>
                  <a:lnTo>
                    <a:pt x="2127504" y="569976"/>
                  </a:lnTo>
                  <a:lnTo>
                    <a:pt x="2127504" y="7620"/>
                  </a:lnTo>
                  <a:close/>
                </a:path>
                <a:path w="3862070" h="570229">
                  <a:moveTo>
                    <a:pt x="2994660" y="0"/>
                  </a:moveTo>
                  <a:lnTo>
                    <a:pt x="2599944" y="0"/>
                  </a:lnTo>
                  <a:lnTo>
                    <a:pt x="2599944" y="569976"/>
                  </a:lnTo>
                  <a:lnTo>
                    <a:pt x="2994660" y="569976"/>
                  </a:lnTo>
                  <a:lnTo>
                    <a:pt x="2994660" y="0"/>
                  </a:lnTo>
                  <a:close/>
                </a:path>
                <a:path w="3862070" h="570229">
                  <a:moveTo>
                    <a:pt x="3861816" y="42672"/>
                  </a:moveTo>
                  <a:lnTo>
                    <a:pt x="3467100" y="42672"/>
                  </a:lnTo>
                  <a:lnTo>
                    <a:pt x="3467100" y="569976"/>
                  </a:lnTo>
                  <a:lnTo>
                    <a:pt x="3861816" y="569976"/>
                  </a:lnTo>
                  <a:lnTo>
                    <a:pt x="3861816" y="4267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257544" y="4030979"/>
              <a:ext cx="5203190" cy="0"/>
            </a:xfrm>
            <a:custGeom>
              <a:avLst/>
              <a:gdLst/>
              <a:ahLst/>
              <a:cxnLst/>
              <a:rect l="l" t="t" r="r" b="b"/>
              <a:pathLst>
                <a:path w="5203190" h="0">
                  <a:moveTo>
                    <a:pt x="0" y="0"/>
                  </a:moveTo>
                  <a:lnTo>
                    <a:pt x="52029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474714" y="3059429"/>
              <a:ext cx="4768850" cy="585470"/>
            </a:xfrm>
            <a:custGeom>
              <a:avLst/>
              <a:gdLst/>
              <a:ahLst/>
              <a:cxnLst/>
              <a:rect l="l" t="t" r="r" b="b"/>
              <a:pathLst>
                <a:path w="4768850" h="585470">
                  <a:moveTo>
                    <a:pt x="0" y="585216"/>
                  </a:moveTo>
                  <a:lnTo>
                    <a:pt x="432815" y="370332"/>
                  </a:lnTo>
                  <a:lnTo>
                    <a:pt x="867156" y="323088"/>
                  </a:lnTo>
                  <a:lnTo>
                    <a:pt x="1299971" y="454152"/>
                  </a:lnTo>
                  <a:lnTo>
                    <a:pt x="1734312" y="483108"/>
                  </a:lnTo>
                  <a:lnTo>
                    <a:pt x="2167128" y="469392"/>
                  </a:lnTo>
                  <a:lnTo>
                    <a:pt x="2601467" y="382524"/>
                  </a:lnTo>
                  <a:lnTo>
                    <a:pt x="3034284" y="429768"/>
                  </a:lnTo>
                  <a:lnTo>
                    <a:pt x="3468624" y="374904"/>
                  </a:lnTo>
                  <a:lnTo>
                    <a:pt x="3901440" y="348996"/>
                  </a:lnTo>
                  <a:lnTo>
                    <a:pt x="4335780" y="326136"/>
                  </a:lnTo>
                  <a:lnTo>
                    <a:pt x="4768595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6757796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1.78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24953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1.79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92108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1.80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359265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1.81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226420" y="3816857"/>
            <a:ext cx="303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1.75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415176" y="3264368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71.32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849236" y="30498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282560" y="300297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716393" y="3132703"/>
            <a:ext cx="139700" cy="2876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149717" y="316172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73.27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8583548" y="31492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016872" y="30613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450705" y="310965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74.26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884029" y="3054407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317480" y="302849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751184" y="3005639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76.22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184635" y="2908992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341109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763004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206742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639050" y="4072890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075168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356854" y="4053168"/>
            <a:ext cx="47307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RG2</a:t>
            </a:r>
            <a:r>
              <a:rPr dirty="0" sz="900" spc="-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PLCR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940800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274809" y="4053168"/>
            <a:ext cx="372745" cy="314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250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9809480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0231373" y="4072890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675111" y="4072890"/>
            <a:ext cx="2711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Apr-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110086" y="4072890"/>
            <a:ext cx="2686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Oct-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098535" y="4267200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3"/>
                </a:lnTo>
                <a:lnTo>
                  <a:pt x="243840" y="62483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9016745" y="429844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/>
          <p:cNvGrpSpPr/>
          <p:nvPr/>
        </p:nvGrpSpPr>
        <p:grpSpPr>
          <a:xfrm>
            <a:off x="6175247" y="4873942"/>
            <a:ext cx="5165090" cy="824865"/>
            <a:chOff x="6175247" y="4873942"/>
            <a:chExt cx="5165090" cy="824865"/>
          </a:xfrm>
        </p:grpSpPr>
        <p:sp>
          <p:nvSpPr>
            <p:cNvPr id="123" name="object 123"/>
            <p:cNvSpPr/>
            <p:nvPr/>
          </p:nvSpPr>
          <p:spPr>
            <a:xfrm>
              <a:off x="7525511" y="5337047"/>
              <a:ext cx="1173480" cy="356870"/>
            </a:xfrm>
            <a:custGeom>
              <a:avLst/>
              <a:gdLst/>
              <a:ahLst/>
              <a:cxnLst/>
              <a:rect l="l" t="t" r="r" b="b"/>
              <a:pathLst>
                <a:path w="1173479" h="356870">
                  <a:moveTo>
                    <a:pt x="1173480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1173480" y="356615"/>
                  </a:lnTo>
                  <a:lnTo>
                    <a:pt x="117348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175247" y="5693663"/>
              <a:ext cx="5165090" cy="0"/>
            </a:xfrm>
            <a:custGeom>
              <a:avLst/>
              <a:gdLst/>
              <a:ahLst/>
              <a:cxnLst/>
              <a:rect l="l" t="t" r="r" b="b"/>
              <a:pathLst>
                <a:path w="5165090" h="0">
                  <a:moveTo>
                    <a:pt x="0" y="0"/>
                  </a:moveTo>
                  <a:lnTo>
                    <a:pt x="5164835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820661" y="4888229"/>
              <a:ext cx="3874135" cy="489584"/>
            </a:xfrm>
            <a:custGeom>
              <a:avLst/>
              <a:gdLst/>
              <a:ahLst/>
              <a:cxnLst/>
              <a:rect l="l" t="t" r="r" b="b"/>
              <a:pathLst>
                <a:path w="3874134" h="489585">
                  <a:moveTo>
                    <a:pt x="0" y="489204"/>
                  </a:moveTo>
                  <a:lnTo>
                    <a:pt x="1290828" y="368808"/>
                  </a:lnTo>
                  <a:lnTo>
                    <a:pt x="2581656" y="152400"/>
                  </a:lnTo>
                  <a:lnTo>
                    <a:pt x="3874008" y="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7916036" y="5431637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7.18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107168" y="5527547"/>
            <a:ext cx="1173480" cy="16637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0" rIns="0" bIns="0" rtlCol="0" vert="horz">
            <a:spAutoFit/>
          </a:bodyPr>
          <a:lstStyle/>
          <a:p>
            <a:pPr marL="403225">
              <a:lnSpc>
                <a:spcPts val="1035"/>
              </a:lnSpc>
            </a:pPr>
            <a:r>
              <a:rPr dirty="0" sz="1200">
                <a:latin typeface="Calibri"/>
                <a:cs typeface="Calibri"/>
              </a:rPr>
              <a:t>3.33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761733" y="499839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73.65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052816" y="4878635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75.79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344025" y="4749476"/>
            <a:ext cx="139700" cy="2863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79.67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0634878" y="4749125"/>
            <a:ext cx="140335" cy="287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82.40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684391" y="5735523"/>
            <a:ext cx="2743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966709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9242552" y="5735523"/>
            <a:ext cx="368935" cy="264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195">
              <a:lnSpc>
                <a:spcPts val="819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Sep-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060"/>
              </a:lnSpc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Ex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0548873" y="5735523"/>
            <a:ext cx="2927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Mar-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23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7991856" y="5899403"/>
            <a:ext cx="243840" cy="62865"/>
          </a:xfrm>
          <a:custGeom>
            <a:avLst/>
            <a:gdLst/>
            <a:ahLst/>
            <a:cxnLst/>
            <a:rect l="l" t="t" r="r" b="b"/>
            <a:pathLst>
              <a:path w="243840" h="62864">
                <a:moveTo>
                  <a:pt x="243840" y="0"/>
                </a:moveTo>
                <a:lnTo>
                  <a:pt x="0" y="0"/>
                </a:lnTo>
                <a:lnTo>
                  <a:pt x="0" y="62484"/>
                </a:lnTo>
                <a:lnTo>
                  <a:pt x="243840" y="62484"/>
                </a:lnTo>
                <a:lnTo>
                  <a:pt x="24384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8249157" y="5836716"/>
            <a:ext cx="5429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Debt/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FCFE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8984742" y="593064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Adani</a:t>
            </a:r>
            <a:r>
              <a:rPr dirty="0" spc="-45"/>
              <a:t> </a:t>
            </a:r>
            <a:r>
              <a:rPr dirty="0" spc="-10"/>
              <a:t>Portfolio: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test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risk</a:t>
            </a:r>
            <a:r>
              <a:rPr dirty="0" spc="-2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6756" y="6480454"/>
            <a:ext cx="1689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3069B4"/>
                </a:solidFill>
                <a:latin typeface="Calibri"/>
                <a:cs typeface="Calibri"/>
              </a:rPr>
              <a:t>15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291" y="1005077"/>
            <a:ext cx="9380220" cy="4996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Asset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Liability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Matching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Over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50%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debt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stack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fixed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value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fully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protected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against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Cost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Debt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Adani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FX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policy,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embeds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100%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exchange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cost.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provides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~220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bps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built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buffer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maturing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facilities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current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dislocated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prices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all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refinancing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debt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either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money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endParaRPr sz="1800">
              <a:latin typeface="Times New Roman"/>
              <a:cs typeface="Times New Roman"/>
            </a:endParaRPr>
          </a:p>
          <a:p>
            <a:pPr lvl="2" marL="1213485" indent="-286385">
              <a:lnSpc>
                <a:spcPct val="100000"/>
              </a:lnSpc>
              <a:buFont typeface="Arial MT"/>
              <a:buChar char="•"/>
              <a:tabLst>
                <a:tab pos="1213485" algn="l"/>
              </a:tabLst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Within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70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points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date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pricing</a:t>
            </a:r>
            <a:endParaRPr sz="18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Mid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Period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test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governance,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policy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cash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flow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waterfall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DSRA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Capex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maintenance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Hedge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documented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reserves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cashflow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waterfall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9602" y="1938654"/>
            <a:ext cx="1925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Thank</a:t>
            </a:r>
            <a:r>
              <a:rPr dirty="0" sz="3600" spc="-60"/>
              <a:t> </a:t>
            </a:r>
            <a:r>
              <a:rPr dirty="0" sz="3600" spc="-65"/>
              <a:t>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