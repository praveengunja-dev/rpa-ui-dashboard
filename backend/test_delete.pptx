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9" r:id="rId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February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2023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Roadshow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Calibri"/>
                <a:cs typeface="Calibri"/>
              </a:rPr>
              <a:t>Adani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Portfolio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Adani</a:t>
            </a:r>
            <a:r>
              <a:rPr dirty="0" sz="2200" spc="-70"/>
              <a:t> </a:t>
            </a:r>
            <a:r>
              <a:rPr dirty="0" sz="2200" spc="-10"/>
              <a:t>Portfolio:</a:t>
            </a:r>
            <a:r>
              <a:rPr dirty="0" sz="2200" spc="-70"/>
              <a:t> </a:t>
            </a:r>
            <a:r>
              <a:rPr dirty="0" sz="2200"/>
              <a:t>Strong</a:t>
            </a:r>
            <a:r>
              <a:rPr dirty="0" sz="2200" spc="-75"/>
              <a:t> </a:t>
            </a:r>
            <a:r>
              <a:rPr dirty="0" sz="2200"/>
              <a:t>Financial</a:t>
            </a:r>
            <a:r>
              <a:rPr dirty="0" sz="2200" spc="-75"/>
              <a:t> </a:t>
            </a:r>
            <a:r>
              <a:rPr dirty="0" sz="2200" spc="-10"/>
              <a:t>Performance</a:t>
            </a:r>
            <a:r>
              <a:rPr dirty="0" sz="2200" spc="-60"/>
              <a:t> </a:t>
            </a:r>
            <a:r>
              <a:rPr dirty="0" sz="2200"/>
              <a:t>delivered</a:t>
            </a:r>
            <a:r>
              <a:rPr dirty="0" sz="2200" spc="-75"/>
              <a:t> </a:t>
            </a:r>
            <a:r>
              <a:rPr dirty="0" sz="2200"/>
              <a:t>across</a:t>
            </a:r>
            <a:r>
              <a:rPr dirty="0" sz="2200" spc="-75"/>
              <a:t> </a:t>
            </a:r>
            <a:r>
              <a:rPr dirty="0" sz="2200" spc="-10"/>
              <a:t>portfolio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Adani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FY2023 grew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57%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40,269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Infrastructure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46%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32,617 cr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(81%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Portfolio)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3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Businesses &amp;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FMCG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45%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Y-o-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INR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4,833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(12%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Portfolio)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Cement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reported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strong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recovery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Q-o-</a:t>
            </a:r>
            <a:r>
              <a:rPr dirty="0" sz="1200">
                <a:latin typeface="Calibri"/>
                <a:cs typeface="Calibri"/>
              </a:rPr>
              <a:t>Q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optimization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synergies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improvement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margins.</a:t>
            </a:r>
            <a:endParaRPr sz="12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−</a:t>
            </a:r>
            <a:r>
              <a:rPr dirty="0" sz="1200" spc="4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increased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340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quarter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829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 ton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 </a:t>
            </a:r>
            <a:r>
              <a:rPr dirty="0" sz="1200" spc="-10">
                <a:latin typeface="Calibri"/>
                <a:cs typeface="Calibri"/>
              </a:rPr>
              <a:t>quarter</a:t>
            </a:r>
            <a:endParaRPr sz="1200">
              <a:latin typeface="Calibri"/>
              <a:cs typeface="Calibri"/>
            </a:endParaRPr>
          </a:p>
          <a:p>
            <a:pPr algn="r" marR="965835">
              <a:lnSpc>
                <a:spcPct val="100000"/>
              </a:lnSpc>
              <a:spcBef>
                <a:spcPts val="1360"/>
              </a:spcBef>
            </a:pPr>
            <a:r>
              <a:rPr dirty="0" sz="1200" i="1">
                <a:latin typeface="Calibri"/>
                <a:cs typeface="Calibri"/>
              </a:rPr>
              <a:t>All</a:t>
            </a:r>
            <a:r>
              <a:rPr dirty="0" sz="1200" spc="-1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figures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</a:t>
            </a:r>
            <a:r>
              <a:rPr dirty="0" sz="1200" spc="-2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INR </a:t>
            </a:r>
            <a:r>
              <a:rPr dirty="0" sz="1200" spc="-25" i="1">
                <a:latin typeface="Calibri"/>
                <a:cs typeface="Calibri"/>
              </a:rPr>
              <a:t>cr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0665" algn="l"/>
              </a:tabLst>
            </a:pPr>
            <a:r>
              <a:rPr dirty="0" sz="1000">
                <a:latin typeface="Calibri"/>
                <a:cs typeface="Calibri"/>
              </a:rPr>
              <a:t>Adani</a:t>
            </a:r>
            <a:r>
              <a:rPr dirty="0" sz="1000" spc="-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completed </a:t>
            </a:r>
            <a:r>
              <a:rPr dirty="0" sz="1000" spc="-10">
                <a:latin typeface="Calibri"/>
                <a:cs typeface="Calibri"/>
              </a:rPr>
              <a:t>acquisition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Holcim’s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India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cement business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consisting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Ambuja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Cements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Limited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Limited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September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15,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2022</a:t>
            </a:r>
            <a:endParaRPr sz="1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1000">
                <a:latin typeface="Calibri"/>
                <a:cs typeface="Calibri"/>
              </a:rPr>
              <a:t>EBITDA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reduction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account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one-</a:t>
            </a:r>
            <a:r>
              <a:rPr dirty="0" sz="1000">
                <a:latin typeface="Calibri"/>
                <a:cs typeface="Calibri"/>
              </a:rPr>
              <a:t>off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impact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edible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oil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Q2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FY2023.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higher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inventory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procured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prior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price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fall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resulted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higher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COGS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Q3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FY2023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9006" y="2997454"/>
          <a:ext cx="8335009" cy="2814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6215"/>
                <a:gridCol w="1565275"/>
                <a:gridCol w="1621789"/>
                <a:gridCol w="1098550"/>
                <a:gridCol w="1222375"/>
              </a:tblGrid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Sector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FY23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EBITDA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FY22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EBITDA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333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Growth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Utility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20,518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13,105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51%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Transport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9,562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8,026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19%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68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24%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AEL</a:t>
                      </a:r>
                      <a:r>
                        <a:rPr dirty="0" sz="1200" spc="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Infrastructure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Businesses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2,537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1,165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0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118%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6%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A.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1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(Infrastructure)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32,617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22,296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 i="1">
                          <a:latin typeface="Calibri"/>
                          <a:cs typeface="Calibri"/>
                        </a:rPr>
                        <a:t>46%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81%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Adjacencies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(Cement</a:t>
                      </a:r>
                      <a:r>
                        <a:rPr dirty="0" baseline="34722" sz="1200" spc="-15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2,819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i="1">
                          <a:latin typeface="Calibri"/>
                          <a:cs typeface="Calibri"/>
                        </a:rPr>
                        <a:t>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B.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20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(Adjacencies)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2,819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63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 i="1">
                          <a:latin typeface="Calibri"/>
                          <a:cs typeface="Calibri"/>
                        </a:rPr>
                        <a:t>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AEL-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Existing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Businesses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3,531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2,022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75%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FMCG</a:t>
                      </a:r>
                      <a:r>
                        <a:rPr dirty="0" baseline="34722" sz="1200" spc="-15" b="1">
                          <a:latin typeface="Calibri"/>
                          <a:cs typeface="Calibri"/>
                        </a:rPr>
                        <a:t>2</a:t>
                      </a:r>
                      <a:endParaRPr baseline="34722"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1,302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1,311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(1%)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3%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 i="1">
                          <a:latin typeface="Calibri"/>
                          <a:cs typeface="Calibri"/>
                        </a:rPr>
                        <a:t>C.</a:t>
                      </a:r>
                      <a:r>
                        <a:rPr dirty="0" sz="1200" spc="-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Sub-</a:t>
                      </a:r>
                      <a:r>
                        <a:rPr dirty="0" sz="1200" b="1" i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200" spc="-2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 i="1">
                          <a:latin typeface="Calibri"/>
                          <a:cs typeface="Calibri"/>
                        </a:rPr>
                        <a:t>(Others)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4,833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 i="1">
                          <a:latin typeface="Calibri"/>
                          <a:cs typeface="Calibri"/>
                        </a:rPr>
                        <a:t>3,333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45%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12%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Portfolio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2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(A+B+C)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40,269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76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25,629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57%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20" b="1">
                          <a:latin typeface="Calibri"/>
                          <a:cs typeface="Calibri"/>
                        </a:rPr>
                        <a:t>100%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