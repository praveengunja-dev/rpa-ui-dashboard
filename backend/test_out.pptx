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5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2"/>
    <p:sldId id="257" r:id="rId2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.xml"/><Relationship Id="rId23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4380" cy="6858000"/>
          </a:xfrm>
          <a:custGeom>
            <a:avLst/>
            <a:gdLst/>
            <a:ahLst/>
            <a:cxnLst/>
            <a:rect l="l" t="t" r="r" b="b"/>
            <a:pathLst>
              <a:path w="12184380" h="6858000">
                <a:moveTo>
                  <a:pt x="0" y="6858000"/>
                </a:moveTo>
                <a:lnTo>
                  <a:pt x="12184380" y="6858000"/>
                </a:lnTo>
                <a:lnTo>
                  <a:pt x="121843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6350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07228" y="2949955"/>
            <a:ext cx="6486525" cy="2815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5543" y="3549395"/>
            <a:ext cx="6696456" cy="609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12235"/>
            <a:ext cx="12176759" cy="344423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859" y="948798"/>
            <a:ext cx="1861452" cy="6344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96927" y="6379464"/>
            <a:ext cx="195072" cy="39776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893295" y="6579108"/>
            <a:ext cx="78740" cy="0"/>
          </a:xfrm>
          <a:custGeom>
            <a:avLst/>
            <a:gdLst/>
            <a:ahLst/>
            <a:cxnLst/>
            <a:rect l="l" t="t" r="r" b="b"/>
            <a:pathLst>
              <a:path w="78740" h="0">
                <a:moveTo>
                  <a:pt x="0" y="0"/>
                </a:moveTo>
                <a:lnTo>
                  <a:pt x="78485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66704" y="264536"/>
            <a:ext cx="1004316" cy="35307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391668" y="807719"/>
            <a:ext cx="10744200" cy="0"/>
          </a:xfrm>
          <a:custGeom>
            <a:avLst/>
            <a:gdLst/>
            <a:ahLst/>
            <a:cxnLst/>
            <a:rect l="l" t="t" r="r" b="b"/>
            <a:pathLst>
              <a:path w="10744200" h="0">
                <a:moveTo>
                  <a:pt x="0" y="0"/>
                </a:moveTo>
                <a:lnTo>
                  <a:pt x="10744200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1668" y="746759"/>
            <a:ext cx="7306056" cy="609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5368" y="351281"/>
            <a:ext cx="8119109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256" y="1209928"/>
            <a:ext cx="10593070" cy="306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ts val="19145"/>
              </a:lnSpc>
              <a:spcBef>
                <a:spcPts val="95"/>
              </a:spcBef>
            </a:pPr>
            <a:r>
              <a:rPr dirty="0" sz="16000" spc="-50">
                <a:solidFill>
                  <a:srgbClr val="000000"/>
                </a:solidFill>
                <a:latin typeface="Calibri Light"/>
                <a:cs typeface="Calibri Light"/>
              </a:rPr>
              <a:t>1</a:t>
            </a:r>
            <a:endParaRPr sz="16000">
              <a:latin typeface="Calibri Light"/>
              <a:cs typeface="Calibri Light"/>
            </a:endParaRPr>
          </a:p>
          <a:p>
            <a:pPr marL="12700">
              <a:lnSpc>
                <a:spcPts val="2825"/>
              </a:lnSpc>
            </a:pPr>
            <a:r>
              <a:rPr dirty="0" sz="2400">
                <a:solidFill>
                  <a:srgbClr val="000000"/>
                </a:solidFill>
              </a:rPr>
              <a:t>Adani</a:t>
            </a:r>
            <a:r>
              <a:rPr dirty="0" sz="2400" spc="-7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Portfolio</a:t>
            </a:r>
            <a:r>
              <a:rPr dirty="0" sz="2400" spc="-7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Results</a:t>
            </a:r>
            <a:r>
              <a:rPr dirty="0" sz="2400" spc="-8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Overview</a:t>
            </a:r>
            <a:r>
              <a:rPr dirty="0" sz="2400" spc="-6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&amp;</a:t>
            </a:r>
            <a:r>
              <a:rPr dirty="0" sz="2400" spc="-7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Salient</a:t>
            </a:r>
            <a:r>
              <a:rPr dirty="0" sz="2400" spc="-7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Features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Adani</a:t>
            </a:r>
            <a:r>
              <a:rPr dirty="0" sz="2200" spc="-70"/>
              <a:t> </a:t>
            </a:r>
            <a:r>
              <a:rPr dirty="0" sz="2200" spc="-10"/>
              <a:t>Portfolio:</a:t>
            </a:r>
            <a:r>
              <a:rPr dirty="0" sz="2200" spc="-70"/>
              <a:t> </a:t>
            </a:r>
            <a:r>
              <a:rPr dirty="0" sz="2200"/>
              <a:t>Strong</a:t>
            </a:r>
            <a:r>
              <a:rPr dirty="0" sz="2200" spc="-75"/>
              <a:t> </a:t>
            </a:r>
            <a:r>
              <a:rPr dirty="0" sz="2200"/>
              <a:t>Financial</a:t>
            </a:r>
            <a:r>
              <a:rPr dirty="0" sz="2200" spc="-75"/>
              <a:t> </a:t>
            </a:r>
            <a:r>
              <a:rPr dirty="0" sz="2200" spc="-10"/>
              <a:t>Performance</a:t>
            </a:r>
            <a:r>
              <a:rPr dirty="0" sz="2200" spc="-60"/>
              <a:t> </a:t>
            </a:r>
            <a:r>
              <a:rPr dirty="0" sz="2200"/>
              <a:t>delivered</a:t>
            </a:r>
            <a:r>
              <a:rPr dirty="0" sz="2200" spc="-75"/>
              <a:t> </a:t>
            </a:r>
            <a:r>
              <a:rPr dirty="0" sz="2200"/>
              <a:t>across</a:t>
            </a:r>
            <a:r>
              <a:rPr dirty="0" sz="2200" spc="-75"/>
              <a:t> </a:t>
            </a:r>
            <a:r>
              <a:rPr dirty="0" sz="2200" spc="-10"/>
              <a:t>portfolio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415239" y="1047369"/>
            <a:ext cx="9047480" cy="190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Adani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portfolio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9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Month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FY2023 grew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57% </a:t>
            </a:r>
            <a:r>
              <a:rPr dirty="0" sz="1200" spc="-10">
                <a:latin typeface="Calibri"/>
                <a:cs typeface="Calibri"/>
              </a:rPr>
              <a:t>Y-o-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INR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40,269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cr</a:t>
            </a:r>
            <a:endParaRPr sz="1200">
              <a:latin typeface="Calibri"/>
              <a:cs typeface="Calibri"/>
            </a:endParaRPr>
          </a:p>
          <a:p>
            <a:pPr marL="23495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Infrastructure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registered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46% </a:t>
            </a:r>
            <a:r>
              <a:rPr dirty="0" sz="1200" spc="-10">
                <a:latin typeface="Calibri"/>
                <a:cs typeface="Calibri"/>
              </a:rPr>
              <a:t>Y-o-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INR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32,617 cr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(81%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Portfolio)</a:t>
            </a:r>
            <a:endParaRPr sz="1200">
              <a:latin typeface="Calibri"/>
              <a:cs typeface="Calibri"/>
            </a:endParaRPr>
          </a:p>
          <a:p>
            <a:pPr marL="23495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3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Existing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Businesses &amp;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FMCG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registered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45%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Y-o-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INR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4,833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cr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(12%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Portfolio)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Cement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reported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strong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recovery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0">
                <a:latin typeface="Calibri"/>
                <a:cs typeface="Calibri"/>
              </a:rPr>
              <a:t> Q-o-</a:t>
            </a:r>
            <a:r>
              <a:rPr dirty="0" sz="1200">
                <a:latin typeface="Calibri"/>
                <a:cs typeface="Calibri"/>
              </a:rPr>
              <a:t>Q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basis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optimization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synergies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leading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improvement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margins.</a:t>
            </a:r>
            <a:endParaRPr sz="1200">
              <a:latin typeface="Calibri"/>
              <a:cs typeface="Calibri"/>
            </a:endParaRPr>
          </a:p>
          <a:p>
            <a:pPr marL="23495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increased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340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2022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quarter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829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 ton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Dec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2022 </a:t>
            </a:r>
            <a:r>
              <a:rPr dirty="0" sz="1200" spc="-10">
                <a:latin typeface="Calibri"/>
                <a:cs typeface="Calibri"/>
              </a:rPr>
              <a:t>quarter</a:t>
            </a:r>
            <a:endParaRPr sz="1200">
              <a:latin typeface="Calibri"/>
              <a:cs typeface="Calibri"/>
            </a:endParaRPr>
          </a:p>
          <a:p>
            <a:pPr algn="r" marR="965835">
              <a:lnSpc>
                <a:spcPct val="100000"/>
              </a:lnSpc>
              <a:spcBef>
                <a:spcPts val="1360"/>
              </a:spcBef>
            </a:pPr>
            <a:r>
              <a:rPr dirty="0" sz="1200" i="1">
                <a:latin typeface="Calibri"/>
                <a:cs typeface="Calibri"/>
              </a:rPr>
              <a:t>All</a:t>
            </a:r>
            <a:r>
              <a:rPr dirty="0" sz="1200" spc="-1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figures</a:t>
            </a:r>
            <a:r>
              <a:rPr dirty="0" sz="1200" spc="-2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in</a:t>
            </a:r>
            <a:r>
              <a:rPr dirty="0" sz="1200" spc="-2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INR </a:t>
            </a:r>
            <a:r>
              <a:rPr dirty="0" sz="1200" spc="-25" i="1">
                <a:latin typeface="Calibri"/>
                <a:cs typeface="Calibri"/>
              </a:rPr>
              <a:t>cr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7677" y="6011976"/>
            <a:ext cx="950849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40665" algn="l"/>
              </a:tabLst>
            </a:pPr>
            <a:r>
              <a:rPr dirty="0" sz="1000">
                <a:latin typeface="Calibri"/>
                <a:cs typeface="Calibri"/>
              </a:rPr>
              <a:t>Adani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completed </a:t>
            </a:r>
            <a:r>
              <a:rPr dirty="0" sz="1000" spc="-10">
                <a:latin typeface="Calibri"/>
                <a:cs typeface="Calibri"/>
              </a:rPr>
              <a:t>acquisition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Holcim’s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India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cement business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consisting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Ambuja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Cements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Limited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ACC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Limited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on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September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15,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2022</a:t>
            </a:r>
            <a:endParaRPr sz="1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AutoNum type="arabicPeriod"/>
              <a:tabLst>
                <a:tab pos="240665" algn="l"/>
              </a:tabLst>
            </a:pPr>
            <a:r>
              <a:rPr dirty="0" sz="1000">
                <a:latin typeface="Calibri"/>
                <a:cs typeface="Calibri"/>
              </a:rPr>
              <a:t>EBITDA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reduction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on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account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one-</a:t>
            </a:r>
            <a:r>
              <a:rPr dirty="0" sz="1000">
                <a:latin typeface="Calibri"/>
                <a:cs typeface="Calibri"/>
              </a:rPr>
              <a:t>off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impact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fall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edible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oil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prices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Q2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FY2023.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higher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priced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inventory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procured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prior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price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fall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resulted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higher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COGS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Q3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FY2023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29006" y="2997454"/>
          <a:ext cx="8335009" cy="2814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6215"/>
                <a:gridCol w="1565275"/>
                <a:gridCol w="1621789"/>
                <a:gridCol w="1098550"/>
                <a:gridCol w="1222375"/>
              </a:tblGrid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Sector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FY23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EBITDA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FY22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EBITDA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33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Growth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Utility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20,518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82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13,105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57%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68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51%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Transport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9,562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8,026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19%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68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24%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AEL</a:t>
                      </a:r>
                      <a:r>
                        <a:rPr dirty="0" sz="1200" spc="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Infrastructure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Businesses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2,537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1,165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20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118%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6%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 i="1">
                          <a:latin typeface="Calibri"/>
                          <a:cs typeface="Calibri"/>
                        </a:rPr>
                        <a:t>A.</a:t>
                      </a:r>
                      <a:r>
                        <a:rPr dirty="0" sz="1200" spc="-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Sub-</a:t>
                      </a:r>
                      <a:r>
                        <a:rPr dirty="0" sz="1200" b="1" i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200" spc="-1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(Infrastructure)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32,617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22,296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 b="1" i="1">
                          <a:latin typeface="Calibri"/>
                          <a:cs typeface="Calibri"/>
                        </a:rPr>
                        <a:t>46%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81%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Adjacencies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(Cement</a:t>
                      </a:r>
                      <a:r>
                        <a:rPr dirty="0" baseline="34722" sz="1200" spc="-15" b="1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2,819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NA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i="1">
                          <a:latin typeface="Calibri"/>
                          <a:cs typeface="Calibri"/>
                        </a:rPr>
                        <a:t>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 i="1">
                          <a:latin typeface="Calibri"/>
                          <a:cs typeface="Calibri"/>
                        </a:rPr>
                        <a:t>B.</a:t>
                      </a:r>
                      <a:r>
                        <a:rPr dirty="0" sz="1200" spc="-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Sub-</a:t>
                      </a:r>
                      <a:r>
                        <a:rPr dirty="0" sz="1200" b="1" i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200" spc="-20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(Adjacencies)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2,819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635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 b="1" i="1">
                          <a:latin typeface="Calibri"/>
                          <a:cs typeface="Calibri"/>
                        </a:rPr>
                        <a:t>NA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 i="1">
                          <a:latin typeface="Calibri"/>
                          <a:cs typeface="Calibri"/>
                        </a:rPr>
                        <a:t>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AEL-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Existing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Businesses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3,531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2,022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75%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9%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FMCG</a:t>
                      </a:r>
                      <a:r>
                        <a:rPr dirty="0" baseline="34722" sz="1200" spc="-15" b="1">
                          <a:latin typeface="Calibri"/>
                          <a:cs typeface="Calibri"/>
                        </a:rPr>
                        <a:t>2</a:t>
                      </a:r>
                      <a:endParaRPr baseline="34722"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1,302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1,311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(1%)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3%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b="1" i="1">
                          <a:latin typeface="Calibri"/>
                          <a:cs typeface="Calibri"/>
                        </a:rPr>
                        <a:t>C.</a:t>
                      </a:r>
                      <a:r>
                        <a:rPr dirty="0" sz="1200" spc="-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Sub-</a:t>
                      </a:r>
                      <a:r>
                        <a:rPr dirty="0" sz="1200" b="1" i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200" spc="-2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(Others)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4,833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88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3,333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45%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12%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Portfolio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2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(A+B+C)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40,269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25,629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57%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0" b="1">
                          <a:latin typeface="Calibri"/>
                          <a:cs typeface="Calibri"/>
                        </a:rPr>
                        <a:t>100%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Adani</a:t>
            </a:r>
            <a:r>
              <a:rPr dirty="0" spc="-40"/>
              <a:t> </a:t>
            </a:r>
            <a:r>
              <a:rPr dirty="0" spc="-10"/>
              <a:t>Portfolio:</a:t>
            </a:r>
            <a:r>
              <a:rPr dirty="0" spc="-35"/>
              <a:t> </a:t>
            </a:r>
            <a:r>
              <a:rPr dirty="0"/>
              <a:t>Audit</a:t>
            </a:r>
            <a:r>
              <a:rPr dirty="0" spc="-35"/>
              <a:t> </a:t>
            </a:r>
            <a:r>
              <a:rPr dirty="0" spc="-1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0266" y="1082421"/>
          <a:ext cx="10918825" cy="43211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5085"/>
                <a:gridCol w="2270125"/>
                <a:gridCol w="5974715"/>
              </a:tblGrid>
              <a:tr h="445770">
                <a:tc>
                  <a:txBody>
                    <a:bodyPr/>
                    <a:lstStyle/>
                    <a:p>
                      <a:pPr marL="710565">
                        <a:lnSpc>
                          <a:spcPts val="2039"/>
                        </a:lnSpc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Listed</a:t>
                      </a:r>
                      <a:r>
                        <a:rPr dirty="0" sz="1800" spc="-8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Entity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039"/>
                        </a:lnSpc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800" spc="-9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Auditor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39"/>
                        </a:lnSpc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Remarks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50800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Ports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SEZ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0"/>
                        </a:lnSpc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Deloitte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Haskins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Sells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Auditor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before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rotation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was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SRBC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(E&amp;Y)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50800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Power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0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SRBC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(EY)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Auditor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before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rotation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was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Deloitte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Haskins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Sells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50800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Transmission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0"/>
                        </a:lnSpc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Deloitte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Haskins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Sells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Auditor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before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rotation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was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Dharmesh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Parikh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Co.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marL="50800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Green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Energy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0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SRBC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(EY)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Dharmesh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Parikh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(Joint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Auditors)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Auditor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before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rotation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was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BSR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(KPMG)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0">
                <a:tc>
                  <a:txBody>
                    <a:bodyPr/>
                    <a:lstStyle/>
                    <a:p>
                      <a:pPr marL="50800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Enterprises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(AEL)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5"/>
                        </a:lnSpc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Shah</a:t>
                      </a:r>
                      <a:r>
                        <a:rPr dirty="0"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Dhandharia</a:t>
                      </a:r>
                      <a:r>
                        <a:rPr dirty="0"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Co.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50800" marR="70485">
                        <a:lnSpc>
                          <a:spcPct val="100000"/>
                        </a:lnSpc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includes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27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Statutory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Audit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Firms</a:t>
                      </a:r>
                      <a:r>
                        <a:rPr dirty="0"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like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Ernst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&amp;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Young,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PKF,</a:t>
                      </a:r>
                      <a:r>
                        <a:rPr dirty="0" sz="1400" spc="-6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Walker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Chandiok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K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1400" spc="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Rao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Co.,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etc..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AEL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acts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incubator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has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businesses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various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sectors</a:t>
                      </a:r>
                      <a:r>
                        <a:rPr dirty="0" sz="11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subsidiaries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associates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spread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51435" marR="77470">
                        <a:lnSpc>
                          <a:spcPct val="10000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over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eight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jurisdictions.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There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more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than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27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firms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which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various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entities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within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Enterprises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which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include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mix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big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four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Auditors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well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auditors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who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highly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reputed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their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respective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jurisdictions.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1435" marR="2117725">
                        <a:lnSpc>
                          <a:spcPct val="10000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example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Airports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MIAL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audited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Grant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Thornton </a:t>
                      </a:r>
                      <a:r>
                        <a:rPr dirty="0" u="heavy" sz="1100" b="1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Panel</a:t>
                      </a:r>
                      <a:r>
                        <a:rPr dirty="0" u="heavy" sz="1100" spc="-25" b="1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u="heavy" sz="11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Auditors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51435" marR="513715">
                        <a:lnSpc>
                          <a:spcPct val="10000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6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airports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per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Airport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Authority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panel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provisions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Concession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Agreement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0" b="1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 Gayendra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Co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50800">
                        <a:lnSpc>
                          <a:spcPts val="126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Gas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5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Shah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Dhandharia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Co.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26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Currently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process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evaluating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global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big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marL="50800">
                        <a:lnSpc>
                          <a:spcPts val="126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Wilmar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5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SRBC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(EY)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Dharmesh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Parikh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(Joint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Auditors)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6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EY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now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joint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auditor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marL="50800">
                        <a:lnSpc>
                          <a:spcPts val="126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Ambuja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ACC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600"/>
                        </a:lnSpc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EY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6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Prior,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entities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were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owned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Holcim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70154" y="5411825"/>
            <a:ext cx="1081849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Policy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Periodic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Review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Global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Big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6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-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20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Notes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&amp;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Disclosures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undertaken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Grant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Thornton.</a:t>
            </a:r>
            <a:endParaRPr sz="180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</a:pPr>
            <a:r>
              <a:rPr dirty="0" sz="1800" b="1">
                <a:latin typeface="Calibri"/>
                <a:cs typeface="Calibri"/>
              </a:rPr>
              <a:t>Policy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audit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randomly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selected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function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Global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Big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6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–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FY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22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Hedging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Policy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undertaken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Ernst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&amp;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Young.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1800" b="1">
                <a:latin typeface="Calibri"/>
                <a:cs typeface="Calibri"/>
              </a:rPr>
              <a:t>Further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ATL,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AGEL,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APL,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AAHL,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spc="-45" b="1">
                <a:latin typeface="Calibri"/>
                <a:cs typeface="Calibri"/>
              </a:rPr>
              <a:t>ATGL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are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regulated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relevant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regulator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(e.g.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CERC,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AERA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etc.)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Adani</a:t>
            </a:r>
            <a:r>
              <a:rPr dirty="0" spc="-40"/>
              <a:t> </a:t>
            </a:r>
            <a:r>
              <a:rPr dirty="0" spc="-10"/>
              <a:t>Portfolio: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test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disclosure</a:t>
            </a:r>
            <a:r>
              <a:rPr dirty="0" spc="-20"/>
              <a:t> </a:t>
            </a:r>
            <a:r>
              <a:rPr dirty="0"/>
              <a:t>&amp;</a:t>
            </a:r>
            <a:r>
              <a:rPr dirty="0" spc="-35"/>
              <a:t> </a:t>
            </a:r>
            <a:r>
              <a:rPr dirty="0" spc="-10"/>
              <a:t>governance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0291" y="1008126"/>
            <a:ext cx="10497185" cy="1395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3695" marR="5080" indent="-340995">
              <a:lnSpc>
                <a:spcPct val="99700"/>
              </a:lnSpc>
              <a:spcBef>
                <a:spcPts val="105"/>
              </a:spcBef>
              <a:buAutoNum type="arabicPeriod"/>
              <a:tabLst>
                <a:tab pos="355600" algn="l"/>
              </a:tabLst>
            </a:pPr>
            <a:r>
              <a:rPr dirty="0" sz="1800" b="1">
                <a:latin typeface="Trebuchet MS"/>
                <a:cs typeface="Trebuchet MS"/>
              </a:rPr>
              <a:t>65</a:t>
            </a:r>
            <a:r>
              <a:rPr dirty="0" sz="1800" spc="-70" b="1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“questions”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relate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matters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that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have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been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duly</a:t>
            </a:r>
            <a:r>
              <a:rPr dirty="0" sz="1800" spc="-4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disclosed</a:t>
            </a:r>
            <a:r>
              <a:rPr dirty="0" sz="1800" spc="-50" b="1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by</a:t>
            </a:r>
            <a:r>
              <a:rPr dirty="0" sz="1800" spc="-1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Adani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Portfolio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companies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in </a:t>
            </a:r>
            <a:r>
              <a:rPr dirty="0" sz="1800" spc="-25">
                <a:latin typeface="Trebuchet MS"/>
                <a:cs typeface="Trebuchet MS"/>
              </a:rPr>
              <a:t>	</a:t>
            </a:r>
            <a:r>
              <a:rPr dirty="0" sz="1800">
                <a:latin typeface="Trebuchet MS"/>
                <a:cs typeface="Trebuchet MS"/>
              </a:rPr>
              <a:t>their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annual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reports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available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on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their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websites,</a:t>
            </a:r>
            <a:r>
              <a:rPr dirty="0" sz="1800" spc="-8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offering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memorandums,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financial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statements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and </a:t>
            </a:r>
            <a:r>
              <a:rPr dirty="0" sz="1800" spc="-25">
                <a:latin typeface="Trebuchet MS"/>
                <a:cs typeface="Trebuchet MS"/>
              </a:rPr>
              <a:t>	</a:t>
            </a:r>
            <a:r>
              <a:rPr dirty="0" sz="1800">
                <a:latin typeface="Trebuchet MS"/>
                <a:cs typeface="Trebuchet MS"/>
              </a:rPr>
              <a:t>stock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exchange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disclosures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from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time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time</a:t>
            </a:r>
            <a:r>
              <a:rPr dirty="0"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AutoNum type="arabicPeriod"/>
            </a:pPr>
            <a:endParaRPr sz="1800">
              <a:latin typeface="Times New Roman"/>
              <a:cs typeface="Times New Roman"/>
            </a:endParaRPr>
          </a:p>
          <a:p>
            <a:pPr marL="399415" indent="-386715">
              <a:lnSpc>
                <a:spcPct val="100000"/>
              </a:lnSpc>
              <a:buAutoNum type="arabicPeriod"/>
              <a:tabLst>
                <a:tab pos="399415" algn="l"/>
              </a:tabLst>
            </a:pPr>
            <a:r>
              <a:rPr dirty="0" sz="1800" b="1">
                <a:latin typeface="Times New Roman"/>
                <a:cs typeface="Times New Roman"/>
              </a:rPr>
              <a:t>Approximately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7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year</a:t>
            </a:r>
            <a:r>
              <a:rPr dirty="0" sz="1800" spc="-6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record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comprehensive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disclosure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risk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factor</a:t>
            </a:r>
            <a:r>
              <a:rPr dirty="0" sz="1800" spc="-6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identification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-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2015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onwards</a:t>
            </a:r>
            <a:r>
              <a:rPr dirty="0" sz="1800" spc="-1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7491" y="2646679"/>
            <a:ext cx="8071484" cy="414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 spc="-85">
                <a:latin typeface="Times New Roman"/>
                <a:cs typeface="Times New Roman"/>
              </a:rPr>
              <a:t>ATL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Rapid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(2016)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2.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 spc="-85">
                <a:latin typeface="Times New Roman"/>
                <a:cs typeface="Times New Roman"/>
              </a:rPr>
              <a:t>ATL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Rapid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(2019)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3.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Falcon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AEML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(1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Billion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Bond)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(2019)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4.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Falcon</a:t>
            </a:r>
            <a:r>
              <a:rPr dirty="0" sz="1800" spc="-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AEML</a:t>
            </a:r>
            <a:r>
              <a:rPr dirty="0" sz="1800" spc="-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(GMTN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Bond)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(2021)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5.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Shreya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(RG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Bond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–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PSEPL,</a:t>
            </a:r>
            <a:r>
              <a:rPr dirty="0" sz="1800" spc="-114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AGEUPL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PDPL)</a:t>
            </a:r>
            <a:r>
              <a:rPr dirty="0" sz="1800" spc="-10">
                <a:latin typeface="Times New Roman"/>
                <a:cs typeface="Times New Roman"/>
              </a:rPr>
              <a:t> (2019)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6.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Shreya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(RG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Bond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–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WSMPL, KSPPL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and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ARERJL)</a:t>
            </a:r>
            <a:r>
              <a:rPr dirty="0" sz="1800" spc="-10">
                <a:latin typeface="Times New Roman"/>
                <a:cs typeface="Times New Roman"/>
              </a:rPr>
              <a:t> (2019)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7.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Pearl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750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2021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(“July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2021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OC”)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8.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Stark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IV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500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2021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(“January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2021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OC”)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9.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Stark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III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 750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2020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(“2020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OC”)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10.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Stark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II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650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2019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(“2019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OC”)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11.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Stark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650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2015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(“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2015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OC</a:t>
            </a:r>
            <a:r>
              <a:rPr dirty="0" sz="1800" spc="-20">
                <a:latin typeface="Times New Roman"/>
                <a:cs typeface="Times New Roman"/>
              </a:rPr>
              <a:t>”)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12.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AGEL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Project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Avengers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750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2021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13.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–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U.S.$300,000,000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3.828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cent.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2032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14.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U.S.$450,000,000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5.00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cent.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2041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15.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Helmet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Open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Offer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(2022)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MIAL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USPP</a:t>
            </a:r>
            <a:r>
              <a:rPr dirty="0" sz="1800" spc="-10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Calibri"/>
                <a:cs typeface="Calibri"/>
              </a:rPr>
              <a:t>(2022)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5429885">
              <a:lnSpc>
                <a:spcPts val="19145"/>
              </a:lnSpc>
              <a:spcBef>
                <a:spcPts val="95"/>
              </a:spcBef>
            </a:pPr>
            <a:r>
              <a:rPr dirty="0" sz="16000" spc="-50">
                <a:solidFill>
                  <a:srgbClr val="000000"/>
                </a:solidFill>
                <a:latin typeface="Calibri Light"/>
                <a:cs typeface="Calibri Light"/>
              </a:rPr>
              <a:t>2</a:t>
            </a:r>
            <a:endParaRPr sz="16000">
              <a:latin typeface="Calibri Light"/>
              <a:cs typeface="Calibri Light"/>
            </a:endParaRPr>
          </a:p>
          <a:p>
            <a:pPr marL="2464435">
              <a:lnSpc>
                <a:spcPts val="2825"/>
              </a:lnSpc>
            </a:pPr>
            <a:r>
              <a:rPr dirty="0" sz="2400">
                <a:solidFill>
                  <a:srgbClr val="000000"/>
                </a:solidFill>
              </a:rPr>
              <a:t>Adani</a:t>
            </a:r>
            <a:r>
              <a:rPr dirty="0" sz="2400" spc="-70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Portfolio</a:t>
            </a:r>
            <a:r>
              <a:rPr dirty="0" sz="2400" spc="-7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Credit</a:t>
            </a:r>
            <a:r>
              <a:rPr dirty="0" sz="2400" spc="-70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Overview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Adani</a:t>
            </a:r>
            <a:r>
              <a:rPr dirty="0" sz="2200" spc="-50"/>
              <a:t> </a:t>
            </a:r>
            <a:r>
              <a:rPr dirty="0" sz="2200" spc="-10"/>
              <a:t>Portfolio:</a:t>
            </a:r>
            <a:r>
              <a:rPr dirty="0" sz="2200" spc="-50"/>
              <a:t> </a:t>
            </a:r>
            <a:r>
              <a:rPr dirty="0" sz="2200"/>
              <a:t>Growth</a:t>
            </a:r>
            <a:r>
              <a:rPr dirty="0" sz="2200" spc="-35"/>
              <a:t> </a:t>
            </a:r>
            <a:r>
              <a:rPr dirty="0" sz="2200"/>
              <a:t>with</a:t>
            </a:r>
            <a:r>
              <a:rPr dirty="0" sz="2200" spc="-50"/>
              <a:t> </a:t>
            </a:r>
            <a:r>
              <a:rPr dirty="0" sz="2200"/>
              <a:t>Credit</a:t>
            </a:r>
            <a:r>
              <a:rPr dirty="0" sz="2200" spc="-55"/>
              <a:t> </a:t>
            </a:r>
            <a:r>
              <a:rPr dirty="0" sz="2200" spc="-10"/>
              <a:t>Discipline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8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26757" y="3159251"/>
            <a:ext cx="10006965" cy="2265045"/>
            <a:chOff x="726757" y="3159251"/>
            <a:chExt cx="10006965" cy="2265045"/>
          </a:xfrm>
        </p:grpSpPr>
        <p:sp>
          <p:nvSpPr>
            <p:cNvPr id="5" name="object 5"/>
            <p:cNvSpPr/>
            <p:nvPr/>
          </p:nvSpPr>
          <p:spPr>
            <a:xfrm>
              <a:off x="1231392" y="3622547"/>
              <a:ext cx="8997950" cy="1753235"/>
            </a:xfrm>
            <a:custGeom>
              <a:avLst/>
              <a:gdLst/>
              <a:ahLst/>
              <a:cxnLst/>
              <a:rect l="l" t="t" r="r" b="b"/>
              <a:pathLst>
                <a:path w="8997950" h="1753235">
                  <a:moveTo>
                    <a:pt x="999744" y="873252"/>
                  </a:moveTo>
                  <a:lnTo>
                    <a:pt x="0" y="873252"/>
                  </a:lnTo>
                  <a:lnTo>
                    <a:pt x="0" y="1752600"/>
                  </a:lnTo>
                  <a:lnTo>
                    <a:pt x="999744" y="1752600"/>
                  </a:lnTo>
                  <a:lnTo>
                    <a:pt x="999744" y="873252"/>
                  </a:lnTo>
                  <a:close/>
                </a:path>
                <a:path w="8997950" h="1753235">
                  <a:moveTo>
                    <a:pt x="2999232" y="780288"/>
                  </a:moveTo>
                  <a:lnTo>
                    <a:pt x="1999488" y="780288"/>
                  </a:lnTo>
                  <a:lnTo>
                    <a:pt x="1999488" y="1752600"/>
                  </a:lnTo>
                  <a:lnTo>
                    <a:pt x="2999232" y="1752600"/>
                  </a:lnTo>
                  <a:lnTo>
                    <a:pt x="2999232" y="780288"/>
                  </a:lnTo>
                  <a:close/>
                </a:path>
                <a:path w="8997950" h="1753235">
                  <a:moveTo>
                    <a:pt x="4998720" y="582168"/>
                  </a:moveTo>
                  <a:lnTo>
                    <a:pt x="3998976" y="582168"/>
                  </a:lnTo>
                  <a:lnTo>
                    <a:pt x="3998976" y="1752600"/>
                  </a:lnTo>
                  <a:lnTo>
                    <a:pt x="4998720" y="1752600"/>
                  </a:lnTo>
                  <a:lnTo>
                    <a:pt x="4998720" y="582168"/>
                  </a:lnTo>
                  <a:close/>
                </a:path>
                <a:path w="8997950" h="1753235">
                  <a:moveTo>
                    <a:pt x="6998208" y="0"/>
                  </a:moveTo>
                  <a:lnTo>
                    <a:pt x="5998464" y="0"/>
                  </a:lnTo>
                  <a:lnTo>
                    <a:pt x="5998464" y="1752600"/>
                  </a:lnTo>
                  <a:lnTo>
                    <a:pt x="6998208" y="1752612"/>
                  </a:lnTo>
                  <a:lnTo>
                    <a:pt x="6998208" y="0"/>
                  </a:lnTo>
                  <a:close/>
                </a:path>
                <a:path w="8997950" h="1753235">
                  <a:moveTo>
                    <a:pt x="8997696" y="294132"/>
                  </a:moveTo>
                  <a:lnTo>
                    <a:pt x="7997952" y="294132"/>
                  </a:lnTo>
                  <a:lnTo>
                    <a:pt x="7997952" y="1752600"/>
                  </a:lnTo>
                  <a:lnTo>
                    <a:pt x="8997696" y="1752600"/>
                  </a:lnTo>
                  <a:lnTo>
                    <a:pt x="8997696" y="294132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229343" y="3159251"/>
              <a:ext cx="1000125" cy="757555"/>
            </a:xfrm>
            <a:custGeom>
              <a:avLst/>
              <a:gdLst/>
              <a:ahLst/>
              <a:cxnLst/>
              <a:rect l="l" t="t" r="r" b="b"/>
              <a:pathLst>
                <a:path w="1000125" h="757554">
                  <a:moveTo>
                    <a:pt x="999744" y="0"/>
                  </a:moveTo>
                  <a:lnTo>
                    <a:pt x="0" y="0"/>
                  </a:lnTo>
                  <a:lnTo>
                    <a:pt x="0" y="757428"/>
                  </a:lnTo>
                  <a:lnTo>
                    <a:pt x="999744" y="757428"/>
                  </a:lnTo>
                  <a:lnTo>
                    <a:pt x="999744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1519" y="5375147"/>
              <a:ext cx="9997440" cy="48895"/>
            </a:xfrm>
            <a:custGeom>
              <a:avLst/>
              <a:gdLst/>
              <a:ahLst/>
              <a:cxnLst/>
              <a:rect l="l" t="t" r="r" b="b"/>
              <a:pathLst>
                <a:path w="9997440" h="48895">
                  <a:moveTo>
                    <a:pt x="0" y="0"/>
                  </a:moveTo>
                  <a:lnTo>
                    <a:pt x="9997440" y="0"/>
                  </a:lnTo>
                </a:path>
                <a:path w="9997440" h="48895">
                  <a:moveTo>
                    <a:pt x="0" y="0"/>
                  </a:moveTo>
                  <a:lnTo>
                    <a:pt x="0" y="48767"/>
                  </a:lnTo>
                </a:path>
                <a:path w="9997440" h="48895">
                  <a:moveTo>
                    <a:pt x="1999488" y="0"/>
                  </a:moveTo>
                  <a:lnTo>
                    <a:pt x="1999488" y="48767"/>
                  </a:lnTo>
                </a:path>
                <a:path w="9997440" h="48895">
                  <a:moveTo>
                    <a:pt x="3998976" y="0"/>
                  </a:moveTo>
                  <a:lnTo>
                    <a:pt x="3998976" y="48767"/>
                  </a:lnTo>
                </a:path>
                <a:path w="9997440" h="48895">
                  <a:moveTo>
                    <a:pt x="5998463" y="0"/>
                  </a:moveTo>
                  <a:lnTo>
                    <a:pt x="5998463" y="48767"/>
                  </a:lnTo>
                </a:path>
                <a:path w="9997440" h="48895">
                  <a:moveTo>
                    <a:pt x="7997952" y="0"/>
                  </a:moveTo>
                  <a:lnTo>
                    <a:pt x="7997952" y="48767"/>
                  </a:lnTo>
                </a:path>
                <a:path w="9997440" h="48895">
                  <a:moveTo>
                    <a:pt x="9997440" y="0"/>
                  </a:moveTo>
                  <a:lnTo>
                    <a:pt x="9997440" y="4876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1732026" y="1968245"/>
            <a:ext cx="7998459" cy="873760"/>
          </a:xfrm>
          <a:custGeom>
            <a:avLst/>
            <a:gdLst/>
            <a:ahLst/>
            <a:cxnLst/>
            <a:rect l="l" t="t" r="r" b="b"/>
            <a:pathLst>
              <a:path w="7998459" h="873760">
                <a:moveTo>
                  <a:pt x="0" y="0"/>
                </a:moveTo>
                <a:lnTo>
                  <a:pt x="1999488" y="45719"/>
                </a:lnTo>
                <a:lnTo>
                  <a:pt x="3998976" y="297179"/>
                </a:lnTo>
                <a:lnTo>
                  <a:pt x="5998464" y="873251"/>
                </a:lnTo>
                <a:lnTo>
                  <a:pt x="7997952" y="836676"/>
                </a:lnTo>
              </a:path>
            </a:pathLst>
          </a:custGeom>
          <a:ln w="28575">
            <a:solidFill>
              <a:srgbClr val="2544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426320" y="4516373"/>
            <a:ext cx="6496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40,269</a:t>
            </a:r>
            <a:r>
              <a:rPr dirty="0" sz="1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90329" y="3408045"/>
            <a:ext cx="5194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20,894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91741" y="4201159"/>
            <a:ext cx="5194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24,260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91610" y="4107002"/>
            <a:ext cx="5200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26,847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91098" y="3910076"/>
            <a:ext cx="5194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32,295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90841" y="3327653"/>
            <a:ext cx="5194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48,363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90329" y="2863723"/>
            <a:ext cx="5194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61,163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8130" y="1641170"/>
            <a:ext cx="3676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4.1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47998" y="1686306"/>
            <a:ext cx="3683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4.1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47486" y="1938655"/>
            <a:ext cx="3683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3.8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47229" y="2514345"/>
            <a:ext cx="3683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3.1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546717" y="2477516"/>
            <a:ext cx="3683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3.1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1521" y="5452973"/>
            <a:ext cx="46100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2019</a:t>
            </a:r>
            <a:r>
              <a:rPr dirty="0" sz="1200" spc="-3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61052" y="5452973"/>
            <a:ext cx="1612265" cy="357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52145">
              <a:lnSpc>
                <a:spcPts val="1305"/>
              </a:lnSpc>
              <a:spcBef>
                <a:spcPts val="100"/>
              </a:spcBef>
            </a:pP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2021</a:t>
            </a:r>
            <a:r>
              <a:rPr dirty="0" sz="1200" spc="-3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305"/>
              </a:lnSpc>
            </a:pP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Est.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RR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EBIDTA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Calibri"/>
                <a:cs typeface="Calibri"/>
              </a:rPr>
              <a:t>Difference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66966" y="5452973"/>
            <a:ext cx="3070860" cy="357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6100">
              <a:lnSpc>
                <a:spcPts val="1305"/>
              </a:lnSpc>
              <a:spcBef>
                <a:spcPts val="100"/>
              </a:spcBef>
              <a:tabLst>
                <a:tab pos="2468880" algn="l"/>
              </a:tabLst>
            </a:pP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2022</a:t>
            </a:r>
            <a:r>
              <a:rPr dirty="0" sz="1200" spc="-3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	2023</a:t>
            </a:r>
            <a:r>
              <a:rPr dirty="0" sz="1200" spc="-3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585858"/>
                </a:solidFill>
                <a:latin typeface="Calibri"/>
                <a:cs typeface="Calibri"/>
              </a:rPr>
              <a:t>RRE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305"/>
              </a:lnSpc>
            </a:pP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Net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Debt</a:t>
            </a:r>
            <a:r>
              <a:rPr dirty="0" sz="12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Calibri"/>
                <a:cs typeface="Calibri"/>
              </a:rPr>
              <a:t>/EBITDA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419855" y="5679947"/>
            <a:ext cx="243840" cy="83820"/>
          </a:xfrm>
          <a:custGeom>
            <a:avLst/>
            <a:gdLst/>
            <a:ahLst/>
            <a:cxnLst/>
            <a:rect l="l" t="t" r="r" b="b"/>
            <a:pathLst>
              <a:path w="243839" h="83820">
                <a:moveTo>
                  <a:pt x="243839" y="0"/>
                </a:moveTo>
                <a:lnTo>
                  <a:pt x="0" y="0"/>
                </a:lnTo>
                <a:lnTo>
                  <a:pt x="0" y="83819"/>
                </a:lnTo>
                <a:lnTo>
                  <a:pt x="243839" y="83819"/>
                </a:lnTo>
                <a:lnTo>
                  <a:pt x="243839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501390" y="5452973"/>
            <a:ext cx="866775" cy="357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05"/>
              </a:lnSpc>
              <a:spcBef>
                <a:spcPts val="100"/>
              </a:spcBef>
            </a:pP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2020</a:t>
            </a:r>
            <a:r>
              <a:rPr dirty="0" sz="1200" spc="-3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  <a:p>
            <a:pPr marL="188595">
              <a:lnSpc>
                <a:spcPts val="1305"/>
              </a:lnSpc>
            </a:pP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EBIDTA</a:t>
            </a:r>
            <a:r>
              <a:rPr dirty="0" sz="12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(A)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604003" y="5679947"/>
            <a:ext cx="243840" cy="83820"/>
          </a:xfrm>
          <a:custGeom>
            <a:avLst/>
            <a:gdLst/>
            <a:ahLst/>
            <a:cxnLst/>
            <a:rect l="l" t="t" r="r" b="b"/>
            <a:pathLst>
              <a:path w="243839" h="83820">
                <a:moveTo>
                  <a:pt x="243839" y="0"/>
                </a:moveTo>
                <a:lnTo>
                  <a:pt x="0" y="0"/>
                </a:lnTo>
                <a:lnTo>
                  <a:pt x="0" y="83819"/>
                </a:lnTo>
                <a:lnTo>
                  <a:pt x="243839" y="83819"/>
                </a:lnTo>
                <a:lnTo>
                  <a:pt x="243839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709409" y="5721858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575">
            <a:solidFill>
              <a:srgbClr val="25447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8" name="object 28"/>
          <p:cNvGrpSpPr/>
          <p:nvPr/>
        </p:nvGrpSpPr>
        <p:grpSpPr>
          <a:xfrm>
            <a:off x="4856691" y="1154884"/>
            <a:ext cx="1623695" cy="484505"/>
            <a:chOff x="4856691" y="1154884"/>
            <a:chExt cx="1623695" cy="484505"/>
          </a:xfrm>
        </p:grpSpPr>
        <p:sp>
          <p:nvSpPr>
            <p:cNvPr id="29" name="object 29"/>
            <p:cNvSpPr/>
            <p:nvPr/>
          </p:nvSpPr>
          <p:spPr>
            <a:xfrm>
              <a:off x="4863041" y="1161234"/>
              <a:ext cx="1610995" cy="471805"/>
            </a:xfrm>
            <a:custGeom>
              <a:avLst/>
              <a:gdLst/>
              <a:ahLst/>
              <a:cxnLst/>
              <a:rect l="l" t="t" r="r" b="b"/>
              <a:pathLst>
                <a:path w="1610995" h="471805">
                  <a:moveTo>
                    <a:pt x="812082" y="0"/>
                  </a:moveTo>
                  <a:lnTo>
                    <a:pt x="755572" y="406"/>
                  </a:lnTo>
                  <a:lnTo>
                    <a:pt x="699472" y="1836"/>
                  </a:lnTo>
                  <a:lnTo>
                    <a:pt x="643995" y="4274"/>
                  </a:lnTo>
                  <a:lnTo>
                    <a:pt x="589353" y="7705"/>
                  </a:lnTo>
                  <a:lnTo>
                    <a:pt x="535758" y="12114"/>
                  </a:lnTo>
                  <a:lnTo>
                    <a:pt x="483422" y="17485"/>
                  </a:lnTo>
                  <a:lnTo>
                    <a:pt x="432557" y="23803"/>
                  </a:lnTo>
                  <a:lnTo>
                    <a:pt x="383376" y="31053"/>
                  </a:lnTo>
                  <a:lnTo>
                    <a:pt x="336090" y="39220"/>
                  </a:lnTo>
                  <a:lnTo>
                    <a:pt x="290911" y="48287"/>
                  </a:lnTo>
                  <a:lnTo>
                    <a:pt x="248052" y="58241"/>
                  </a:lnTo>
                  <a:lnTo>
                    <a:pt x="207725" y="69065"/>
                  </a:lnTo>
                  <a:lnTo>
                    <a:pt x="170141" y="80744"/>
                  </a:lnTo>
                  <a:lnTo>
                    <a:pt x="104055" y="106606"/>
                  </a:lnTo>
                  <a:lnTo>
                    <a:pt x="67191" y="125805"/>
                  </a:lnTo>
                  <a:lnTo>
                    <a:pt x="17851" y="165523"/>
                  </a:lnTo>
                  <a:lnTo>
                    <a:pt x="0" y="206045"/>
                  </a:lnTo>
                  <a:lnTo>
                    <a:pt x="2497" y="226251"/>
                  </a:lnTo>
                  <a:lnTo>
                    <a:pt x="29569" y="265832"/>
                  </a:lnTo>
                  <a:lnTo>
                    <a:pt x="85049" y="303354"/>
                  </a:lnTo>
                  <a:lnTo>
                    <a:pt x="123057" y="320985"/>
                  </a:lnTo>
                  <a:lnTo>
                    <a:pt x="167705" y="337671"/>
                  </a:lnTo>
                  <a:lnTo>
                    <a:pt x="218839" y="353269"/>
                  </a:lnTo>
                  <a:lnTo>
                    <a:pt x="276305" y="367635"/>
                  </a:lnTo>
                  <a:lnTo>
                    <a:pt x="339949" y="380628"/>
                  </a:lnTo>
                  <a:lnTo>
                    <a:pt x="409617" y="392102"/>
                  </a:lnTo>
                  <a:lnTo>
                    <a:pt x="469942" y="471477"/>
                  </a:lnTo>
                  <a:lnTo>
                    <a:pt x="701209" y="417375"/>
                  </a:lnTo>
                  <a:lnTo>
                    <a:pt x="762147" y="418837"/>
                  </a:lnTo>
                  <a:lnTo>
                    <a:pt x="822703" y="419098"/>
                  </a:lnTo>
                  <a:lnTo>
                    <a:pt x="882658" y="418186"/>
                  </a:lnTo>
                  <a:lnTo>
                    <a:pt x="941790" y="416131"/>
                  </a:lnTo>
                  <a:lnTo>
                    <a:pt x="999879" y="412960"/>
                  </a:lnTo>
                  <a:lnTo>
                    <a:pt x="1056704" y="408702"/>
                  </a:lnTo>
                  <a:lnTo>
                    <a:pt x="1112044" y="403386"/>
                  </a:lnTo>
                  <a:lnTo>
                    <a:pt x="1165679" y="397039"/>
                  </a:lnTo>
                  <a:lnTo>
                    <a:pt x="1217389" y="389691"/>
                  </a:lnTo>
                  <a:lnTo>
                    <a:pt x="1266951" y="381370"/>
                  </a:lnTo>
                  <a:lnTo>
                    <a:pt x="1314147" y="372104"/>
                  </a:lnTo>
                  <a:lnTo>
                    <a:pt x="1358755" y="361922"/>
                  </a:lnTo>
                  <a:lnTo>
                    <a:pt x="1400555" y="350852"/>
                  </a:lnTo>
                  <a:lnTo>
                    <a:pt x="1439325" y="338923"/>
                  </a:lnTo>
                  <a:lnTo>
                    <a:pt x="1506897" y="312600"/>
                  </a:lnTo>
                  <a:lnTo>
                    <a:pt x="1543760" y="293401"/>
                  </a:lnTo>
                  <a:lnTo>
                    <a:pt x="1593100" y="253684"/>
                  </a:lnTo>
                  <a:lnTo>
                    <a:pt x="1610952" y="213161"/>
                  </a:lnTo>
                  <a:lnTo>
                    <a:pt x="1608454" y="192956"/>
                  </a:lnTo>
                  <a:lnTo>
                    <a:pt x="1581382" y="153374"/>
                  </a:lnTo>
                  <a:lnTo>
                    <a:pt x="1525902" y="115852"/>
                  </a:lnTo>
                  <a:lnTo>
                    <a:pt x="1487894" y="98221"/>
                  </a:lnTo>
                  <a:lnTo>
                    <a:pt x="1443246" y="81536"/>
                  </a:lnTo>
                  <a:lnTo>
                    <a:pt x="1392112" y="65938"/>
                  </a:lnTo>
                  <a:lnTo>
                    <a:pt x="1334646" y="51571"/>
                  </a:lnTo>
                  <a:lnTo>
                    <a:pt x="1271002" y="38579"/>
                  </a:lnTo>
                  <a:lnTo>
                    <a:pt x="1201335" y="27104"/>
                  </a:lnTo>
                  <a:lnTo>
                    <a:pt x="1147889" y="19916"/>
                  </a:lnTo>
                  <a:lnTo>
                    <a:pt x="1093369" y="13859"/>
                  </a:lnTo>
                  <a:lnTo>
                    <a:pt x="1037988" y="8917"/>
                  </a:lnTo>
                  <a:lnTo>
                    <a:pt x="981956" y="5076"/>
                  </a:lnTo>
                  <a:lnTo>
                    <a:pt x="925486" y="2319"/>
                  </a:lnTo>
                  <a:lnTo>
                    <a:pt x="868791" y="632"/>
                  </a:lnTo>
                  <a:lnTo>
                    <a:pt x="81208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863041" y="1161234"/>
              <a:ext cx="1610995" cy="471805"/>
            </a:xfrm>
            <a:custGeom>
              <a:avLst/>
              <a:gdLst/>
              <a:ahLst/>
              <a:cxnLst/>
              <a:rect l="l" t="t" r="r" b="b"/>
              <a:pathLst>
                <a:path w="1610995" h="471805">
                  <a:moveTo>
                    <a:pt x="469942" y="471477"/>
                  </a:moveTo>
                  <a:lnTo>
                    <a:pt x="409617" y="392102"/>
                  </a:lnTo>
                  <a:lnTo>
                    <a:pt x="339949" y="380628"/>
                  </a:lnTo>
                  <a:lnTo>
                    <a:pt x="276305" y="367635"/>
                  </a:lnTo>
                  <a:lnTo>
                    <a:pt x="218839" y="353269"/>
                  </a:lnTo>
                  <a:lnTo>
                    <a:pt x="167705" y="337671"/>
                  </a:lnTo>
                  <a:lnTo>
                    <a:pt x="123057" y="320985"/>
                  </a:lnTo>
                  <a:lnTo>
                    <a:pt x="85049" y="303354"/>
                  </a:lnTo>
                  <a:lnTo>
                    <a:pt x="29569" y="265832"/>
                  </a:lnTo>
                  <a:lnTo>
                    <a:pt x="2497" y="226251"/>
                  </a:lnTo>
                  <a:lnTo>
                    <a:pt x="0" y="206045"/>
                  </a:lnTo>
                  <a:lnTo>
                    <a:pt x="5066" y="185755"/>
                  </a:lnTo>
                  <a:lnTo>
                    <a:pt x="38508" y="145491"/>
                  </a:lnTo>
                  <a:lnTo>
                    <a:pt x="104055" y="106606"/>
                  </a:lnTo>
                  <a:lnTo>
                    <a:pt x="170141" y="80744"/>
                  </a:lnTo>
                  <a:lnTo>
                    <a:pt x="207725" y="69065"/>
                  </a:lnTo>
                  <a:lnTo>
                    <a:pt x="248052" y="58241"/>
                  </a:lnTo>
                  <a:lnTo>
                    <a:pt x="290911" y="48287"/>
                  </a:lnTo>
                  <a:lnTo>
                    <a:pt x="336090" y="39220"/>
                  </a:lnTo>
                  <a:lnTo>
                    <a:pt x="383376" y="31053"/>
                  </a:lnTo>
                  <a:lnTo>
                    <a:pt x="432557" y="23803"/>
                  </a:lnTo>
                  <a:lnTo>
                    <a:pt x="483422" y="17485"/>
                  </a:lnTo>
                  <a:lnTo>
                    <a:pt x="535758" y="12114"/>
                  </a:lnTo>
                  <a:lnTo>
                    <a:pt x="589353" y="7705"/>
                  </a:lnTo>
                  <a:lnTo>
                    <a:pt x="643995" y="4274"/>
                  </a:lnTo>
                  <a:lnTo>
                    <a:pt x="699472" y="1836"/>
                  </a:lnTo>
                  <a:lnTo>
                    <a:pt x="755572" y="406"/>
                  </a:lnTo>
                  <a:lnTo>
                    <a:pt x="812082" y="0"/>
                  </a:lnTo>
                  <a:lnTo>
                    <a:pt x="868791" y="632"/>
                  </a:lnTo>
                  <a:lnTo>
                    <a:pt x="925486" y="2319"/>
                  </a:lnTo>
                  <a:lnTo>
                    <a:pt x="981956" y="5076"/>
                  </a:lnTo>
                  <a:lnTo>
                    <a:pt x="1037988" y="8917"/>
                  </a:lnTo>
                  <a:lnTo>
                    <a:pt x="1093369" y="13859"/>
                  </a:lnTo>
                  <a:lnTo>
                    <a:pt x="1147889" y="19916"/>
                  </a:lnTo>
                  <a:lnTo>
                    <a:pt x="1201335" y="27104"/>
                  </a:lnTo>
                  <a:lnTo>
                    <a:pt x="1271002" y="38579"/>
                  </a:lnTo>
                  <a:lnTo>
                    <a:pt x="1334646" y="51571"/>
                  </a:lnTo>
                  <a:lnTo>
                    <a:pt x="1392112" y="65938"/>
                  </a:lnTo>
                  <a:lnTo>
                    <a:pt x="1443246" y="81536"/>
                  </a:lnTo>
                  <a:lnTo>
                    <a:pt x="1487894" y="98221"/>
                  </a:lnTo>
                  <a:lnTo>
                    <a:pt x="1525902" y="115852"/>
                  </a:lnTo>
                  <a:lnTo>
                    <a:pt x="1581382" y="153374"/>
                  </a:lnTo>
                  <a:lnTo>
                    <a:pt x="1608454" y="192956"/>
                  </a:lnTo>
                  <a:lnTo>
                    <a:pt x="1610952" y="213161"/>
                  </a:lnTo>
                  <a:lnTo>
                    <a:pt x="1605885" y="233451"/>
                  </a:lnTo>
                  <a:lnTo>
                    <a:pt x="1572443" y="273715"/>
                  </a:lnTo>
                  <a:lnTo>
                    <a:pt x="1506897" y="312600"/>
                  </a:lnTo>
                  <a:lnTo>
                    <a:pt x="1439325" y="338923"/>
                  </a:lnTo>
                  <a:lnTo>
                    <a:pt x="1400555" y="350852"/>
                  </a:lnTo>
                  <a:lnTo>
                    <a:pt x="1358755" y="361922"/>
                  </a:lnTo>
                  <a:lnTo>
                    <a:pt x="1314147" y="372104"/>
                  </a:lnTo>
                  <a:lnTo>
                    <a:pt x="1266951" y="381370"/>
                  </a:lnTo>
                  <a:lnTo>
                    <a:pt x="1217389" y="389691"/>
                  </a:lnTo>
                  <a:lnTo>
                    <a:pt x="1165679" y="397039"/>
                  </a:lnTo>
                  <a:lnTo>
                    <a:pt x="1112044" y="403386"/>
                  </a:lnTo>
                  <a:lnTo>
                    <a:pt x="1056704" y="408702"/>
                  </a:lnTo>
                  <a:lnTo>
                    <a:pt x="999879" y="412960"/>
                  </a:lnTo>
                  <a:lnTo>
                    <a:pt x="941790" y="416131"/>
                  </a:lnTo>
                  <a:lnTo>
                    <a:pt x="882658" y="418186"/>
                  </a:lnTo>
                  <a:lnTo>
                    <a:pt x="822703" y="419098"/>
                  </a:lnTo>
                  <a:lnTo>
                    <a:pt x="762147" y="418837"/>
                  </a:lnTo>
                  <a:lnTo>
                    <a:pt x="701209" y="417375"/>
                  </a:lnTo>
                  <a:lnTo>
                    <a:pt x="469942" y="47147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5363083" y="1257122"/>
            <a:ext cx="61150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COVID</a:t>
            </a:r>
            <a:r>
              <a:rPr dirty="0" sz="1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19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025247" y="1154978"/>
            <a:ext cx="1627505" cy="505459"/>
            <a:chOff x="7025247" y="1154978"/>
            <a:chExt cx="1627505" cy="505459"/>
          </a:xfrm>
        </p:grpSpPr>
        <p:sp>
          <p:nvSpPr>
            <p:cNvPr id="33" name="object 33"/>
            <p:cNvSpPr/>
            <p:nvPr/>
          </p:nvSpPr>
          <p:spPr>
            <a:xfrm>
              <a:off x="7031597" y="1161328"/>
              <a:ext cx="1614805" cy="492759"/>
            </a:xfrm>
            <a:custGeom>
              <a:avLst/>
              <a:gdLst/>
              <a:ahLst/>
              <a:cxnLst/>
              <a:rect l="l" t="t" r="r" b="b"/>
              <a:pathLst>
                <a:path w="1614804" h="492760">
                  <a:moveTo>
                    <a:pt x="826638" y="0"/>
                  </a:moveTo>
                  <a:lnTo>
                    <a:pt x="762312" y="239"/>
                  </a:lnTo>
                  <a:lnTo>
                    <a:pt x="698950" y="1795"/>
                  </a:lnTo>
                  <a:lnTo>
                    <a:pt x="636795" y="4625"/>
                  </a:lnTo>
                  <a:lnTo>
                    <a:pt x="576090" y="8684"/>
                  </a:lnTo>
                  <a:lnTo>
                    <a:pt x="517076" y="13931"/>
                  </a:lnTo>
                  <a:lnTo>
                    <a:pt x="459996" y="20321"/>
                  </a:lnTo>
                  <a:lnTo>
                    <a:pt x="405094" y="27812"/>
                  </a:lnTo>
                  <a:lnTo>
                    <a:pt x="352611" y="36361"/>
                  </a:lnTo>
                  <a:lnTo>
                    <a:pt x="302791" y="45924"/>
                  </a:lnTo>
                  <a:lnTo>
                    <a:pt x="255875" y="56458"/>
                  </a:lnTo>
                  <a:lnTo>
                    <a:pt x="212107" y="67920"/>
                  </a:lnTo>
                  <a:lnTo>
                    <a:pt x="171728" y="80268"/>
                  </a:lnTo>
                  <a:lnTo>
                    <a:pt x="134983" y="93457"/>
                  </a:lnTo>
                  <a:lnTo>
                    <a:pt x="73360" y="122188"/>
                  </a:lnTo>
                  <a:lnTo>
                    <a:pt x="29179" y="153769"/>
                  </a:lnTo>
                  <a:lnTo>
                    <a:pt x="3404" y="190521"/>
                  </a:lnTo>
                  <a:lnTo>
                    <a:pt x="0" y="210337"/>
                  </a:lnTo>
                  <a:lnTo>
                    <a:pt x="3753" y="229865"/>
                  </a:lnTo>
                  <a:lnTo>
                    <a:pt x="31654" y="267646"/>
                  </a:lnTo>
                  <a:lnTo>
                    <a:pt x="84954" y="303040"/>
                  </a:lnTo>
                  <a:lnTo>
                    <a:pt x="120454" y="319585"/>
                  </a:lnTo>
                  <a:lnTo>
                    <a:pt x="161495" y="335224"/>
                  </a:lnTo>
                  <a:lnTo>
                    <a:pt x="207809" y="349854"/>
                  </a:lnTo>
                  <a:lnTo>
                    <a:pt x="259125" y="363373"/>
                  </a:lnTo>
                  <a:lnTo>
                    <a:pt x="315173" y="375678"/>
                  </a:lnTo>
                  <a:lnTo>
                    <a:pt x="375686" y="386664"/>
                  </a:lnTo>
                  <a:lnTo>
                    <a:pt x="440392" y="396231"/>
                  </a:lnTo>
                  <a:lnTo>
                    <a:pt x="509023" y="404273"/>
                  </a:lnTo>
                  <a:lnTo>
                    <a:pt x="581310" y="410690"/>
                  </a:lnTo>
                  <a:lnTo>
                    <a:pt x="656983" y="415376"/>
                  </a:lnTo>
                  <a:lnTo>
                    <a:pt x="812431" y="492592"/>
                  </a:lnTo>
                  <a:lnTo>
                    <a:pt x="964958" y="414995"/>
                  </a:lnTo>
                  <a:lnTo>
                    <a:pt x="1032946" y="410687"/>
                  </a:lnTo>
                  <a:lnTo>
                    <a:pt x="1098490" y="404939"/>
                  </a:lnTo>
                  <a:lnTo>
                    <a:pt x="1161331" y="397819"/>
                  </a:lnTo>
                  <a:lnTo>
                    <a:pt x="1221209" y="389396"/>
                  </a:lnTo>
                  <a:lnTo>
                    <a:pt x="1277864" y="379737"/>
                  </a:lnTo>
                  <a:lnTo>
                    <a:pt x="1331037" y="368912"/>
                  </a:lnTo>
                  <a:lnTo>
                    <a:pt x="1380470" y="356988"/>
                  </a:lnTo>
                  <a:lnTo>
                    <a:pt x="1425902" y="344034"/>
                  </a:lnTo>
                  <a:lnTo>
                    <a:pt x="1467074" y="330117"/>
                  </a:lnTo>
                  <a:lnTo>
                    <a:pt x="1503726" y="315308"/>
                  </a:lnTo>
                  <a:lnTo>
                    <a:pt x="1562437" y="283280"/>
                  </a:lnTo>
                  <a:lnTo>
                    <a:pt x="1599958" y="248498"/>
                  </a:lnTo>
                  <a:lnTo>
                    <a:pt x="1614194" y="208682"/>
                  </a:lnTo>
                  <a:lnTo>
                    <a:pt x="1610440" y="189154"/>
                  </a:lnTo>
                  <a:lnTo>
                    <a:pt x="1582539" y="151373"/>
                  </a:lnTo>
                  <a:lnTo>
                    <a:pt x="1529239" y="115978"/>
                  </a:lnTo>
                  <a:lnTo>
                    <a:pt x="1493739" y="99434"/>
                  </a:lnTo>
                  <a:lnTo>
                    <a:pt x="1452698" y="83795"/>
                  </a:lnTo>
                  <a:lnTo>
                    <a:pt x="1406384" y="69164"/>
                  </a:lnTo>
                  <a:lnTo>
                    <a:pt x="1355069" y="55645"/>
                  </a:lnTo>
                  <a:lnTo>
                    <a:pt x="1299020" y="43341"/>
                  </a:lnTo>
                  <a:lnTo>
                    <a:pt x="1238508" y="32354"/>
                  </a:lnTo>
                  <a:lnTo>
                    <a:pt x="1173801" y="22788"/>
                  </a:lnTo>
                  <a:lnTo>
                    <a:pt x="1105170" y="14745"/>
                  </a:lnTo>
                  <a:lnTo>
                    <a:pt x="1032883" y="8329"/>
                  </a:lnTo>
                  <a:lnTo>
                    <a:pt x="957211" y="3642"/>
                  </a:lnTo>
                  <a:lnTo>
                    <a:pt x="891685" y="1119"/>
                  </a:lnTo>
                  <a:lnTo>
                    <a:pt x="82663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031597" y="1161328"/>
              <a:ext cx="1614805" cy="492759"/>
            </a:xfrm>
            <a:custGeom>
              <a:avLst/>
              <a:gdLst/>
              <a:ahLst/>
              <a:cxnLst/>
              <a:rect l="l" t="t" r="r" b="b"/>
              <a:pathLst>
                <a:path w="1614804" h="492760">
                  <a:moveTo>
                    <a:pt x="812431" y="492592"/>
                  </a:moveTo>
                  <a:lnTo>
                    <a:pt x="656983" y="415376"/>
                  </a:lnTo>
                  <a:lnTo>
                    <a:pt x="581310" y="410690"/>
                  </a:lnTo>
                  <a:lnTo>
                    <a:pt x="509023" y="404273"/>
                  </a:lnTo>
                  <a:lnTo>
                    <a:pt x="440392" y="396231"/>
                  </a:lnTo>
                  <a:lnTo>
                    <a:pt x="375686" y="386664"/>
                  </a:lnTo>
                  <a:lnTo>
                    <a:pt x="315173" y="375678"/>
                  </a:lnTo>
                  <a:lnTo>
                    <a:pt x="259125" y="363373"/>
                  </a:lnTo>
                  <a:lnTo>
                    <a:pt x="207809" y="349854"/>
                  </a:lnTo>
                  <a:lnTo>
                    <a:pt x="161495" y="335224"/>
                  </a:lnTo>
                  <a:lnTo>
                    <a:pt x="120454" y="319585"/>
                  </a:lnTo>
                  <a:lnTo>
                    <a:pt x="84954" y="303040"/>
                  </a:lnTo>
                  <a:lnTo>
                    <a:pt x="31654" y="267646"/>
                  </a:lnTo>
                  <a:lnTo>
                    <a:pt x="3753" y="229865"/>
                  </a:lnTo>
                  <a:lnTo>
                    <a:pt x="0" y="210337"/>
                  </a:lnTo>
                  <a:lnTo>
                    <a:pt x="3404" y="190521"/>
                  </a:lnTo>
                  <a:lnTo>
                    <a:pt x="29179" y="153769"/>
                  </a:lnTo>
                  <a:lnTo>
                    <a:pt x="73360" y="122188"/>
                  </a:lnTo>
                  <a:lnTo>
                    <a:pt x="134983" y="93457"/>
                  </a:lnTo>
                  <a:lnTo>
                    <a:pt x="171728" y="80268"/>
                  </a:lnTo>
                  <a:lnTo>
                    <a:pt x="212107" y="67920"/>
                  </a:lnTo>
                  <a:lnTo>
                    <a:pt x="255875" y="56458"/>
                  </a:lnTo>
                  <a:lnTo>
                    <a:pt x="302791" y="45924"/>
                  </a:lnTo>
                  <a:lnTo>
                    <a:pt x="352611" y="36361"/>
                  </a:lnTo>
                  <a:lnTo>
                    <a:pt x="405094" y="27812"/>
                  </a:lnTo>
                  <a:lnTo>
                    <a:pt x="459996" y="20321"/>
                  </a:lnTo>
                  <a:lnTo>
                    <a:pt x="517076" y="13931"/>
                  </a:lnTo>
                  <a:lnTo>
                    <a:pt x="576090" y="8684"/>
                  </a:lnTo>
                  <a:lnTo>
                    <a:pt x="636795" y="4625"/>
                  </a:lnTo>
                  <a:lnTo>
                    <a:pt x="698950" y="1795"/>
                  </a:lnTo>
                  <a:lnTo>
                    <a:pt x="762312" y="239"/>
                  </a:lnTo>
                  <a:lnTo>
                    <a:pt x="826638" y="0"/>
                  </a:lnTo>
                  <a:lnTo>
                    <a:pt x="891685" y="1119"/>
                  </a:lnTo>
                  <a:lnTo>
                    <a:pt x="957211" y="3642"/>
                  </a:lnTo>
                  <a:lnTo>
                    <a:pt x="1032883" y="8329"/>
                  </a:lnTo>
                  <a:lnTo>
                    <a:pt x="1105170" y="14745"/>
                  </a:lnTo>
                  <a:lnTo>
                    <a:pt x="1173801" y="22788"/>
                  </a:lnTo>
                  <a:lnTo>
                    <a:pt x="1238508" y="32354"/>
                  </a:lnTo>
                  <a:lnTo>
                    <a:pt x="1299020" y="43341"/>
                  </a:lnTo>
                  <a:lnTo>
                    <a:pt x="1355069" y="55645"/>
                  </a:lnTo>
                  <a:lnTo>
                    <a:pt x="1406384" y="69164"/>
                  </a:lnTo>
                  <a:lnTo>
                    <a:pt x="1452698" y="83795"/>
                  </a:lnTo>
                  <a:lnTo>
                    <a:pt x="1493739" y="99434"/>
                  </a:lnTo>
                  <a:lnTo>
                    <a:pt x="1529239" y="115978"/>
                  </a:lnTo>
                  <a:lnTo>
                    <a:pt x="1582539" y="151373"/>
                  </a:lnTo>
                  <a:lnTo>
                    <a:pt x="1610440" y="189154"/>
                  </a:lnTo>
                  <a:lnTo>
                    <a:pt x="1614194" y="208682"/>
                  </a:lnTo>
                  <a:lnTo>
                    <a:pt x="1610789" y="228498"/>
                  </a:lnTo>
                  <a:lnTo>
                    <a:pt x="1583975" y="266199"/>
                  </a:lnTo>
                  <a:lnTo>
                    <a:pt x="1535600" y="299672"/>
                  </a:lnTo>
                  <a:lnTo>
                    <a:pt x="1467074" y="330117"/>
                  </a:lnTo>
                  <a:lnTo>
                    <a:pt x="1425902" y="344034"/>
                  </a:lnTo>
                  <a:lnTo>
                    <a:pt x="1380470" y="356988"/>
                  </a:lnTo>
                  <a:lnTo>
                    <a:pt x="1331037" y="368912"/>
                  </a:lnTo>
                  <a:lnTo>
                    <a:pt x="1277864" y="379737"/>
                  </a:lnTo>
                  <a:lnTo>
                    <a:pt x="1221209" y="389396"/>
                  </a:lnTo>
                  <a:lnTo>
                    <a:pt x="1161331" y="397819"/>
                  </a:lnTo>
                  <a:lnTo>
                    <a:pt x="1098490" y="404939"/>
                  </a:lnTo>
                  <a:lnTo>
                    <a:pt x="1032946" y="410687"/>
                  </a:lnTo>
                  <a:lnTo>
                    <a:pt x="964958" y="414995"/>
                  </a:lnTo>
                  <a:lnTo>
                    <a:pt x="812431" y="492592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4297553" y="1154945"/>
            <a:ext cx="6226175" cy="800735"/>
            <a:chOff x="4297553" y="1154945"/>
            <a:chExt cx="6226175" cy="800735"/>
          </a:xfrm>
        </p:grpSpPr>
        <p:sp>
          <p:nvSpPr>
            <p:cNvPr id="36" name="object 36"/>
            <p:cNvSpPr/>
            <p:nvPr/>
          </p:nvSpPr>
          <p:spPr>
            <a:xfrm>
              <a:off x="4300728" y="1719072"/>
              <a:ext cx="4087495" cy="233679"/>
            </a:xfrm>
            <a:custGeom>
              <a:avLst/>
              <a:gdLst/>
              <a:ahLst/>
              <a:cxnLst/>
              <a:rect l="l" t="t" r="r" b="b"/>
              <a:pathLst>
                <a:path w="4087495" h="233680">
                  <a:moveTo>
                    <a:pt x="0" y="233172"/>
                  </a:moveTo>
                  <a:lnTo>
                    <a:pt x="1518" y="187791"/>
                  </a:lnTo>
                  <a:lnTo>
                    <a:pt x="5667" y="150733"/>
                  </a:lnTo>
                  <a:lnTo>
                    <a:pt x="11840" y="125747"/>
                  </a:lnTo>
                  <a:lnTo>
                    <a:pt x="19431" y="116586"/>
                  </a:lnTo>
                  <a:lnTo>
                    <a:pt x="955929" y="116586"/>
                  </a:lnTo>
                  <a:lnTo>
                    <a:pt x="963465" y="107424"/>
                  </a:lnTo>
                  <a:lnTo>
                    <a:pt x="969645" y="82438"/>
                  </a:lnTo>
                  <a:lnTo>
                    <a:pt x="973824" y="45380"/>
                  </a:lnTo>
                  <a:lnTo>
                    <a:pt x="975360" y="0"/>
                  </a:lnTo>
                  <a:lnTo>
                    <a:pt x="976878" y="45380"/>
                  </a:lnTo>
                  <a:lnTo>
                    <a:pt x="981027" y="82438"/>
                  </a:lnTo>
                  <a:lnTo>
                    <a:pt x="987200" y="107424"/>
                  </a:lnTo>
                  <a:lnTo>
                    <a:pt x="994791" y="116586"/>
                  </a:lnTo>
                  <a:lnTo>
                    <a:pt x="1931289" y="116586"/>
                  </a:lnTo>
                  <a:lnTo>
                    <a:pt x="1938825" y="125747"/>
                  </a:lnTo>
                  <a:lnTo>
                    <a:pt x="1945004" y="150733"/>
                  </a:lnTo>
                  <a:lnTo>
                    <a:pt x="1949184" y="187791"/>
                  </a:lnTo>
                  <a:lnTo>
                    <a:pt x="1950720" y="233172"/>
                  </a:lnTo>
                </a:path>
                <a:path w="4087495" h="233680">
                  <a:moveTo>
                    <a:pt x="2961131" y="233172"/>
                  </a:moveTo>
                  <a:lnTo>
                    <a:pt x="2962650" y="187791"/>
                  </a:lnTo>
                  <a:lnTo>
                    <a:pt x="2966799" y="150733"/>
                  </a:lnTo>
                  <a:lnTo>
                    <a:pt x="2972972" y="125747"/>
                  </a:lnTo>
                  <a:lnTo>
                    <a:pt x="2980563" y="116586"/>
                  </a:lnTo>
                  <a:lnTo>
                    <a:pt x="3504819" y="116586"/>
                  </a:lnTo>
                  <a:lnTo>
                    <a:pt x="3512355" y="107424"/>
                  </a:lnTo>
                  <a:lnTo>
                    <a:pt x="3518535" y="82438"/>
                  </a:lnTo>
                  <a:lnTo>
                    <a:pt x="3522714" y="45380"/>
                  </a:lnTo>
                  <a:lnTo>
                    <a:pt x="3524250" y="0"/>
                  </a:lnTo>
                  <a:lnTo>
                    <a:pt x="3525768" y="45380"/>
                  </a:lnTo>
                  <a:lnTo>
                    <a:pt x="3529917" y="82438"/>
                  </a:lnTo>
                  <a:lnTo>
                    <a:pt x="3536090" y="107424"/>
                  </a:lnTo>
                  <a:lnTo>
                    <a:pt x="3543680" y="116586"/>
                  </a:lnTo>
                  <a:lnTo>
                    <a:pt x="4067937" y="116586"/>
                  </a:lnTo>
                  <a:lnTo>
                    <a:pt x="4075473" y="125747"/>
                  </a:lnTo>
                  <a:lnTo>
                    <a:pt x="4081653" y="150733"/>
                  </a:lnTo>
                  <a:lnTo>
                    <a:pt x="4085832" y="187791"/>
                  </a:lnTo>
                  <a:lnTo>
                    <a:pt x="4087368" y="233172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904621" y="1161295"/>
              <a:ext cx="1612900" cy="535305"/>
            </a:xfrm>
            <a:custGeom>
              <a:avLst/>
              <a:gdLst/>
              <a:ahLst/>
              <a:cxnLst/>
              <a:rect l="l" t="t" r="r" b="b"/>
              <a:pathLst>
                <a:path w="1612900" h="535305">
                  <a:moveTo>
                    <a:pt x="821208" y="0"/>
                  </a:moveTo>
                  <a:lnTo>
                    <a:pt x="756955" y="344"/>
                  </a:lnTo>
                  <a:lnTo>
                    <a:pt x="693693" y="2000"/>
                  </a:lnTo>
                  <a:lnTo>
                    <a:pt x="631663" y="4926"/>
                  </a:lnTo>
                  <a:lnTo>
                    <a:pt x="571108" y="9077"/>
                  </a:lnTo>
                  <a:lnTo>
                    <a:pt x="512268" y="14411"/>
                  </a:lnTo>
                  <a:lnTo>
                    <a:pt x="455385" y="20884"/>
                  </a:lnTo>
                  <a:lnTo>
                    <a:pt x="400700" y="28454"/>
                  </a:lnTo>
                  <a:lnTo>
                    <a:pt x="348455" y="37076"/>
                  </a:lnTo>
                  <a:lnTo>
                    <a:pt x="298892" y="46708"/>
                  </a:lnTo>
                  <a:lnTo>
                    <a:pt x="252251" y="57307"/>
                  </a:lnTo>
                  <a:lnTo>
                    <a:pt x="208774" y="68829"/>
                  </a:lnTo>
                  <a:lnTo>
                    <a:pt x="168703" y="81230"/>
                  </a:lnTo>
                  <a:lnTo>
                    <a:pt x="132279" y="94468"/>
                  </a:lnTo>
                  <a:lnTo>
                    <a:pt x="71339" y="123282"/>
                  </a:lnTo>
                  <a:lnTo>
                    <a:pt x="27884" y="154923"/>
                  </a:lnTo>
                  <a:lnTo>
                    <a:pt x="2952" y="191734"/>
                  </a:lnTo>
                  <a:lnTo>
                    <a:pt x="0" y="211572"/>
                  </a:lnTo>
                  <a:lnTo>
                    <a:pt x="4191" y="231107"/>
                  </a:lnTo>
                  <a:lnTo>
                    <a:pt x="32916" y="268864"/>
                  </a:lnTo>
                  <a:lnTo>
                    <a:pt x="86957" y="304187"/>
                  </a:lnTo>
                  <a:lnTo>
                    <a:pt x="122792" y="320679"/>
                  </a:lnTo>
                  <a:lnTo>
                    <a:pt x="164142" y="336257"/>
                  </a:lnTo>
                  <a:lnTo>
                    <a:pt x="210734" y="350817"/>
                  </a:lnTo>
                  <a:lnTo>
                    <a:pt x="262299" y="364257"/>
                  </a:lnTo>
                  <a:lnTo>
                    <a:pt x="318563" y="376476"/>
                  </a:lnTo>
                  <a:lnTo>
                    <a:pt x="379257" y="387370"/>
                  </a:lnTo>
                  <a:lnTo>
                    <a:pt x="444108" y="396839"/>
                  </a:lnTo>
                  <a:lnTo>
                    <a:pt x="512845" y="404778"/>
                  </a:lnTo>
                  <a:lnTo>
                    <a:pt x="585196" y="411087"/>
                  </a:lnTo>
                  <a:lnTo>
                    <a:pt x="660891" y="415663"/>
                  </a:lnTo>
                  <a:lnTo>
                    <a:pt x="819641" y="534916"/>
                  </a:lnTo>
                  <a:lnTo>
                    <a:pt x="968485" y="414774"/>
                  </a:lnTo>
                  <a:lnTo>
                    <a:pt x="1041441" y="409960"/>
                  </a:lnTo>
                  <a:lnTo>
                    <a:pt x="1111506" y="403486"/>
                  </a:lnTo>
                  <a:lnTo>
                    <a:pt x="1178356" y="395440"/>
                  </a:lnTo>
                  <a:lnTo>
                    <a:pt x="1241671" y="385906"/>
                  </a:lnTo>
                  <a:lnTo>
                    <a:pt x="1301129" y="374972"/>
                  </a:lnTo>
                  <a:lnTo>
                    <a:pt x="1356407" y="362723"/>
                  </a:lnTo>
                  <a:lnTo>
                    <a:pt x="1407184" y="349245"/>
                  </a:lnTo>
                  <a:lnTo>
                    <a:pt x="1453137" y="334624"/>
                  </a:lnTo>
                  <a:lnTo>
                    <a:pt x="1493946" y="318947"/>
                  </a:lnTo>
                  <a:lnTo>
                    <a:pt x="1529288" y="302298"/>
                  </a:lnTo>
                  <a:lnTo>
                    <a:pt x="1582284" y="266433"/>
                  </a:lnTo>
                  <a:lnTo>
                    <a:pt x="1609661" y="227351"/>
                  </a:lnTo>
                  <a:lnTo>
                    <a:pt x="1612613" y="207513"/>
                  </a:lnTo>
                  <a:lnTo>
                    <a:pt x="1608422" y="187977"/>
                  </a:lnTo>
                  <a:lnTo>
                    <a:pt x="1579696" y="150220"/>
                  </a:lnTo>
                  <a:lnTo>
                    <a:pt x="1525655" y="114898"/>
                  </a:lnTo>
                  <a:lnTo>
                    <a:pt x="1489820" y="98405"/>
                  </a:lnTo>
                  <a:lnTo>
                    <a:pt x="1448470" y="82828"/>
                  </a:lnTo>
                  <a:lnTo>
                    <a:pt x="1401878" y="68268"/>
                  </a:lnTo>
                  <a:lnTo>
                    <a:pt x="1350313" y="54827"/>
                  </a:lnTo>
                  <a:lnTo>
                    <a:pt x="1294049" y="42609"/>
                  </a:lnTo>
                  <a:lnTo>
                    <a:pt x="1233355" y="31714"/>
                  </a:lnTo>
                  <a:lnTo>
                    <a:pt x="1168504" y="22246"/>
                  </a:lnTo>
                  <a:lnTo>
                    <a:pt x="1099767" y="14306"/>
                  </a:lnTo>
                  <a:lnTo>
                    <a:pt x="1027416" y="7997"/>
                  </a:lnTo>
                  <a:lnTo>
                    <a:pt x="951721" y="3421"/>
                  </a:lnTo>
                  <a:lnTo>
                    <a:pt x="886210" y="1011"/>
                  </a:lnTo>
                  <a:lnTo>
                    <a:pt x="82120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904621" y="1161295"/>
              <a:ext cx="1612900" cy="535305"/>
            </a:xfrm>
            <a:custGeom>
              <a:avLst/>
              <a:gdLst/>
              <a:ahLst/>
              <a:cxnLst/>
              <a:rect l="l" t="t" r="r" b="b"/>
              <a:pathLst>
                <a:path w="1612900" h="535305">
                  <a:moveTo>
                    <a:pt x="819641" y="534916"/>
                  </a:moveTo>
                  <a:lnTo>
                    <a:pt x="660891" y="415663"/>
                  </a:lnTo>
                  <a:lnTo>
                    <a:pt x="585196" y="411087"/>
                  </a:lnTo>
                  <a:lnTo>
                    <a:pt x="512845" y="404778"/>
                  </a:lnTo>
                  <a:lnTo>
                    <a:pt x="444108" y="396839"/>
                  </a:lnTo>
                  <a:lnTo>
                    <a:pt x="379257" y="387370"/>
                  </a:lnTo>
                  <a:lnTo>
                    <a:pt x="318563" y="376476"/>
                  </a:lnTo>
                  <a:lnTo>
                    <a:pt x="262299" y="364257"/>
                  </a:lnTo>
                  <a:lnTo>
                    <a:pt x="210734" y="350817"/>
                  </a:lnTo>
                  <a:lnTo>
                    <a:pt x="164142" y="336257"/>
                  </a:lnTo>
                  <a:lnTo>
                    <a:pt x="122792" y="320679"/>
                  </a:lnTo>
                  <a:lnTo>
                    <a:pt x="86957" y="304187"/>
                  </a:lnTo>
                  <a:lnTo>
                    <a:pt x="32916" y="268864"/>
                  </a:lnTo>
                  <a:lnTo>
                    <a:pt x="4191" y="231107"/>
                  </a:lnTo>
                  <a:lnTo>
                    <a:pt x="0" y="211572"/>
                  </a:lnTo>
                  <a:lnTo>
                    <a:pt x="2952" y="191734"/>
                  </a:lnTo>
                  <a:lnTo>
                    <a:pt x="27884" y="154923"/>
                  </a:lnTo>
                  <a:lnTo>
                    <a:pt x="71339" y="123282"/>
                  </a:lnTo>
                  <a:lnTo>
                    <a:pt x="132279" y="94468"/>
                  </a:lnTo>
                  <a:lnTo>
                    <a:pt x="168703" y="81230"/>
                  </a:lnTo>
                  <a:lnTo>
                    <a:pt x="208774" y="68829"/>
                  </a:lnTo>
                  <a:lnTo>
                    <a:pt x="252251" y="57307"/>
                  </a:lnTo>
                  <a:lnTo>
                    <a:pt x="298892" y="46708"/>
                  </a:lnTo>
                  <a:lnTo>
                    <a:pt x="348455" y="37076"/>
                  </a:lnTo>
                  <a:lnTo>
                    <a:pt x="400700" y="28454"/>
                  </a:lnTo>
                  <a:lnTo>
                    <a:pt x="455385" y="20884"/>
                  </a:lnTo>
                  <a:lnTo>
                    <a:pt x="512268" y="14411"/>
                  </a:lnTo>
                  <a:lnTo>
                    <a:pt x="571108" y="9077"/>
                  </a:lnTo>
                  <a:lnTo>
                    <a:pt x="631663" y="4926"/>
                  </a:lnTo>
                  <a:lnTo>
                    <a:pt x="693693" y="2000"/>
                  </a:lnTo>
                  <a:lnTo>
                    <a:pt x="756955" y="344"/>
                  </a:lnTo>
                  <a:lnTo>
                    <a:pt x="821208" y="0"/>
                  </a:lnTo>
                  <a:lnTo>
                    <a:pt x="886210" y="1011"/>
                  </a:lnTo>
                  <a:lnTo>
                    <a:pt x="951721" y="3421"/>
                  </a:lnTo>
                  <a:lnTo>
                    <a:pt x="1027416" y="7997"/>
                  </a:lnTo>
                  <a:lnTo>
                    <a:pt x="1099767" y="14306"/>
                  </a:lnTo>
                  <a:lnTo>
                    <a:pt x="1168504" y="22246"/>
                  </a:lnTo>
                  <a:lnTo>
                    <a:pt x="1233355" y="31714"/>
                  </a:lnTo>
                  <a:lnTo>
                    <a:pt x="1294049" y="42609"/>
                  </a:lnTo>
                  <a:lnTo>
                    <a:pt x="1350313" y="54827"/>
                  </a:lnTo>
                  <a:lnTo>
                    <a:pt x="1401878" y="68268"/>
                  </a:lnTo>
                  <a:lnTo>
                    <a:pt x="1448470" y="82828"/>
                  </a:lnTo>
                  <a:lnTo>
                    <a:pt x="1489820" y="98405"/>
                  </a:lnTo>
                  <a:lnTo>
                    <a:pt x="1525655" y="114898"/>
                  </a:lnTo>
                  <a:lnTo>
                    <a:pt x="1579696" y="150220"/>
                  </a:lnTo>
                  <a:lnTo>
                    <a:pt x="1608422" y="187977"/>
                  </a:lnTo>
                  <a:lnTo>
                    <a:pt x="1612613" y="207513"/>
                  </a:lnTo>
                  <a:lnTo>
                    <a:pt x="1609661" y="227351"/>
                  </a:lnTo>
                  <a:lnTo>
                    <a:pt x="1582284" y="266433"/>
                  </a:lnTo>
                  <a:lnTo>
                    <a:pt x="1529288" y="302298"/>
                  </a:lnTo>
                  <a:lnTo>
                    <a:pt x="1493946" y="318947"/>
                  </a:lnTo>
                  <a:lnTo>
                    <a:pt x="1453137" y="334624"/>
                  </a:lnTo>
                  <a:lnTo>
                    <a:pt x="1407184" y="349245"/>
                  </a:lnTo>
                  <a:lnTo>
                    <a:pt x="1356407" y="362723"/>
                  </a:lnTo>
                  <a:lnTo>
                    <a:pt x="1301129" y="374972"/>
                  </a:lnTo>
                  <a:lnTo>
                    <a:pt x="1241671" y="385906"/>
                  </a:lnTo>
                  <a:lnTo>
                    <a:pt x="1178356" y="395440"/>
                  </a:lnTo>
                  <a:lnTo>
                    <a:pt x="1111506" y="403486"/>
                  </a:lnTo>
                  <a:lnTo>
                    <a:pt x="1041441" y="409960"/>
                  </a:lnTo>
                  <a:lnTo>
                    <a:pt x="968485" y="414774"/>
                  </a:lnTo>
                  <a:lnTo>
                    <a:pt x="819641" y="53491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7439659" y="1165682"/>
            <a:ext cx="7994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Russia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Ukraine</a:t>
            </a:r>
            <a:r>
              <a:rPr dirty="0" sz="1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War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340977" y="1165682"/>
            <a:ext cx="74041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Short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Seller</a:t>
            </a:r>
            <a:endParaRPr sz="12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event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9148571" y="1760220"/>
            <a:ext cx="1125220" cy="192405"/>
          </a:xfrm>
          <a:custGeom>
            <a:avLst/>
            <a:gdLst/>
            <a:ahLst/>
            <a:cxnLst/>
            <a:rect l="l" t="t" r="r" b="b"/>
            <a:pathLst>
              <a:path w="1125220" h="192405">
                <a:moveTo>
                  <a:pt x="0" y="192024"/>
                </a:moveTo>
                <a:lnTo>
                  <a:pt x="1250" y="154626"/>
                </a:lnTo>
                <a:lnTo>
                  <a:pt x="4667" y="124110"/>
                </a:lnTo>
                <a:lnTo>
                  <a:pt x="9751" y="103548"/>
                </a:lnTo>
                <a:lnTo>
                  <a:pt x="16001" y="96012"/>
                </a:lnTo>
                <a:lnTo>
                  <a:pt x="546353" y="96012"/>
                </a:lnTo>
                <a:lnTo>
                  <a:pt x="552604" y="88475"/>
                </a:lnTo>
                <a:lnTo>
                  <a:pt x="557688" y="67913"/>
                </a:lnTo>
                <a:lnTo>
                  <a:pt x="561105" y="37397"/>
                </a:lnTo>
                <a:lnTo>
                  <a:pt x="562355" y="0"/>
                </a:lnTo>
                <a:lnTo>
                  <a:pt x="563606" y="37397"/>
                </a:lnTo>
                <a:lnTo>
                  <a:pt x="567023" y="67913"/>
                </a:lnTo>
                <a:lnTo>
                  <a:pt x="572107" y="88475"/>
                </a:lnTo>
                <a:lnTo>
                  <a:pt x="578357" y="96012"/>
                </a:lnTo>
                <a:lnTo>
                  <a:pt x="1108709" y="96012"/>
                </a:lnTo>
                <a:lnTo>
                  <a:pt x="1114960" y="103548"/>
                </a:lnTo>
                <a:lnTo>
                  <a:pt x="1120044" y="124110"/>
                </a:lnTo>
                <a:lnTo>
                  <a:pt x="1123461" y="154626"/>
                </a:lnTo>
                <a:lnTo>
                  <a:pt x="1124711" y="192024"/>
                </a:lnTo>
              </a:path>
            </a:pathLst>
          </a:custGeom>
          <a:ln w="6349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39013" y="5862624"/>
            <a:ext cx="10666730" cy="417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dirty="0" sz="800">
                <a:latin typeface="Calibri"/>
                <a:cs typeface="Calibri"/>
              </a:rPr>
              <a:t>EBIDTA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–</a:t>
            </a:r>
            <a:r>
              <a:rPr dirty="0" sz="800" spc="5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Earning</a:t>
            </a:r>
            <a:r>
              <a:rPr dirty="0" sz="800" spc="7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before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Interest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Tax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Depreciation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&amp;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Appropriation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</a:t>
            </a:r>
            <a:r>
              <a:rPr dirty="0" sz="800" spc="7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Net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debt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=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Gross</a:t>
            </a:r>
            <a:r>
              <a:rPr dirty="0" sz="800" spc="5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debt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less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Balances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Balances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includes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&amp;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equivalents,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bank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balances,</a:t>
            </a:r>
            <a:r>
              <a:rPr dirty="0" sz="800" spc="7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current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investments,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market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value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marketable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securities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(non-current</a:t>
            </a:r>
            <a:r>
              <a:rPr dirty="0" sz="800" spc="500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investments),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held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as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margin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money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&amp;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deposit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for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more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than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12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months.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FY23</a:t>
            </a:r>
            <a:r>
              <a:rPr dirty="0" sz="800" spc="-4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RRE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–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FY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23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Run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Rate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EBIDTA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–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Audited </a:t>
            </a:r>
            <a:r>
              <a:rPr dirty="0" sz="800" spc="-20">
                <a:latin typeface="Calibri"/>
                <a:cs typeface="Calibri"/>
              </a:rPr>
              <a:t>no's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800">
                <a:latin typeface="Calibri"/>
                <a:cs typeface="Calibri"/>
              </a:rPr>
              <a:t>Note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 spc="-50">
                <a:latin typeface="Calibri"/>
                <a:cs typeface="Calibri"/>
              </a:rPr>
              <a:t>–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39013" y="6254292"/>
            <a:ext cx="3912870" cy="54864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800">
                <a:latin typeface="Calibri"/>
                <a:cs typeface="Calibri"/>
              </a:rPr>
              <a:t>*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Portfolio 9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months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FY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23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Audited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EBIDTA</a:t>
            </a:r>
            <a:endParaRPr sz="800">
              <a:latin typeface="Calibri"/>
              <a:cs typeface="Calibri"/>
            </a:endParaRPr>
          </a:p>
          <a:p>
            <a:pPr marL="184785" indent="-172085">
              <a:lnSpc>
                <a:spcPct val="100000"/>
              </a:lnSpc>
              <a:spcBef>
                <a:spcPts val="7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800">
                <a:latin typeface="Calibri"/>
                <a:cs typeface="Calibri"/>
              </a:rPr>
              <a:t>FY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22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no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includes Ambuja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consolidated</a:t>
            </a:r>
            <a:r>
              <a:rPr dirty="0" sz="800" spc="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(Incl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ACC)</a:t>
            </a:r>
            <a:r>
              <a:rPr dirty="0" sz="800" spc="-4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uses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Calendar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Year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as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financial</a:t>
            </a:r>
            <a:r>
              <a:rPr dirty="0" sz="800" spc="25">
                <a:latin typeface="Calibri"/>
                <a:cs typeface="Calibri"/>
              </a:rPr>
              <a:t> </a:t>
            </a:r>
            <a:r>
              <a:rPr dirty="0" sz="800" spc="-20">
                <a:latin typeface="Calibri"/>
                <a:cs typeface="Calibri"/>
              </a:rPr>
              <a:t>Year</a:t>
            </a:r>
            <a:endParaRPr sz="800">
              <a:latin typeface="Calibri"/>
              <a:cs typeface="Calibri"/>
            </a:endParaRPr>
          </a:p>
          <a:p>
            <a:pPr marL="184785" indent="-172085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800">
                <a:latin typeface="Calibri"/>
                <a:cs typeface="Calibri"/>
              </a:rPr>
              <a:t>FY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23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est.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debt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included</a:t>
            </a:r>
            <a:r>
              <a:rPr dirty="0" sz="800" spc="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the</a:t>
            </a:r>
            <a:r>
              <a:rPr dirty="0" sz="800" spc="-10">
                <a:latin typeface="Calibri"/>
                <a:cs typeface="Calibri"/>
              </a:rPr>
              <a:t> acquisition</a:t>
            </a:r>
            <a:r>
              <a:rPr dirty="0" sz="800" spc="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debt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Cement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business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US$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4.5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 spc="-25">
                <a:latin typeface="Calibri"/>
                <a:cs typeface="Calibri"/>
              </a:rPr>
              <a:t>Bn</a:t>
            </a:r>
            <a:endParaRPr sz="800">
              <a:latin typeface="Calibri"/>
              <a:cs typeface="Calibri"/>
            </a:endParaRPr>
          </a:p>
          <a:p>
            <a:pPr marL="184785" indent="-172085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800">
                <a:latin typeface="Calibri"/>
                <a:cs typeface="Calibri"/>
              </a:rPr>
              <a:t>FY</a:t>
            </a:r>
            <a:r>
              <a:rPr dirty="0" sz="800" spc="-4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23</a:t>
            </a:r>
            <a:r>
              <a:rPr dirty="0" sz="800" spc="-4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est.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debt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</a:t>
            </a:r>
            <a:r>
              <a:rPr dirty="0" sz="800" spc="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prepayment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US$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700</a:t>
            </a:r>
            <a:r>
              <a:rPr dirty="0" sz="800" spc="-4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Mn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basis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revised capital management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 spc="-20">
                <a:latin typeface="Calibri"/>
                <a:cs typeface="Calibri"/>
              </a:rPr>
              <a:t>plan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Adani</a:t>
            </a:r>
            <a:r>
              <a:rPr dirty="0" sz="2200" spc="-50"/>
              <a:t> </a:t>
            </a:r>
            <a:r>
              <a:rPr dirty="0" sz="2200" spc="-10"/>
              <a:t>Portfolio:</a:t>
            </a:r>
            <a:r>
              <a:rPr dirty="0" sz="2200" spc="-50"/>
              <a:t> </a:t>
            </a:r>
            <a:r>
              <a:rPr dirty="0" sz="2200"/>
              <a:t>Growth</a:t>
            </a:r>
            <a:r>
              <a:rPr dirty="0" sz="2200" spc="-35"/>
              <a:t> </a:t>
            </a:r>
            <a:r>
              <a:rPr dirty="0" sz="2200"/>
              <a:t>with</a:t>
            </a:r>
            <a:r>
              <a:rPr dirty="0" sz="2200" spc="-50"/>
              <a:t> </a:t>
            </a:r>
            <a:r>
              <a:rPr dirty="0" sz="2200"/>
              <a:t>Credit</a:t>
            </a:r>
            <a:r>
              <a:rPr dirty="0" sz="2200" spc="-55"/>
              <a:t> </a:t>
            </a:r>
            <a:r>
              <a:rPr dirty="0" sz="2200" spc="-10"/>
              <a:t>Discipline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9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91668" y="1262380"/>
          <a:ext cx="11209655" cy="3134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5575"/>
                <a:gridCol w="1213485"/>
                <a:gridCol w="1375410"/>
                <a:gridCol w="1466215"/>
                <a:gridCol w="1477009"/>
                <a:gridCol w="1438275"/>
                <a:gridCol w="1470659"/>
              </a:tblGrid>
              <a:tr h="395605">
                <a:tc>
                  <a:txBody>
                    <a:bodyPr/>
                    <a:lstStyle/>
                    <a:p>
                      <a:pPr marL="953769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800" spc="-1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Particulars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787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2019</a:t>
                      </a:r>
                      <a:r>
                        <a:rPr dirty="0" sz="1800" spc="-1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2020</a:t>
                      </a:r>
                      <a:r>
                        <a:rPr dirty="0" sz="1800" spc="-1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2021</a:t>
                      </a:r>
                      <a:r>
                        <a:rPr dirty="0" sz="1800" spc="-1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254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2022</a:t>
                      </a:r>
                      <a:r>
                        <a:rPr dirty="0" sz="1800" spc="-1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588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r>
                        <a:rPr dirty="0" sz="1800" spc="-1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RRE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EBITDA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INR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Cr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874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24,260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26,847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32,295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318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48,363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588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61,163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Gross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Assets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20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INR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Cr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874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158,363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183,982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222,826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318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348,450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651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390,688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Gross</a:t>
                      </a:r>
                      <a:r>
                        <a:rPr dirty="0" sz="1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Debt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334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INR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Cr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620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110,948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126,223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136,173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318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188,275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651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221,495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Cash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20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INR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Cr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620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11,170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17,252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14,925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318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40,316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588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31,646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Net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Debt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INR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Cr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620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99,778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683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108,971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683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121,248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683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318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147,959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683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651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189,849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683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Net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Debt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/EBITDA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354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4.1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927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4.1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3.8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0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3.1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229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3.1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Gross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Assets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Net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Debt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3545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1.6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927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1.7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1.8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065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2.4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229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2.1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66166" y="6100673"/>
            <a:ext cx="1117409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</a:pP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–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Earning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before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Interest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Tax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Depreciation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&amp;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Appropriation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Net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debt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=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Gross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debt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less Cash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Balances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Cash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Balances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includes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cash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&amp;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cash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equivalents, bank</a:t>
            </a:r>
            <a:r>
              <a:rPr dirty="0" sz="700" spc="-10">
                <a:latin typeface="Calibri"/>
                <a:cs typeface="Calibri"/>
              </a:rPr>
              <a:t> balances,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current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investments,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market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value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of marketable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securities</a:t>
            </a:r>
            <a:r>
              <a:rPr dirty="0" sz="700" spc="10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(non-</a:t>
            </a:r>
            <a:r>
              <a:rPr dirty="0" sz="700">
                <a:latin typeface="Calibri"/>
                <a:cs typeface="Calibri"/>
              </a:rPr>
              <a:t>current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investments), balance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held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as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margin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money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&amp;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deposit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25">
                <a:latin typeface="Calibri"/>
                <a:cs typeface="Calibri"/>
              </a:rPr>
              <a:t>for</a:t>
            </a:r>
            <a:r>
              <a:rPr dirty="0" sz="700" spc="50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more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than 12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months.</a:t>
            </a:r>
            <a:r>
              <a:rPr dirty="0" sz="700" spc="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13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Gross Asset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includes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Property,</a:t>
            </a:r>
            <a:r>
              <a:rPr dirty="0" sz="700" spc="3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Plant and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Equipment;</a:t>
            </a:r>
            <a:r>
              <a:rPr dirty="0" sz="700" spc="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Capital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Work In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Progress;</a:t>
            </a:r>
            <a:r>
              <a:rPr dirty="0" sz="700" spc="10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Intangible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Assets; Right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of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Use,</a:t>
            </a:r>
            <a:r>
              <a:rPr dirty="0" sz="700" spc="-10">
                <a:latin typeface="Calibri"/>
                <a:cs typeface="Calibri"/>
              </a:rPr>
              <a:t> Goodwill,</a:t>
            </a:r>
            <a:r>
              <a:rPr dirty="0" sz="700" spc="2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Investment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Property</a:t>
            </a:r>
            <a:r>
              <a:rPr dirty="0" sz="700" spc="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and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Intangible</a:t>
            </a:r>
            <a:r>
              <a:rPr dirty="0" sz="700" spc="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Asset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under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development</a:t>
            </a:r>
            <a:r>
              <a:rPr dirty="0" sz="700" spc="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FY23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RRE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–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FY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23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Run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Rate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–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Audited </a:t>
            </a:r>
            <a:r>
              <a:rPr dirty="0" sz="700" spc="-20">
                <a:latin typeface="Calibri"/>
                <a:cs typeface="Calibri"/>
              </a:rPr>
              <a:t>no's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00">
                <a:latin typeface="Calibri"/>
                <a:cs typeface="Calibri"/>
              </a:rPr>
              <a:t>Note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-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FY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2023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is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Run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Rate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EBIDTA.</a:t>
            </a:r>
            <a:r>
              <a:rPr dirty="0" sz="700" spc="-4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RR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4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includes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cement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business</a:t>
            </a:r>
            <a:r>
              <a:rPr dirty="0" sz="700">
                <a:latin typeface="Calibri"/>
                <a:cs typeface="Calibri"/>
              </a:rPr>
              <a:t> RR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4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basis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efficiency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gain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related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to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power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and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logistics</a:t>
            </a:r>
            <a:endParaRPr sz="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Adani</a:t>
            </a:r>
            <a:r>
              <a:rPr dirty="0" sz="2400" spc="-45"/>
              <a:t> </a:t>
            </a:r>
            <a:r>
              <a:rPr dirty="0" sz="2400"/>
              <a:t>Complex:</a:t>
            </a:r>
            <a:r>
              <a:rPr dirty="0" sz="2400" spc="-55"/>
              <a:t> </a:t>
            </a:r>
            <a:r>
              <a:rPr dirty="0" sz="2400"/>
              <a:t>Near</a:t>
            </a:r>
            <a:r>
              <a:rPr dirty="0" sz="2400" spc="-45"/>
              <a:t> Term</a:t>
            </a:r>
            <a:r>
              <a:rPr dirty="0" sz="2400" spc="-35"/>
              <a:t> </a:t>
            </a:r>
            <a:r>
              <a:rPr dirty="0" sz="2400"/>
              <a:t>Maturities</a:t>
            </a:r>
            <a:r>
              <a:rPr dirty="0" sz="2400" spc="-55"/>
              <a:t> </a:t>
            </a:r>
            <a:r>
              <a:rPr dirty="0" sz="2400"/>
              <a:t>&amp;</a:t>
            </a:r>
            <a:r>
              <a:rPr dirty="0" sz="2400" spc="-40"/>
              <a:t> </a:t>
            </a:r>
            <a:r>
              <a:rPr dirty="0" sz="2400"/>
              <a:t>Funding</a:t>
            </a:r>
            <a:r>
              <a:rPr dirty="0" sz="2400" spc="-45"/>
              <a:t> </a:t>
            </a:r>
            <a:r>
              <a:rPr dirty="0" sz="2400" spc="-20"/>
              <a:t>Plan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1636756" y="6480454"/>
            <a:ext cx="1689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3069B4"/>
                </a:solidFill>
                <a:latin typeface="Calibri"/>
                <a:cs typeface="Calibri"/>
              </a:rPr>
              <a:t>10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23316" y="2122932"/>
            <a:ext cx="4572000" cy="1177290"/>
            <a:chOff x="623316" y="2122932"/>
            <a:chExt cx="4572000" cy="1177290"/>
          </a:xfrm>
        </p:grpSpPr>
        <p:sp>
          <p:nvSpPr>
            <p:cNvPr id="5" name="object 5"/>
            <p:cNvSpPr/>
            <p:nvPr/>
          </p:nvSpPr>
          <p:spPr>
            <a:xfrm>
              <a:off x="737616" y="2122931"/>
              <a:ext cx="4343400" cy="1172210"/>
            </a:xfrm>
            <a:custGeom>
              <a:avLst/>
              <a:gdLst/>
              <a:ahLst/>
              <a:cxnLst/>
              <a:rect l="l" t="t" r="r" b="b"/>
              <a:pathLst>
                <a:path w="4343400" h="1172210">
                  <a:moveTo>
                    <a:pt x="914400" y="536448"/>
                  </a:moveTo>
                  <a:lnTo>
                    <a:pt x="0" y="536448"/>
                  </a:lnTo>
                  <a:lnTo>
                    <a:pt x="0" y="1171956"/>
                  </a:lnTo>
                  <a:lnTo>
                    <a:pt x="914400" y="1171956"/>
                  </a:lnTo>
                  <a:lnTo>
                    <a:pt x="914400" y="536448"/>
                  </a:lnTo>
                  <a:close/>
                </a:path>
                <a:path w="4343400" h="1172210">
                  <a:moveTo>
                    <a:pt x="2057400" y="848868"/>
                  </a:moveTo>
                  <a:lnTo>
                    <a:pt x="1143000" y="848868"/>
                  </a:lnTo>
                  <a:lnTo>
                    <a:pt x="1143000" y="1171956"/>
                  </a:lnTo>
                  <a:lnTo>
                    <a:pt x="2057400" y="1171956"/>
                  </a:lnTo>
                  <a:lnTo>
                    <a:pt x="2057400" y="848868"/>
                  </a:lnTo>
                  <a:close/>
                </a:path>
                <a:path w="4343400" h="1172210">
                  <a:moveTo>
                    <a:pt x="3200400" y="0"/>
                  </a:moveTo>
                  <a:lnTo>
                    <a:pt x="2286000" y="0"/>
                  </a:lnTo>
                  <a:lnTo>
                    <a:pt x="2286000" y="1171956"/>
                  </a:lnTo>
                  <a:lnTo>
                    <a:pt x="3200400" y="1171956"/>
                  </a:lnTo>
                  <a:lnTo>
                    <a:pt x="3200400" y="0"/>
                  </a:lnTo>
                  <a:close/>
                </a:path>
                <a:path w="4343400" h="1172210">
                  <a:moveTo>
                    <a:pt x="4343400" y="905256"/>
                  </a:moveTo>
                  <a:lnTo>
                    <a:pt x="3429000" y="905256"/>
                  </a:lnTo>
                  <a:lnTo>
                    <a:pt x="3429000" y="1171956"/>
                  </a:lnTo>
                  <a:lnTo>
                    <a:pt x="4343400" y="1171956"/>
                  </a:lnTo>
                  <a:lnTo>
                    <a:pt x="4343400" y="90525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23316" y="3294888"/>
              <a:ext cx="4572000" cy="0"/>
            </a:xfrm>
            <a:custGeom>
              <a:avLst/>
              <a:gdLst/>
              <a:ahLst/>
              <a:cxnLst/>
              <a:rect l="l" t="t" r="r" b="b"/>
              <a:pathLst>
                <a:path w="4572000" h="0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065072" y="2445258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4,391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08402" y="2756661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2,239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51403" y="1907540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8,106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94657" y="2813430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1,848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2893" y="3350133"/>
            <a:ext cx="3835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FY23Q4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13610" y="335013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FY24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56864" y="335013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FY25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00117" y="335013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FY26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85950" y="1154049"/>
            <a:ext cx="3630295" cy="6026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ts val="1670"/>
              </a:lnSpc>
              <a:spcBef>
                <a:spcPts val="105"/>
              </a:spcBef>
            </a:pP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Debt</a:t>
            </a:r>
            <a:r>
              <a:rPr dirty="0" sz="14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Maturity</a:t>
            </a:r>
            <a:r>
              <a:rPr dirty="0" sz="1400" spc="-5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Profile</a:t>
            </a:r>
            <a:r>
              <a:rPr dirty="0" sz="1400" spc="-4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dirty="0" sz="1400" spc="-2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dirty="0" sz="1400" spc="-3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31</a:t>
            </a:r>
            <a:r>
              <a:rPr dirty="0" sz="14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Dec</a:t>
            </a:r>
            <a:r>
              <a:rPr dirty="0" sz="1400" spc="-1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2022</a:t>
            </a:r>
            <a:r>
              <a:rPr dirty="0" sz="14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(INR</a:t>
            </a:r>
            <a:r>
              <a:rPr dirty="0" sz="1400" spc="-1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001F5F"/>
                </a:solidFill>
                <a:latin typeface="Calibri"/>
                <a:cs typeface="Calibri"/>
              </a:rPr>
              <a:t>Cr)</a:t>
            </a:r>
            <a:endParaRPr sz="1400">
              <a:latin typeface="Calibri"/>
              <a:cs typeface="Calibri"/>
            </a:endParaRPr>
          </a:p>
          <a:p>
            <a:pPr marL="48895" marR="1288415">
              <a:lnSpc>
                <a:spcPts val="1440"/>
              </a:lnSpc>
              <a:spcBef>
                <a:spcPts val="35"/>
              </a:spcBef>
            </a:pPr>
            <a:r>
              <a:rPr dirty="0" sz="1200" b="1">
                <a:latin typeface="Calibri"/>
                <a:cs typeface="Calibri"/>
              </a:rPr>
              <a:t>Cash and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cash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equivalents</a:t>
            </a:r>
            <a:r>
              <a:rPr dirty="0" baseline="24305" sz="1200" spc="-15" b="1">
                <a:latin typeface="Calibri"/>
                <a:cs typeface="Calibri"/>
              </a:rPr>
              <a:t>1</a:t>
            </a:r>
            <a:r>
              <a:rPr dirty="0" sz="1200" spc="-10" b="1">
                <a:latin typeface="Calibri"/>
                <a:cs typeface="Calibri"/>
              </a:rPr>
              <a:t>: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6,257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cr </a:t>
            </a:r>
            <a:r>
              <a:rPr dirty="0" sz="1200" b="1">
                <a:latin typeface="Calibri"/>
                <a:cs typeface="Calibri"/>
              </a:rPr>
              <a:t>Run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rate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EBITDA</a:t>
            </a:r>
            <a:r>
              <a:rPr dirty="0" baseline="24305" sz="1200" b="1">
                <a:latin typeface="Calibri"/>
                <a:cs typeface="Calibri"/>
              </a:rPr>
              <a:t>2</a:t>
            </a:r>
            <a:r>
              <a:rPr dirty="0" sz="1200" b="1">
                <a:latin typeface="Calibri"/>
                <a:cs typeface="Calibri"/>
              </a:rPr>
              <a:t>: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13,900</a:t>
            </a:r>
            <a:r>
              <a:rPr dirty="0" sz="1200" spc="-25" b="1">
                <a:latin typeface="Calibri"/>
                <a:cs typeface="Calibri"/>
              </a:rPr>
              <a:t> cr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396" y="6389014"/>
            <a:ext cx="995299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270" indent="-11557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28270" algn="l"/>
              </a:tabLst>
            </a:pP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Balances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as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on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31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Dec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2022: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Includes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&amp;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equivalents,</a:t>
            </a:r>
            <a:r>
              <a:rPr dirty="0" sz="800" spc="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bank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balances,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current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investments,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market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value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10">
                <a:latin typeface="Calibri"/>
                <a:cs typeface="Calibri"/>
              </a:rPr>
              <a:t> marketable </a:t>
            </a:r>
            <a:r>
              <a:rPr dirty="0" sz="800">
                <a:latin typeface="Calibri"/>
                <a:cs typeface="Calibri"/>
              </a:rPr>
              <a:t>securities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(non-</a:t>
            </a:r>
            <a:r>
              <a:rPr dirty="0" sz="800">
                <a:latin typeface="Calibri"/>
                <a:cs typeface="Calibri"/>
              </a:rPr>
              <a:t>current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investments),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 held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as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margin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money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&amp;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deposit for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more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than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12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months.</a:t>
            </a:r>
            <a:endParaRPr sz="800">
              <a:latin typeface="Calibri"/>
              <a:cs typeface="Calibri"/>
            </a:endParaRPr>
          </a:p>
          <a:p>
            <a:pPr marL="128270" indent="-11557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28270" algn="l"/>
              </a:tabLst>
            </a:pPr>
            <a:r>
              <a:rPr dirty="0" sz="800" spc="-10">
                <a:latin typeface="Calibri"/>
                <a:cs typeface="Calibri"/>
              </a:rPr>
              <a:t>Run-</a:t>
            </a:r>
            <a:r>
              <a:rPr dirty="0" sz="800">
                <a:latin typeface="Calibri"/>
                <a:cs typeface="Calibri"/>
              </a:rPr>
              <a:t>rate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EBITDA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considers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annualized</a:t>
            </a:r>
            <a:r>
              <a:rPr dirty="0" sz="800" spc="30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EBITDA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for assets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commissioned</a:t>
            </a:r>
            <a:r>
              <a:rPr dirty="0" sz="800" spc="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after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the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start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 the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year.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Run rate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EBITDA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includes</a:t>
            </a:r>
            <a:r>
              <a:rPr dirty="0" sz="800" spc="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other</a:t>
            </a:r>
            <a:r>
              <a:rPr dirty="0" sz="800" spc="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income.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635495" y="1816607"/>
            <a:ext cx="4602480" cy="1475740"/>
            <a:chOff x="6635495" y="1816607"/>
            <a:chExt cx="4602480" cy="1475740"/>
          </a:xfrm>
        </p:grpSpPr>
        <p:sp>
          <p:nvSpPr>
            <p:cNvPr id="18" name="object 18"/>
            <p:cNvSpPr/>
            <p:nvPr/>
          </p:nvSpPr>
          <p:spPr>
            <a:xfrm>
              <a:off x="6827520" y="1816607"/>
              <a:ext cx="4220210" cy="1470660"/>
            </a:xfrm>
            <a:custGeom>
              <a:avLst/>
              <a:gdLst/>
              <a:ahLst/>
              <a:cxnLst/>
              <a:rect l="l" t="t" r="r" b="b"/>
              <a:pathLst>
                <a:path w="4220209" h="1470660">
                  <a:moveTo>
                    <a:pt x="768096" y="1296924"/>
                  </a:moveTo>
                  <a:lnTo>
                    <a:pt x="0" y="1296924"/>
                  </a:lnTo>
                  <a:lnTo>
                    <a:pt x="0" y="1470660"/>
                  </a:lnTo>
                  <a:lnTo>
                    <a:pt x="768096" y="1470660"/>
                  </a:lnTo>
                  <a:lnTo>
                    <a:pt x="768096" y="1296924"/>
                  </a:lnTo>
                  <a:close/>
                </a:path>
                <a:path w="4220209" h="1470660">
                  <a:moveTo>
                    <a:pt x="1918716" y="348996"/>
                  </a:moveTo>
                  <a:lnTo>
                    <a:pt x="1150620" y="348996"/>
                  </a:lnTo>
                  <a:lnTo>
                    <a:pt x="1150620" y="1470660"/>
                  </a:lnTo>
                  <a:lnTo>
                    <a:pt x="1918716" y="1470660"/>
                  </a:lnTo>
                  <a:lnTo>
                    <a:pt x="1918716" y="348996"/>
                  </a:lnTo>
                  <a:close/>
                </a:path>
                <a:path w="4220209" h="1470660">
                  <a:moveTo>
                    <a:pt x="3069336" y="0"/>
                  </a:moveTo>
                  <a:lnTo>
                    <a:pt x="2301240" y="0"/>
                  </a:lnTo>
                  <a:lnTo>
                    <a:pt x="2301240" y="1470660"/>
                  </a:lnTo>
                  <a:lnTo>
                    <a:pt x="3069336" y="1470660"/>
                  </a:lnTo>
                  <a:lnTo>
                    <a:pt x="3069336" y="0"/>
                  </a:lnTo>
                  <a:close/>
                </a:path>
                <a:path w="4220209" h="1470660">
                  <a:moveTo>
                    <a:pt x="4219956" y="45720"/>
                  </a:moveTo>
                  <a:lnTo>
                    <a:pt x="3451860" y="45720"/>
                  </a:lnTo>
                  <a:lnTo>
                    <a:pt x="3451860" y="1470660"/>
                  </a:lnTo>
                  <a:lnTo>
                    <a:pt x="4219956" y="1470660"/>
                  </a:lnTo>
                  <a:lnTo>
                    <a:pt x="4219956" y="4572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635495" y="3287267"/>
              <a:ext cx="4602480" cy="0"/>
            </a:xfrm>
            <a:custGeom>
              <a:avLst/>
              <a:gdLst/>
              <a:ahLst/>
              <a:cxnLst/>
              <a:rect l="l" t="t" r="r" b="b"/>
              <a:pathLst>
                <a:path w="4602480" h="0">
                  <a:moveTo>
                    <a:pt x="0" y="0"/>
                  </a:moveTo>
                  <a:lnTo>
                    <a:pt x="4602480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7132446" y="2914650"/>
            <a:ext cx="18097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404040"/>
                </a:solidFill>
                <a:latin typeface="Calibri"/>
                <a:cs typeface="Calibri"/>
              </a:rPr>
              <a:t>112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83320" y="1966087"/>
            <a:ext cx="18097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404040"/>
                </a:solidFill>
                <a:latin typeface="Calibri"/>
                <a:cs typeface="Calibri"/>
              </a:rPr>
              <a:t>724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434321" y="1617726"/>
            <a:ext cx="18097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404040"/>
                </a:solidFill>
                <a:latin typeface="Calibri"/>
                <a:cs typeface="Calibri"/>
              </a:rPr>
              <a:t>949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584942" y="1662506"/>
            <a:ext cx="18097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404040"/>
                </a:solidFill>
                <a:latin typeface="Calibri"/>
                <a:cs typeface="Calibri"/>
              </a:rPr>
              <a:t>920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59930" y="3328542"/>
            <a:ext cx="3048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latin typeface="Calibri"/>
                <a:cs typeface="Calibri"/>
              </a:rPr>
              <a:t>FY23Q4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263255" y="3328542"/>
            <a:ext cx="200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latin typeface="Calibri"/>
                <a:cs typeface="Calibri"/>
              </a:rPr>
              <a:t>FY24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413875" y="3328542"/>
            <a:ext cx="200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latin typeface="Calibri"/>
                <a:cs typeface="Calibri"/>
              </a:rPr>
              <a:t>FY25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564748" y="3328542"/>
            <a:ext cx="200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latin typeface="Calibri"/>
                <a:cs typeface="Calibri"/>
              </a:rPr>
              <a:t>FY26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32598" y="1055798"/>
            <a:ext cx="3375025" cy="517525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550"/>
              </a:spcBef>
            </a:pP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Debt</a:t>
            </a:r>
            <a:r>
              <a:rPr dirty="0" sz="1300" spc="-3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Maturity</a:t>
            </a:r>
            <a:r>
              <a:rPr dirty="0" sz="1300" spc="-1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Profile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dirty="0" sz="1300" spc="-3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31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Dec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2022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(INR</a:t>
            </a:r>
            <a:r>
              <a:rPr dirty="0" sz="1300" spc="-4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Cr)</a:t>
            </a:r>
            <a:endParaRPr sz="13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425"/>
              </a:spcBef>
            </a:pPr>
            <a:r>
              <a:rPr dirty="0" sz="1200" b="1">
                <a:latin typeface="Calibri"/>
                <a:cs typeface="Calibri"/>
              </a:rPr>
              <a:t>Cash and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cash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equivalents</a:t>
            </a:r>
            <a:r>
              <a:rPr dirty="0" baseline="24305" sz="1200" spc="-15" b="1">
                <a:latin typeface="Calibri"/>
                <a:cs typeface="Calibri"/>
              </a:rPr>
              <a:t>1</a:t>
            </a:r>
            <a:r>
              <a:rPr dirty="0" sz="1200" spc="-10" b="1">
                <a:latin typeface="Calibri"/>
                <a:cs typeface="Calibri"/>
              </a:rPr>
              <a:t>: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3,486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cr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32598" y="1547876"/>
            <a:ext cx="17405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Run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rate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EBITDA</a:t>
            </a:r>
            <a:r>
              <a:rPr dirty="0" baseline="24305" sz="1200" b="1">
                <a:latin typeface="Calibri"/>
                <a:cs typeface="Calibri"/>
              </a:rPr>
              <a:t>2</a:t>
            </a:r>
            <a:r>
              <a:rPr dirty="0" sz="1200" b="1">
                <a:latin typeface="Calibri"/>
                <a:cs typeface="Calibri"/>
              </a:rPr>
              <a:t>: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5,989</a:t>
            </a:r>
            <a:r>
              <a:rPr dirty="0" sz="1200" spc="-25" b="1">
                <a:latin typeface="Calibri"/>
                <a:cs typeface="Calibri"/>
              </a:rPr>
              <a:t> cr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79475" y="4703064"/>
            <a:ext cx="5009515" cy="1163320"/>
            <a:chOff x="379475" y="4703064"/>
            <a:chExt cx="5009515" cy="1163320"/>
          </a:xfrm>
        </p:grpSpPr>
        <p:sp>
          <p:nvSpPr>
            <p:cNvPr id="31" name="object 31"/>
            <p:cNvSpPr/>
            <p:nvPr/>
          </p:nvSpPr>
          <p:spPr>
            <a:xfrm>
              <a:off x="545592" y="4703063"/>
              <a:ext cx="4677410" cy="1158240"/>
            </a:xfrm>
            <a:custGeom>
              <a:avLst/>
              <a:gdLst/>
              <a:ahLst/>
              <a:cxnLst/>
              <a:rect l="l" t="t" r="r" b="b"/>
              <a:pathLst>
                <a:path w="4677410" h="1158239">
                  <a:moveTo>
                    <a:pt x="920496" y="1129284"/>
                  </a:moveTo>
                  <a:lnTo>
                    <a:pt x="0" y="1129284"/>
                  </a:lnTo>
                  <a:lnTo>
                    <a:pt x="0" y="1158240"/>
                  </a:lnTo>
                  <a:lnTo>
                    <a:pt x="920496" y="1158240"/>
                  </a:lnTo>
                  <a:lnTo>
                    <a:pt x="920496" y="1129284"/>
                  </a:lnTo>
                  <a:close/>
                </a:path>
                <a:path w="4677410" h="1158239">
                  <a:moveTo>
                    <a:pt x="2173224" y="1037844"/>
                  </a:moveTo>
                  <a:lnTo>
                    <a:pt x="1251204" y="1037844"/>
                  </a:lnTo>
                  <a:lnTo>
                    <a:pt x="1251204" y="1158240"/>
                  </a:lnTo>
                  <a:lnTo>
                    <a:pt x="2173224" y="1158240"/>
                  </a:lnTo>
                  <a:lnTo>
                    <a:pt x="2173224" y="1037844"/>
                  </a:lnTo>
                  <a:close/>
                </a:path>
                <a:path w="4677410" h="1158239">
                  <a:moveTo>
                    <a:pt x="3424428" y="0"/>
                  </a:moveTo>
                  <a:lnTo>
                    <a:pt x="2503932" y="0"/>
                  </a:lnTo>
                  <a:lnTo>
                    <a:pt x="2503932" y="1158240"/>
                  </a:lnTo>
                  <a:lnTo>
                    <a:pt x="3424428" y="1158240"/>
                  </a:lnTo>
                  <a:lnTo>
                    <a:pt x="3424428" y="0"/>
                  </a:lnTo>
                  <a:close/>
                </a:path>
                <a:path w="4677410" h="1158239">
                  <a:moveTo>
                    <a:pt x="4677156" y="999744"/>
                  </a:moveTo>
                  <a:lnTo>
                    <a:pt x="3756660" y="999744"/>
                  </a:lnTo>
                  <a:lnTo>
                    <a:pt x="3756660" y="1158240"/>
                  </a:lnTo>
                  <a:lnTo>
                    <a:pt x="4677156" y="1158240"/>
                  </a:lnTo>
                  <a:lnTo>
                    <a:pt x="4677156" y="99974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79475" y="5861304"/>
              <a:ext cx="5009515" cy="0"/>
            </a:xfrm>
            <a:custGeom>
              <a:avLst/>
              <a:gdLst/>
              <a:ahLst/>
              <a:cxnLst/>
              <a:rect l="l" t="t" r="r" b="b"/>
              <a:pathLst>
                <a:path w="5009515" h="0">
                  <a:moveTo>
                    <a:pt x="0" y="0"/>
                  </a:moveTo>
                  <a:lnTo>
                    <a:pt x="5009388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917854" y="5617565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404040"/>
                </a:solidFill>
                <a:latin typeface="Calibri"/>
                <a:cs typeface="Calibri"/>
              </a:rPr>
              <a:t>305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27885" y="5526430"/>
            <a:ext cx="28702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1,224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351403" y="4489195"/>
            <a:ext cx="34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11,729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632705" y="5488025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1,617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3612" y="5917183"/>
            <a:ext cx="3835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FY23Q4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133345" y="591718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Calibri"/>
                <a:cs typeface="Calibri"/>
              </a:rPr>
              <a:t>FY24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386073" y="591718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Calibri"/>
                <a:cs typeface="Calibri"/>
              </a:rPr>
              <a:t>FY25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638547" y="591718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Calibri"/>
                <a:cs typeface="Calibri"/>
              </a:rPr>
              <a:t>FY26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108862" y="3758310"/>
            <a:ext cx="3388360" cy="594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Debt</a:t>
            </a:r>
            <a:r>
              <a:rPr dirty="0" sz="1300" spc="-3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Maturity</a:t>
            </a:r>
            <a:r>
              <a:rPr dirty="0" sz="1300" spc="-1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Profile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dirty="0" sz="1300" spc="-3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31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Dec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2022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(INR</a:t>
            </a:r>
            <a:r>
              <a:rPr dirty="0" sz="1300" spc="-4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Cr)</a:t>
            </a:r>
            <a:endParaRPr sz="1300">
              <a:latin typeface="Calibri"/>
              <a:cs typeface="Calibri"/>
            </a:endParaRPr>
          </a:p>
          <a:p>
            <a:pPr marL="38100" marR="1057910">
              <a:lnSpc>
                <a:spcPct val="100000"/>
              </a:lnSpc>
              <a:spcBef>
                <a:spcPts val="40"/>
              </a:spcBef>
            </a:pPr>
            <a:r>
              <a:rPr dirty="0" sz="1200" b="1">
                <a:latin typeface="Calibri"/>
                <a:cs typeface="Calibri"/>
              </a:rPr>
              <a:t>Cash and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cash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equivalents</a:t>
            </a:r>
            <a:r>
              <a:rPr dirty="0" baseline="24305" sz="1200" spc="-15" b="1">
                <a:latin typeface="Calibri"/>
                <a:cs typeface="Calibri"/>
              </a:rPr>
              <a:t>1</a:t>
            </a:r>
            <a:r>
              <a:rPr dirty="0" sz="1200" spc="-10" b="1">
                <a:latin typeface="Calibri"/>
                <a:cs typeface="Calibri"/>
              </a:rPr>
              <a:t>: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4,711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cr </a:t>
            </a:r>
            <a:r>
              <a:rPr dirty="0" sz="1200" b="1">
                <a:latin typeface="Calibri"/>
                <a:cs typeface="Calibri"/>
              </a:rPr>
              <a:t>Run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rate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EBITDA</a:t>
            </a:r>
            <a:r>
              <a:rPr dirty="0" baseline="24305" sz="1200" b="1">
                <a:latin typeface="Calibri"/>
                <a:cs typeface="Calibri"/>
              </a:rPr>
              <a:t>2</a:t>
            </a:r>
            <a:r>
              <a:rPr dirty="0" sz="1200" b="1">
                <a:latin typeface="Calibri"/>
                <a:cs typeface="Calibri"/>
              </a:rPr>
              <a:t>: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7,380</a:t>
            </a:r>
            <a:r>
              <a:rPr dirty="0" sz="1200" spc="-25" b="1">
                <a:latin typeface="Calibri"/>
                <a:cs typeface="Calibri"/>
              </a:rPr>
              <a:t> cr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046470" y="4192016"/>
            <a:ext cx="3155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APSEZ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maturity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cashflow</a:t>
            </a:r>
            <a:r>
              <a:rPr dirty="0" sz="1200" spc="-10">
                <a:latin typeface="Calibri"/>
                <a:cs typeface="Calibri"/>
              </a:rPr>
              <a:t> envelop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046470" y="4527295"/>
            <a:ext cx="36029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ATL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maturity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flow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cashflow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envelop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046470" y="4862829"/>
            <a:ext cx="55048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AGEL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24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maturity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outside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cashflow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envelop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comprehensive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finance </a:t>
            </a:r>
            <a:r>
              <a:rPr dirty="0" sz="1200" spc="-20">
                <a:latin typeface="Calibri"/>
                <a:cs typeface="Calibri"/>
              </a:rPr>
              <a:t>plan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268973" y="5380990"/>
            <a:ext cx="48996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USD 460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10">
                <a:latin typeface="Calibri"/>
                <a:cs typeface="Calibri"/>
              </a:rPr>
              <a:t>received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inbound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15 year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USPP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 </a:t>
            </a:r>
            <a:r>
              <a:rPr dirty="0" sz="1200" spc="-10">
                <a:latin typeface="Calibri"/>
                <a:cs typeface="Calibri"/>
              </a:rPr>
              <a:t>amount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~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350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Mn)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68973" y="5716320"/>
            <a:ext cx="28962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AGEL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available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credit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</a:t>
            </a:r>
            <a:r>
              <a:rPr dirty="0" sz="1200" spc="-10">
                <a:latin typeface="Calibri"/>
                <a:cs typeface="Calibri"/>
              </a:rPr>
              <a:t> Corporate)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~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800 </a:t>
            </a:r>
            <a:r>
              <a:rPr dirty="0" sz="1200" spc="-25">
                <a:latin typeface="Calibri"/>
                <a:cs typeface="Calibri"/>
              </a:rPr>
              <a:t>Mn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Adani</a:t>
            </a:r>
            <a:r>
              <a:rPr dirty="0" sz="2200" spc="-45"/>
              <a:t> </a:t>
            </a:r>
            <a:r>
              <a:rPr dirty="0" sz="2200" spc="-10"/>
              <a:t>Portfolio:</a:t>
            </a:r>
            <a:r>
              <a:rPr dirty="0" sz="2200" spc="-50"/>
              <a:t> </a:t>
            </a:r>
            <a:r>
              <a:rPr dirty="0" sz="2200"/>
              <a:t>Ratings</a:t>
            </a:r>
            <a:r>
              <a:rPr dirty="0" sz="2200" spc="-25"/>
              <a:t> </a:t>
            </a:r>
            <a:r>
              <a:rPr dirty="0" sz="2200" spc="-10"/>
              <a:t>affirmation</a:t>
            </a:r>
            <a:endParaRPr sz="2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5356" y="1209928"/>
          <a:ext cx="10593070" cy="3067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0"/>
                <a:gridCol w="5131434"/>
              </a:tblGrid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Company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2141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Ports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Special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Economic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Zone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(APSEZ)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33045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APSEZ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(S&amp;P,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Fitch)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Baa3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marL="182880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International</a:t>
                      </a:r>
                      <a:r>
                        <a:rPr dirty="0" sz="1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Container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Terminal Private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(AICTPL)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(S&amp;P,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Fitch)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Baa3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Transmission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(ATL)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33679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ATL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USPP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(Fitch)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Baa3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182880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Electricity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Mumbai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(AEML)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(S&amp;P,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Fitch)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Baa3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204470">
                <a:tc>
                  <a:txBody>
                    <a:bodyPr/>
                    <a:lstStyle/>
                    <a:p>
                      <a:pPr marL="182880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Transmission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Step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One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(ATSOL)</a:t>
                      </a:r>
                      <a:r>
                        <a:rPr dirty="0" sz="12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Obligor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Group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(Fitch)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Baa3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Green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Energy</a:t>
                      </a:r>
                      <a:r>
                        <a:rPr dirty="0" sz="12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(AGEL)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33679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AGEL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List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Co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Ba3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182880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AGEL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RG2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(Fitch)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Ba1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(Moody's)/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BB+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(S&amp;P)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204470">
                <a:tc>
                  <a:txBody>
                    <a:bodyPr/>
                    <a:lstStyle/>
                    <a:p>
                      <a:pPr marL="182880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AGEL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RG1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BB+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(Fitch)/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Ba2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(Moody's)/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BB-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(S&amp;P)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Airport</a:t>
                      </a:r>
                      <a:r>
                        <a:rPr dirty="0" sz="12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Holdings</a:t>
                      </a:r>
                      <a:r>
                        <a:rPr dirty="0" sz="12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(AAHL)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Mumbai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International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Airport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(MIAL)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BB+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(Fitch)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5356" y="4741671"/>
          <a:ext cx="10553700" cy="1971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2300"/>
                <a:gridCol w="3865879"/>
                <a:gridCol w="4719320"/>
              </a:tblGrid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Listed</a:t>
                      </a:r>
                      <a:r>
                        <a:rPr dirty="0" sz="1200" spc="-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Entities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Domestic</a:t>
                      </a:r>
                      <a:r>
                        <a:rPr dirty="0" sz="12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Rating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Agencies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INR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Ambuja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ACC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CRISIL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AAA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APSEZ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Ratings,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ICRA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AA+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ATL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AA+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ATGL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ICRA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AA-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AWL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CARE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AA-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AEL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CARE,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A+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AGEL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A+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APL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CRISIL,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A, </a:t>
                      </a:r>
                      <a:r>
                        <a:rPr dirty="0" sz="1200" spc="-50">
                          <a:latin typeface="Calibri"/>
                          <a:cs typeface="Calibri"/>
                        </a:rPr>
                        <a:t>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85368" y="927862"/>
            <a:ext cx="21062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Calibri"/>
                <a:cs typeface="Calibri"/>
              </a:rPr>
              <a:t>International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Credit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Ratings: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5368" y="4460494"/>
            <a:ext cx="183451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Calibri"/>
                <a:cs typeface="Calibri"/>
              </a:rPr>
              <a:t>Domestic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Credit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Ratings: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36756" y="6480454"/>
            <a:ext cx="1689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3069B4"/>
                </a:solidFill>
                <a:latin typeface="Calibri"/>
                <a:cs typeface="Calibri"/>
              </a:rPr>
              <a:t>11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r" marL="1132205" marR="5080">
              <a:lnSpc>
                <a:spcPts val="19145"/>
              </a:lnSpc>
              <a:spcBef>
                <a:spcPts val="95"/>
              </a:spcBef>
            </a:pPr>
            <a:r>
              <a:rPr dirty="0" sz="16000" spc="-50">
                <a:solidFill>
                  <a:srgbClr val="000000"/>
                </a:solidFill>
                <a:latin typeface="Calibri Light"/>
                <a:cs typeface="Calibri Light"/>
              </a:rPr>
              <a:t>3</a:t>
            </a:r>
            <a:endParaRPr sz="16000">
              <a:latin typeface="Calibri Light"/>
              <a:cs typeface="Calibri Light"/>
            </a:endParaRPr>
          </a:p>
          <a:p>
            <a:pPr marL="1144905">
              <a:lnSpc>
                <a:spcPts val="2825"/>
              </a:lnSpc>
            </a:pPr>
            <a:r>
              <a:rPr dirty="0" sz="2400">
                <a:solidFill>
                  <a:srgbClr val="000000"/>
                </a:solidFill>
              </a:rPr>
              <a:t>Adani</a:t>
            </a:r>
            <a:r>
              <a:rPr dirty="0" sz="2400" spc="-5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Portfolio</a:t>
            </a:r>
            <a:r>
              <a:rPr dirty="0" sz="2400" spc="-6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–</a:t>
            </a:r>
            <a:r>
              <a:rPr dirty="0" sz="2400" spc="-4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Risk</a:t>
            </a:r>
            <a:r>
              <a:rPr dirty="0" sz="2400" spc="-6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Management</a:t>
            </a:r>
            <a:r>
              <a:rPr dirty="0" sz="2400" spc="-5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Tested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Adani</a:t>
            </a:r>
            <a:r>
              <a:rPr dirty="0" sz="2200" spc="-70"/>
              <a:t> </a:t>
            </a:r>
            <a:r>
              <a:rPr dirty="0" sz="2200" spc="-20"/>
              <a:t>Transmission</a:t>
            </a:r>
            <a:r>
              <a:rPr dirty="0" sz="2200" spc="-85"/>
              <a:t> </a:t>
            </a:r>
            <a:r>
              <a:rPr dirty="0" sz="2200"/>
              <a:t>Limited</a:t>
            </a:r>
            <a:r>
              <a:rPr dirty="0" sz="2200" spc="-60"/>
              <a:t> </a:t>
            </a:r>
            <a:r>
              <a:rPr dirty="0" sz="2200" spc="-20"/>
              <a:t>(ATL)</a:t>
            </a:r>
            <a:r>
              <a:rPr dirty="0" sz="2200" spc="-50"/>
              <a:t> </a:t>
            </a:r>
            <a:r>
              <a:rPr dirty="0" sz="2200"/>
              <a:t>–</a:t>
            </a:r>
            <a:r>
              <a:rPr dirty="0" sz="2200" spc="-70"/>
              <a:t> </a:t>
            </a:r>
            <a:r>
              <a:rPr dirty="0" sz="2200"/>
              <a:t>Ring</a:t>
            </a:r>
            <a:r>
              <a:rPr dirty="0" sz="2200" spc="-60"/>
              <a:t> </a:t>
            </a:r>
            <a:r>
              <a:rPr dirty="0" sz="2200"/>
              <a:t>fence</a:t>
            </a:r>
            <a:r>
              <a:rPr dirty="0" sz="2200" spc="-55"/>
              <a:t> </a:t>
            </a:r>
            <a:r>
              <a:rPr dirty="0" sz="2200"/>
              <a:t>structure</a:t>
            </a:r>
            <a:r>
              <a:rPr dirty="0" sz="2200" spc="-75"/>
              <a:t> </a:t>
            </a:r>
            <a:r>
              <a:rPr dirty="0" sz="2200"/>
              <a:t>integrity</a:t>
            </a:r>
            <a:r>
              <a:rPr dirty="0" sz="2200" spc="-55"/>
              <a:t> </a:t>
            </a:r>
            <a:r>
              <a:rPr dirty="0" sz="2200" spc="-10"/>
              <a:t>tested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1636756" y="6480454"/>
            <a:ext cx="1689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3069B4"/>
                </a:solidFill>
                <a:latin typeface="Calibri"/>
                <a:cs typeface="Calibri"/>
              </a:rPr>
              <a:t>13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4188" y="6460642"/>
            <a:ext cx="45053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Calibri"/>
                <a:cs typeface="Calibri"/>
              </a:rPr>
              <a:t>*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Due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to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CERC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restriction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51%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shares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are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pledged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favour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ATL</a:t>
            </a:r>
            <a:r>
              <a:rPr dirty="0" sz="800" spc="1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**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Currently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AEML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holds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shares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AEMIL.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5447" y="893452"/>
            <a:ext cx="11690985" cy="5041900"/>
            <a:chOff x="155447" y="893452"/>
            <a:chExt cx="11690985" cy="50419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447" y="893452"/>
              <a:ext cx="11690805" cy="50416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4047" y="4832603"/>
              <a:ext cx="216407" cy="21640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071866" y="4853432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 b="1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67827" y="4784852"/>
            <a:ext cx="9950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333333"/>
                </a:solidFill>
                <a:latin typeface="Calibri"/>
                <a:cs typeface="Calibri"/>
              </a:rPr>
              <a:t>Construction</a:t>
            </a:r>
            <a:r>
              <a:rPr dirty="0" sz="900" spc="-4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333333"/>
                </a:solidFill>
                <a:latin typeface="Calibri"/>
                <a:cs typeface="Calibri"/>
              </a:rPr>
              <a:t>Facility</a:t>
            </a:r>
            <a:r>
              <a:rPr dirty="0" sz="900" spc="50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333333"/>
                </a:solidFill>
                <a:latin typeface="Calibri"/>
                <a:cs typeface="Calibri"/>
              </a:rPr>
              <a:t>(SWIFT1)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Adani</a:t>
            </a:r>
            <a:r>
              <a:rPr dirty="0" spc="-55"/>
              <a:t> </a:t>
            </a:r>
            <a:r>
              <a:rPr dirty="0" spc="-10"/>
              <a:t>Portfolio-</a:t>
            </a:r>
            <a:r>
              <a:rPr dirty="0" spc="-40"/>
              <a:t> </a:t>
            </a:r>
            <a:r>
              <a:rPr dirty="0" spc="-10"/>
              <a:t>rate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/>
              <a:t>FX</a:t>
            </a:r>
            <a:r>
              <a:rPr dirty="0" spc="-40"/>
              <a:t> </a:t>
            </a:r>
            <a:r>
              <a:rPr dirty="0"/>
              <a:t>risk</a:t>
            </a:r>
            <a:r>
              <a:rPr dirty="0" spc="-30"/>
              <a:t> </a:t>
            </a:r>
            <a:r>
              <a:rPr dirty="0"/>
              <a:t>management</a:t>
            </a:r>
            <a:r>
              <a:rPr dirty="0" spc="-50"/>
              <a:t> </a:t>
            </a:r>
            <a:r>
              <a:rPr dirty="0" spc="-10"/>
              <a:t>tested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36756" y="6480454"/>
            <a:ext cx="1689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3069B4"/>
                </a:solidFill>
                <a:latin typeface="Calibri"/>
                <a:cs typeface="Calibri"/>
              </a:rPr>
              <a:t>14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625" y="6364630"/>
            <a:ext cx="531177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Calibri"/>
                <a:cs typeface="Calibri"/>
              </a:rPr>
              <a:t>Note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 spc="-50">
                <a:latin typeface="Calibri"/>
                <a:cs typeface="Calibri"/>
              </a:rPr>
              <a:t>–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40665" algn="l"/>
              </a:tabLst>
            </a:pPr>
            <a:r>
              <a:rPr dirty="0" sz="700" spc="-25">
                <a:latin typeface="Calibri"/>
                <a:cs typeface="Calibri"/>
              </a:rPr>
              <a:t>1.</a:t>
            </a:r>
            <a:r>
              <a:rPr dirty="0" sz="700">
                <a:latin typeface="Calibri"/>
                <a:cs typeface="Calibri"/>
              </a:rPr>
              <a:t>	Debt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Outstanding</a:t>
            </a:r>
            <a:r>
              <a:rPr dirty="0" sz="700" spc="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=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Closing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INR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Debt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–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Derivative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assets/ Other </a:t>
            </a:r>
            <a:r>
              <a:rPr dirty="0" sz="700" spc="-10">
                <a:latin typeface="Calibri"/>
                <a:cs typeface="Calibri"/>
              </a:rPr>
              <a:t>comprehensive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income</a:t>
            </a:r>
            <a:r>
              <a:rPr dirty="0" sz="700" spc="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–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Hedge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Reserve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Cash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available for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servicing =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25">
                <a:latin typeface="Calibri"/>
                <a:cs typeface="Calibri"/>
              </a:rPr>
              <a:t>RG1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9225" y="6577990"/>
            <a:ext cx="41243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6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4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+ RG2</a:t>
            </a:r>
            <a:r>
              <a:rPr dirty="0" sz="700" spc="-3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+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AGEL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Holdco</a:t>
            </a:r>
            <a:r>
              <a:rPr dirty="0" sz="700" spc="10">
                <a:latin typeface="Calibri"/>
                <a:cs typeface="Calibri"/>
              </a:rPr>
              <a:t> </a:t>
            </a:r>
            <a:r>
              <a:rPr dirty="0" sz="700" spc="-20">
                <a:latin typeface="Calibri"/>
                <a:cs typeface="Calibri"/>
              </a:rPr>
              <a:t>FCFE</a:t>
            </a:r>
            <a:endParaRPr sz="7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tabLst>
                <a:tab pos="266065" algn="l"/>
              </a:tabLst>
            </a:pPr>
            <a:r>
              <a:rPr dirty="0" sz="700" spc="-25">
                <a:latin typeface="Calibri"/>
                <a:cs typeface="Calibri"/>
              </a:rPr>
              <a:t>2.</a:t>
            </a:r>
            <a:r>
              <a:rPr dirty="0" sz="700">
                <a:latin typeface="Calibri"/>
                <a:cs typeface="Calibri"/>
              </a:rPr>
              <a:t>	Assumed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the USD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/INR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Exchange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rate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for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11</a:t>
            </a:r>
            <a:r>
              <a:rPr dirty="0" baseline="24691" sz="675">
                <a:latin typeface="Calibri"/>
                <a:cs typeface="Calibri"/>
              </a:rPr>
              <a:t>th</a:t>
            </a:r>
            <a:r>
              <a:rPr dirty="0" baseline="24691" sz="675" spc="89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October,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2022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@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INR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82.39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is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constant till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31</a:t>
            </a:r>
            <a:r>
              <a:rPr dirty="0" baseline="24691" sz="675">
                <a:latin typeface="Calibri"/>
                <a:cs typeface="Calibri"/>
              </a:rPr>
              <a:t>st</a:t>
            </a:r>
            <a:r>
              <a:rPr dirty="0" baseline="24691" sz="675" spc="67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March,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 spc="-20">
                <a:latin typeface="Calibri"/>
                <a:cs typeface="Calibri"/>
              </a:rPr>
              <a:t>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98538" y="6652666"/>
            <a:ext cx="19970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Calibri"/>
                <a:cs typeface="Calibri"/>
              </a:rPr>
              <a:t>Negative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gap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between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unhedged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and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hedged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servicing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98538" y="6406388"/>
            <a:ext cx="19602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Calibri"/>
                <a:cs typeface="Calibri"/>
              </a:rPr>
              <a:t>Positive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gap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between</a:t>
            </a:r>
            <a:r>
              <a:rPr dirty="0" sz="700" spc="-10">
                <a:latin typeface="Calibri"/>
                <a:cs typeface="Calibri"/>
              </a:rPr>
              <a:t> unhedged </a:t>
            </a:r>
            <a:r>
              <a:rPr dirty="0" sz="700">
                <a:latin typeface="Calibri"/>
                <a:cs typeface="Calibri"/>
              </a:rPr>
              <a:t>and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hedged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servicing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28232" y="6662928"/>
            <a:ext cx="467995" cy="166370"/>
          </a:xfrm>
          <a:custGeom>
            <a:avLst/>
            <a:gdLst/>
            <a:ahLst/>
            <a:cxnLst/>
            <a:rect l="l" t="t" r="r" b="b"/>
            <a:pathLst>
              <a:path w="467995" h="166370">
                <a:moveTo>
                  <a:pt x="0" y="166116"/>
                </a:moveTo>
                <a:lnTo>
                  <a:pt x="467867" y="166116"/>
                </a:lnTo>
                <a:lnTo>
                  <a:pt x="467867" y="0"/>
                </a:lnTo>
                <a:lnTo>
                  <a:pt x="0" y="0"/>
                </a:lnTo>
                <a:lnTo>
                  <a:pt x="0" y="166116"/>
                </a:lnTo>
                <a:close/>
              </a:path>
            </a:pathLst>
          </a:custGeom>
          <a:ln w="12700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425184" y="6416040"/>
            <a:ext cx="467995" cy="166370"/>
          </a:xfrm>
          <a:custGeom>
            <a:avLst/>
            <a:gdLst/>
            <a:ahLst/>
            <a:cxnLst/>
            <a:rect l="l" t="t" r="r" b="b"/>
            <a:pathLst>
              <a:path w="467995" h="166370">
                <a:moveTo>
                  <a:pt x="0" y="166116"/>
                </a:moveTo>
                <a:lnTo>
                  <a:pt x="467867" y="166116"/>
                </a:lnTo>
                <a:lnTo>
                  <a:pt x="467867" y="0"/>
                </a:lnTo>
                <a:lnTo>
                  <a:pt x="0" y="0"/>
                </a:lnTo>
                <a:lnTo>
                  <a:pt x="0" y="166116"/>
                </a:lnTo>
                <a:close/>
              </a:path>
            </a:pathLst>
          </a:custGeom>
          <a:ln w="12700">
            <a:solidFill>
              <a:srgbClr val="538235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485965" y="4207764"/>
            <a:ext cx="4839335" cy="1377950"/>
            <a:chOff x="485965" y="4207764"/>
            <a:chExt cx="4839335" cy="1377950"/>
          </a:xfrm>
        </p:grpSpPr>
        <p:sp>
          <p:nvSpPr>
            <p:cNvPr id="11" name="object 11"/>
            <p:cNvSpPr/>
            <p:nvPr/>
          </p:nvSpPr>
          <p:spPr>
            <a:xfrm>
              <a:off x="3267443" y="4207763"/>
              <a:ext cx="1690370" cy="1373505"/>
            </a:xfrm>
            <a:custGeom>
              <a:avLst/>
              <a:gdLst/>
              <a:ahLst/>
              <a:cxnLst/>
              <a:rect l="l" t="t" r="r" b="b"/>
              <a:pathLst>
                <a:path w="1690370" h="1373504">
                  <a:moveTo>
                    <a:pt x="483120" y="667512"/>
                  </a:moveTo>
                  <a:lnTo>
                    <a:pt x="0" y="667512"/>
                  </a:lnTo>
                  <a:lnTo>
                    <a:pt x="0" y="1373124"/>
                  </a:lnTo>
                  <a:lnTo>
                    <a:pt x="483120" y="1373124"/>
                  </a:lnTo>
                  <a:lnTo>
                    <a:pt x="483120" y="667512"/>
                  </a:lnTo>
                  <a:close/>
                </a:path>
                <a:path w="1690370" h="1373504">
                  <a:moveTo>
                    <a:pt x="1690128" y="0"/>
                  </a:moveTo>
                  <a:lnTo>
                    <a:pt x="1207020" y="0"/>
                  </a:lnTo>
                  <a:lnTo>
                    <a:pt x="1207020" y="1373124"/>
                  </a:lnTo>
                  <a:lnTo>
                    <a:pt x="1690128" y="1373124"/>
                  </a:lnTo>
                  <a:lnTo>
                    <a:pt x="1690128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90727" y="5580888"/>
              <a:ext cx="4829810" cy="0"/>
            </a:xfrm>
            <a:custGeom>
              <a:avLst/>
              <a:gdLst/>
              <a:ahLst/>
              <a:cxnLst/>
              <a:rect l="l" t="t" r="r" b="b"/>
              <a:pathLst>
                <a:path w="4829810" h="0">
                  <a:moveTo>
                    <a:pt x="0" y="0"/>
                  </a:moveTo>
                  <a:lnTo>
                    <a:pt x="4829556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93469" y="4856226"/>
              <a:ext cx="3622675" cy="289560"/>
            </a:xfrm>
            <a:custGeom>
              <a:avLst/>
              <a:gdLst/>
              <a:ahLst/>
              <a:cxnLst/>
              <a:rect l="l" t="t" r="r" b="b"/>
              <a:pathLst>
                <a:path w="3622675" h="289560">
                  <a:moveTo>
                    <a:pt x="0" y="289560"/>
                  </a:moveTo>
                  <a:lnTo>
                    <a:pt x="1208532" y="150875"/>
                  </a:lnTo>
                  <a:lnTo>
                    <a:pt x="2415540" y="0"/>
                  </a:lnTo>
                  <a:lnTo>
                    <a:pt x="3622548" y="13716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51916" y="5222747"/>
            <a:ext cx="483234" cy="358140"/>
          </a:xfrm>
          <a:prstGeom prst="rect">
            <a:avLst/>
          </a:prstGeom>
          <a:solidFill>
            <a:srgbClr val="DAE2F3"/>
          </a:solidFill>
        </p:spPr>
        <p:txBody>
          <a:bodyPr wrap="square" lIns="0" tIns="254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900">
              <a:latin typeface="Times New Roman"/>
              <a:cs typeface="Times New Roman"/>
            </a:endParaRPr>
          </a:p>
          <a:p>
            <a:pPr marL="167005">
              <a:lnSpc>
                <a:spcPct val="100000"/>
              </a:lnSpc>
            </a:pPr>
            <a:r>
              <a:rPr dirty="0" sz="900" spc="-25">
                <a:latin typeface="Calibri"/>
                <a:cs typeface="Calibri"/>
              </a:rPr>
              <a:t>559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39111" y="5287009"/>
            <a:ext cx="541020" cy="289560"/>
          </a:xfrm>
          <a:prstGeom prst="rect">
            <a:avLst/>
          </a:prstGeom>
          <a:solidFill>
            <a:srgbClr val="DAE2F3"/>
          </a:solidFill>
        </p:spPr>
        <p:txBody>
          <a:bodyPr wrap="square" lIns="0" tIns="92710" rIns="0" bIns="0" rtlCol="0" vert="horz">
            <a:spAutoFit/>
          </a:bodyPr>
          <a:lstStyle/>
          <a:p>
            <a:pPr marL="187325">
              <a:lnSpc>
                <a:spcPct val="100000"/>
              </a:lnSpc>
              <a:spcBef>
                <a:spcPts val="730"/>
              </a:spcBef>
            </a:pPr>
            <a:r>
              <a:rPr dirty="0" sz="900" spc="-25">
                <a:latin typeface="Calibri"/>
                <a:cs typeface="Calibri"/>
              </a:rPr>
              <a:t>478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79089" y="5367020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1,097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86478" y="5367020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2,136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44041" y="4141978"/>
            <a:ext cx="4205605" cy="1145540"/>
            <a:chOff x="844041" y="4141978"/>
            <a:chExt cx="4205605" cy="1145540"/>
          </a:xfrm>
        </p:grpSpPr>
        <p:sp>
          <p:nvSpPr>
            <p:cNvPr id="19" name="object 19"/>
            <p:cNvSpPr/>
            <p:nvPr/>
          </p:nvSpPr>
          <p:spPr>
            <a:xfrm>
              <a:off x="4715256" y="4826508"/>
              <a:ext cx="329565" cy="43180"/>
            </a:xfrm>
            <a:custGeom>
              <a:avLst/>
              <a:gdLst/>
              <a:ahLst/>
              <a:cxnLst/>
              <a:rect l="l" t="t" r="r" b="b"/>
              <a:pathLst>
                <a:path w="329564" h="43179">
                  <a:moveTo>
                    <a:pt x="0" y="42672"/>
                  </a:moveTo>
                  <a:lnTo>
                    <a:pt x="271272" y="0"/>
                  </a:lnTo>
                  <a:lnTo>
                    <a:pt x="329184" y="0"/>
                  </a:lnTo>
                </a:path>
              </a:pathLst>
            </a:custGeom>
            <a:ln w="952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50391" y="5007864"/>
              <a:ext cx="1729739" cy="273050"/>
            </a:xfrm>
            <a:custGeom>
              <a:avLst/>
              <a:gdLst/>
              <a:ahLst/>
              <a:cxnLst/>
              <a:rect l="l" t="t" r="r" b="b"/>
              <a:pathLst>
                <a:path w="1729739" h="273050">
                  <a:moveTo>
                    <a:pt x="1188720" y="272796"/>
                  </a:moveTo>
                  <a:lnTo>
                    <a:pt x="1729739" y="272796"/>
                  </a:lnTo>
                  <a:lnTo>
                    <a:pt x="1729739" y="0"/>
                  </a:lnTo>
                  <a:lnTo>
                    <a:pt x="1188720" y="0"/>
                  </a:lnTo>
                  <a:lnTo>
                    <a:pt x="1188720" y="272796"/>
                  </a:lnTo>
                  <a:close/>
                </a:path>
                <a:path w="1729739" h="273050">
                  <a:moveTo>
                    <a:pt x="0" y="220980"/>
                  </a:moveTo>
                  <a:lnTo>
                    <a:pt x="515112" y="220980"/>
                  </a:lnTo>
                  <a:lnTo>
                    <a:pt x="515112" y="120396"/>
                  </a:lnTo>
                  <a:lnTo>
                    <a:pt x="0" y="120396"/>
                  </a:lnTo>
                  <a:lnTo>
                    <a:pt x="0" y="220980"/>
                  </a:lnTo>
                  <a:close/>
                </a:path>
              </a:pathLst>
            </a:custGeom>
            <a:ln w="12700">
              <a:solidFill>
                <a:srgbClr val="538235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427220" y="4148328"/>
              <a:ext cx="586740" cy="707390"/>
            </a:xfrm>
            <a:custGeom>
              <a:avLst/>
              <a:gdLst/>
              <a:ahLst/>
              <a:cxnLst/>
              <a:rect l="l" t="t" r="r" b="b"/>
              <a:pathLst>
                <a:path w="586739" h="707389">
                  <a:moveTo>
                    <a:pt x="0" y="707136"/>
                  </a:moveTo>
                  <a:lnTo>
                    <a:pt x="586739" y="707136"/>
                  </a:lnTo>
                  <a:lnTo>
                    <a:pt x="586739" y="0"/>
                  </a:lnTo>
                  <a:lnTo>
                    <a:pt x="0" y="0"/>
                  </a:lnTo>
                  <a:lnTo>
                    <a:pt x="0" y="707136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006551" y="4899736"/>
            <a:ext cx="19939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Calibri"/>
                <a:cs typeface="Calibri"/>
              </a:rPr>
              <a:t>676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14117" y="4761103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Calibri"/>
                <a:cs typeface="Calibri"/>
              </a:rPr>
              <a:t>892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79089" y="4610227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1,127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95494" y="4739385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1,107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65403" y="5636463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61617" y="5606897"/>
            <a:ext cx="1775460" cy="35941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algn="ctr" marL="304165">
              <a:lnSpc>
                <a:spcPct val="100000"/>
              </a:lnSpc>
              <a:spcBef>
                <a:spcPts val="33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2021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Total</a:t>
            </a:r>
            <a:r>
              <a:rPr dirty="0" sz="9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Servicing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+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MTM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(if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not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hedged)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80613" y="5636463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78960" y="5606897"/>
            <a:ext cx="1013460" cy="35941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algn="r" marR="52069">
              <a:lnSpc>
                <a:spcPct val="100000"/>
              </a:lnSpc>
              <a:spcBef>
                <a:spcPts val="33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2023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235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Total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Actual</a:t>
            </a:r>
            <a:r>
              <a:rPr dirty="0" sz="9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servicing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04316" y="5865876"/>
            <a:ext cx="243840" cy="62865"/>
          </a:xfrm>
          <a:custGeom>
            <a:avLst/>
            <a:gdLst/>
            <a:ahLst/>
            <a:cxnLst/>
            <a:rect l="l" t="t" r="r" b="b"/>
            <a:pathLst>
              <a:path w="243840" h="62864">
                <a:moveTo>
                  <a:pt x="243840" y="0"/>
                </a:moveTo>
                <a:lnTo>
                  <a:pt x="0" y="0"/>
                </a:lnTo>
                <a:lnTo>
                  <a:pt x="0" y="62484"/>
                </a:lnTo>
                <a:lnTo>
                  <a:pt x="243840" y="62484"/>
                </a:lnTo>
                <a:lnTo>
                  <a:pt x="243840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621785" y="5897117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8575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23672" y="3512820"/>
            <a:ext cx="5143500" cy="245745"/>
          </a:xfrm>
          <a:prstGeom prst="rect">
            <a:avLst/>
          </a:prstGeom>
          <a:solidFill>
            <a:srgbClr val="001F5F"/>
          </a:solidFill>
        </p:spPr>
        <p:txBody>
          <a:bodyPr wrap="square" lIns="0" tIns="381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Aligning</a:t>
            </a:r>
            <a:r>
              <a:rPr dirty="0" u="sng" sz="1000" spc="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1000" spc="-2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cash</a:t>
            </a:r>
            <a:r>
              <a:rPr dirty="0" u="sng" sz="1000" spc="-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outflow and</a:t>
            </a:r>
            <a:r>
              <a:rPr dirty="0" u="sng" sz="1000" spc="-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making</a:t>
            </a:r>
            <a:r>
              <a:rPr dirty="0" u="sng" sz="1000" spc="-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it </a:t>
            </a:r>
            <a:r>
              <a:rPr dirty="0" u="sng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predictable</a:t>
            </a:r>
            <a:r>
              <a:rPr dirty="0" u="sng" sz="1000" spc="-4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through</a:t>
            </a:r>
            <a:r>
              <a:rPr dirty="0" u="sng" sz="1000" spc="-2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full</a:t>
            </a:r>
            <a:r>
              <a:rPr dirty="0" u="sng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hedging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204203" y="914400"/>
            <a:ext cx="5184775" cy="247015"/>
          </a:xfrm>
          <a:prstGeom prst="rect">
            <a:avLst/>
          </a:prstGeom>
          <a:solidFill>
            <a:srgbClr val="001F5F"/>
          </a:solidFill>
        </p:spPr>
        <p:txBody>
          <a:bodyPr wrap="square" lIns="0" tIns="374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…in</a:t>
            </a:r>
            <a:r>
              <a:rPr dirty="0" u="sng" sz="1000" spc="1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fluctuating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market</a:t>
            </a:r>
            <a:r>
              <a:rPr dirty="0" u="sng" sz="1000" spc="-2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environment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61581" y="1464563"/>
            <a:ext cx="4839335" cy="1395095"/>
            <a:chOff x="461581" y="1464563"/>
            <a:chExt cx="4839335" cy="1395095"/>
          </a:xfrm>
        </p:grpSpPr>
        <p:sp>
          <p:nvSpPr>
            <p:cNvPr id="35" name="object 35"/>
            <p:cNvSpPr/>
            <p:nvPr/>
          </p:nvSpPr>
          <p:spPr>
            <a:xfrm>
              <a:off x="3211068" y="1616963"/>
              <a:ext cx="1755775" cy="1237615"/>
            </a:xfrm>
            <a:custGeom>
              <a:avLst/>
              <a:gdLst/>
              <a:ahLst/>
              <a:cxnLst/>
              <a:rect l="l" t="t" r="r" b="b"/>
              <a:pathLst>
                <a:path w="1755775" h="1237614">
                  <a:moveTo>
                    <a:pt x="548640" y="0"/>
                  </a:moveTo>
                  <a:lnTo>
                    <a:pt x="0" y="0"/>
                  </a:lnTo>
                  <a:lnTo>
                    <a:pt x="0" y="1237488"/>
                  </a:lnTo>
                  <a:lnTo>
                    <a:pt x="548640" y="1237488"/>
                  </a:lnTo>
                  <a:lnTo>
                    <a:pt x="548640" y="0"/>
                  </a:lnTo>
                  <a:close/>
                </a:path>
                <a:path w="1755775" h="1237614">
                  <a:moveTo>
                    <a:pt x="1755648" y="12192"/>
                  </a:moveTo>
                  <a:lnTo>
                    <a:pt x="1207008" y="12192"/>
                  </a:lnTo>
                  <a:lnTo>
                    <a:pt x="1207008" y="1237488"/>
                  </a:lnTo>
                  <a:lnTo>
                    <a:pt x="1755648" y="1237488"/>
                  </a:lnTo>
                  <a:lnTo>
                    <a:pt x="1755648" y="12192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211068" y="1464563"/>
              <a:ext cx="1755775" cy="165100"/>
            </a:xfrm>
            <a:custGeom>
              <a:avLst/>
              <a:gdLst/>
              <a:ahLst/>
              <a:cxnLst/>
              <a:rect l="l" t="t" r="r" b="b"/>
              <a:pathLst>
                <a:path w="1755775" h="165100">
                  <a:moveTo>
                    <a:pt x="548640" y="89916"/>
                  </a:moveTo>
                  <a:lnTo>
                    <a:pt x="0" y="89916"/>
                  </a:lnTo>
                  <a:lnTo>
                    <a:pt x="0" y="152400"/>
                  </a:lnTo>
                  <a:lnTo>
                    <a:pt x="548640" y="152400"/>
                  </a:lnTo>
                  <a:lnTo>
                    <a:pt x="548640" y="89916"/>
                  </a:lnTo>
                  <a:close/>
                </a:path>
                <a:path w="1755775" h="165100">
                  <a:moveTo>
                    <a:pt x="1755648" y="0"/>
                  </a:moveTo>
                  <a:lnTo>
                    <a:pt x="1207008" y="0"/>
                  </a:lnTo>
                  <a:lnTo>
                    <a:pt x="1207008" y="164592"/>
                  </a:lnTo>
                  <a:lnTo>
                    <a:pt x="1755648" y="164592"/>
                  </a:lnTo>
                  <a:lnTo>
                    <a:pt x="1755648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66344" y="2854452"/>
              <a:ext cx="4829810" cy="0"/>
            </a:xfrm>
            <a:custGeom>
              <a:avLst/>
              <a:gdLst/>
              <a:ahLst/>
              <a:cxnLst/>
              <a:rect l="l" t="t" r="r" b="b"/>
              <a:pathLst>
                <a:path w="4829810" h="0">
                  <a:moveTo>
                    <a:pt x="0" y="0"/>
                  </a:moveTo>
                  <a:lnTo>
                    <a:pt x="4829556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/>
          <p:nvPr/>
        </p:nvSpPr>
        <p:spPr>
          <a:xfrm>
            <a:off x="795527" y="2103120"/>
            <a:ext cx="548640" cy="40005"/>
          </a:xfrm>
          <a:custGeom>
            <a:avLst/>
            <a:gdLst/>
            <a:ahLst/>
            <a:cxnLst/>
            <a:rect l="l" t="t" r="r" b="b"/>
            <a:pathLst>
              <a:path w="548640" h="40005">
                <a:moveTo>
                  <a:pt x="548640" y="0"/>
                </a:moveTo>
                <a:lnTo>
                  <a:pt x="0" y="0"/>
                </a:lnTo>
                <a:lnTo>
                  <a:pt x="0" y="39624"/>
                </a:lnTo>
                <a:lnTo>
                  <a:pt x="548640" y="39624"/>
                </a:lnTo>
                <a:lnTo>
                  <a:pt x="548640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004060" y="2132076"/>
            <a:ext cx="548640" cy="18415"/>
          </a:xfrm>
          <a:custGeom>
            <a:avLst/>
            <a:gdLst/>
            <a:ahLst/>
            <a:cxnLst/>
            <a:rect l="l" t="t" r="r" b="b"/>
            <a:pathLst>
              <a:path w="548639" h="18414">
                <a:moveTo>
                  <a:pt x="548639" y="0"/>
                </a:moveTo>
                <a:lnTo>
                  <a:pt x="0" y="0"/>
                </a:lnTo>
                <a:lnTo>
                  <a:pt x="0" y="18287"/>
                </a:lnTo>
                <a:lnTo>
                  <a:pt x="548639" y="18287"/>
                </a:lnTo>
                <a:lnTo>
                  <a:pt x="548639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3326638" y="2148078"/>
            <a:ext cx="34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12,324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34027" y="2153869"/>
            <a:ext cx="34480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12,198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98265" y="1497329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621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562983" y="1458848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1,641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477321" y="1212913"/>
            <a:ext cx="430530" cy="252095"/>
            <a:chOff x="4477321" y="1212913"/>
            <a:chExt cx="430530" cy="252095"/>
          </a:xfrm>
        </p:grpSpPr>
        <p:sp>
          <p:nvSpPr>
            <p:cNvPr id="45" name="object 45"/>
            <p:cNvSpPr/>
            <p:nvPr/>
          </p:nvSpPr>
          <p:spPr>
            <a:xfrm>
              <a:off x="4692396" y="1394459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w="0" h="70484">
                  <a:moveTo>
                    <a:pt x="0" y="70103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482084" y="1217675"/>
              <a:ext cx="421005" cy="177165"/>
            </a:xfrm>
            <a:custGeom>
              <a:avLst/>
              <a:gdLst/>
              <a:ahLst/>
              <a:cxnLst/>
              <a:rect l="l" t="t" r="r" b="b"/>
              <a:pathLst>
                <a:path w="421004" h="177165">
                  <a:moveTo>
                    <a:pt x="0" y="176784"/>
                  </a:moveTo>
                  <a:lnTo>
                    <a:pt x="420624" y="176784"/>
                  </a:lnTo>
                  <a:lnTo>
                    <a:pt x="420624" y="0"/>
                  </a:lnTo>
                  <a:lnTo>
                    <a:pt x="0" y="0"/>
                  </a:lnTo>
                  <a:lnTo>
                    <a:pt x="0" y="17678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3275076" y="1307591"/>
            <a:ext cx="421005" cy="17716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12,945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534027" y="1217803"/>
            <a:ext cx="34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13,838</a:t>
            </a:r>
            <a:endParaRPr sz="900">
              <a:latin typeface="Calibri"/>
              <a:cs typeface="Calibri"/>
            </a:endParaRPr>
          </a:p>
        </p:txBody>
      </p:sp>
      <p:graphicFrame>
        <p:nvGraphicFramePr>
          <p:cNvPr id="49" name="object 49"/>
          <p:cNvGraphicFramePr>
            <a:graphicFrameLocks noGrp="1"/>
          </p:cNvGraphicFramePr>
          <p:nvPr/>
        </p:nvGraphicFramePr>
        <p:xfrm>
          <a:off x="795527" y="1885188"/>
          <a:ext cx="1833880" cy="1210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615"/>
                <a:gridCol w="361315"/>
                <a:gridCol w="93345"/>
                <a:gridCol w="660400"/>
                <a:gridCol w="93344"/>
                <a:gridCol w="361314"/>
                <a:gridCol w="94614"/>
              </a:tblGrid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7,491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9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7,193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27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396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9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178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7,094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9271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7,015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97155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spc="-2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2020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79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spc="-2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2021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79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0" name="object 50"/>
          <p:cNvSpPr txBox="1"/>
          <p:nvPr/>
        </p:nvSpPr>
        <p:spPr>
          <a:xfrm>
            <a:off x="3357117" y="2909696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564507" y="2909696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697991" y="3240023"/>
            <a:ext cx="62865" cy="64135"/>
          </a:xfrm>
          <a:custGeom>
            <a:avLst/>
            <a:gdLst/>
            <a:ahLst/>
            <a:cxnLst/>
            <a:rect l="l" t="t" r="r" b="b"/>
            <a:pathLst>
              <a:path w="62865" h="64135">
                <a:moveTo>
                  <a:pt x="62484" y="0"/>
                </a:moveTo>
                <a:lnTo>
                  <a:pt x="0" y="0"/>
                </a:lnTo>
                <a:lnTo>
                  <a:pt x="0" y="64008"/>
                </a:lnTo>
                <a:lnTo>
                  <a:pt x="62484" y="64008"/>
                </a:lnTo>
                <a:lnTo>
                  <a:pt x="62484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769364" y="3240023"/>
            <a:ext cx="64135" cy="64135"/>
          </a:xfrm>
          <a:custGeom>
            <a:avLst/>
            <a:gdLst/>
            <a:ahLst/>
            <a:cxnLst/>
            <a:rect l="l" t="t" r="r" b="b"/>
            <a:pathLst>
              <a:path w="64135" h="64135">
                <a:moveTo>
                  <a:pt x="64007" y="0"/>
                </a:moveTo>
                <a:lnTo>
                  <a:pt x="0" y="0"/>
                </a:lnTo>
                <a:lnTo>
                  <a:pt x="0" y="64008"/>
                </a:lnTo>
                <a:lnTo>
                  <a:pt x="64007" y="64008"/>
                </a:lnTo>
                <a:lnTo>
                  <a:pt x="64007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774903" y="3177921"/>
            <a:ext cx="46355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3945" algn="l"/>
                <a:tab pos="3101975" algn="l"/>
              </a:tabLst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AGEL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Debt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o/s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	AGEL</a:t>
            </a:r>
            <a:r>
              <a:rPr dirty="0" sz="9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Unhedged</a:t>
            </a:r>
            <a:r>
              <a:rPr dirty="0" sz="9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notional</a:t>
            </a:r>
            <a:r>
              <a:rPr dirty="0" sz="9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Exposure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	AGEL</a:t>
            </a:r>
            <a:r>
              <a:rPr dirty="0" sz="9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Debt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o/s</a:t>
            </a:r>
            <a:r>
              <a:rPr dirty="0" sz="9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(w/o</a:t>
            </a:r>
            <a:r>
              <a:rPr dirty="0" sz="9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hedge)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97636" y="3136138"/>
            <a:ext cx="5210175" cy="288290"/>
            <a:chOff x="397636" y="3136138"/>
            <a:chExt cx="5210175" cy="288290"/>
          </a:xfrm>
        </p:grpSpPr>
        <p:sp>
          <p:nvSpPr>
            <p:cNvPr id="56" name="object 56"/>
            <p:cNvSpPr/>
            <p:nvPr/>
          </p:nvSpPr>
          <p:spPr>
            <a:xfrm>
              <a:off x="400811" y="3396996"/>
              <a:ext cx="5203825" cy="24130"/>
            </a:xfrm>
            <a:custGeom>
              <a:avLst/>
              <a:gdLst/>
              <a:ahLst/>
              <a:cxnLst/>
              <a:rect l="l" t="t" r="r" b="b"/>
              <a:pathLst>
                <a:path w="5203825" h="24129">
                  <a:moveTo>
                    <a:pt x="0" y="23875"/>
                  </a:moveTo>
                  <a:lnTo>
                    <a:pt x="5203698" y="0"/>
                  </a:lnTo>
                </a:path>
              </a:pathLst>
            </a:custGeom>
            <a:ln w="635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616451" y="3142488"/>
              <a:ext cx="1800225" cy="264160"/>
            </a:xfrm>
            <a:custGeom>
              <a:avLst/>
              <a:gdLst/>
              <a:ahLst/>
              <a:cxnLst/>
              <a:rect l="l" t="t" r="r" b="b"/>
              <a:pathLst>
                <a:path w="1800225" h="264160">
                  <a:moveTo>
                    <a:pt x="0" y="263651"/>
                  </a:moveTo>
                  <a:lnTo>
                    <a:pt x="1799844" y="263651"/>
                  </a:lnTo>
                  <a:lnTo>
                    <a:pt x="179984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431291" y="900683"/>
            <a:ext cx="5143500" cy="245745"/>
          </a:xfrm>
          <a:prstGeom prst="rect">
            <a:avLst/>
          </a:prstGeom>
          <a:solidFill>
            <a:srgbClr val="001F5F"/>
          </a:solidFill>
        </p:spPr>
        <p:txBody>
          <a:bodyPr wrap="square" lIns="0" tIns="368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Stable</a:t>
            </a:r>
            <a:r>
              <a:rPr dirty="0" u="sng" sz="1000" spc="-3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and</a:t>
            </a:r>
            <a:r>
              <a:rPr dirty="0" u="sng" sz="1000" spc="-4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predictable</a:t>
            </a:r>
            <a:r>
              <a:rPr dirty="0" u="sng" sz="1000" spc="-4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closing</a:t>
            </a:r>
            <a:r>
              <a:rPr dirty="0" u="sng" sz="1000" spc="-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liability…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59" name="object 5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068" y="6097523"/>
            <a:ext cx="10405872" cy="262128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2994151" y="6108598"/>
            <a:ext cx="55156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Assuring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stable</a:t>
            </a:r>
            <a:r>
              <a:rPr dirty="0" sz="1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predictable</a:t>
            </a:r>
            <a:r>
              <a:rPr dirty="0" sz="14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credit</a:t>
            </a:r>
            <a:r>
              <a:rPr dirty="0" sz="1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coverage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highly</a:t>
            </a:r>
            <a:r>
              <a:rPr dirty="0" sz="1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volatile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market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6292596" y="1295590"/>
            <a:ext cx="5203190" cy="1043940"/>
            <a:chOff x="6292596" y="1295590"/>
            <a:chExt cx="5203190" cy="1043940"/>
          </a:xfrm>
        </p:grpSpPr>
        <p:sp>
          <p:nvSpPr>
            <p:cNvPr id="62" name="object 62"/>
            <p:cNvSpPr/>
            <p:nvPr/>
          </p:nvSpPr>
          <p:spPr>
            <a:xfrm>
              <a:off x="6681216" y="1702307"/>
              <a:ext cx="4053840" cy="632460"/>
            </a:xfrm>
            <a:custGeom>
              <a:avLst/>
              <a:gdLst/>
              <a:ahLst/>
              <a:cxnLst/>
              <a:rect l="l" t="t" r="r" b="b"/>
              <a:pathLst>
                <a:path w="4053840" h="632460">
                  <a:moveTo>
                    <a:pt x="338328" y="76200"/>
                  </a:moveTo>
                  <a:lnTo>
                    <a:pt x="0" y="76200"/>
                  </a:lnTo>
                  <a:lnTo>
                    <a:pt x="0" y="632460"/>
                  </a:lnTo>
                  <a:lnTo>
                    <a:pt x="338328" y="632460"/>
                  </a:lnTo>
                  <a:lnTo>
                    <a:pt x="338328" y="76200"/>
                  </a:lnTo>
                  <a:close/>
                </a:path>
                <a:path w="4053840" h="632460">
                  <a:moveTo>
                    <a:pt x="1080516" y="30480"/>
                  </a:moveTo>
                  <a:lnTo>
                    <a:pt x="743712" y="30480"/>
                  </a:lnTo>
                  <a:lnTo>
                    <a:pt x="743712" y="632460"/>
                  </a:lnTo>
                  <a:lnTo>
                    <a:pt x="1080516" y="632460"/>
                  </a:lnTo>
                  <a:lnTo>
                    <a:pt x="1080516" y="30480"/>
                  </a:lnTo>
                  <a:close/>
                </a:path>
                <a:path w="4053840" h="632460">
                  <a:moveTo>
                    <a:pt x="1824228" y="38100"/>
                  </a:moveTo>
                  <a:lnTo>
                    <a:pt x="1485900" y="38100"/>
                  </a:lnTo>
                  <a:lnTo>
                    <a:pt x="1485900" y="632460"/>
                  </a:lnTo>
                  <a:lnTo>
                    <a:pt x="1824228" y="632460"/>
                  </a:lnTo>
                  <a:lnTo>
                    <a:pt x="1824228" y="38100"/>
                  </a:lnTo>
                  <a:close/>
                </a:path>
                <a:path w="4053840" h="632460">
                  <a:moveTo>
                    <a:pt x="2567940" y="15240"/>
                  </a:moveTo>
                  <a:lnTo>
                    <a:pt x="2229612" y="15240"/>
                  </a:lnTo>
                  <a:lnTo>
                    <a:pt x="2229612" y="632460"/>
                  </a:lnTo>
                  <a:lnTo>
                    <a:pt x="2567940" y="632460"/>
                  </a:lnTo>
                  <a:lnTo>
                    <a:pt x="2567940" y="15240"/>
                  </a:lnTo>
                  <a:close/>
                </a:path>
                <a:path w="4053840" h="632460">
                  <a:moveTo>
                    <a:pt x="3310128" y="0"/>
                  </a:moveTo>
                  <a:lnTo>
                    <a:pt x="2973324" y="0"/>
                  </a:lnTo>
                  <a:lnTo>
                    <a:pt x="2973324" y="632460"/>
                  </a:lnTo>
                  <a:lnTo>
                    <a:pt x="3310128" y="632460"/>
                  </a:lnTo>
                  <a:lnTo>
                    <a:pt x="3310128" y="0"/>
                  </a:lnTo>
                  <a:close/>
                </a:path>
                <a:path w="4053840" h="632460">
                  <a:moveTo>
                    <a:pt x="4053840" y="7620"/>
                  </a:moveTo>
                  <a:lnTo>
                    <a:pt x="3715512" y="7620"/>
                  </a:lnTo>
                  <a:lnTo>
                    <a:pt x="3715512" y="632460"/>
                  </a:lnTo>
                  <a:lnTo>
                    <a:pt x="4053840" y="632460"/>
                  </a:lnTo>
                  <a:lnTo>
                    <a:pt x="4053840" y="762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6292596" y="2334767"/>
              <a:ext cx="5203190" cy="0"/>
            </a:xfrm>
            <a:custGeom>
              <a:avLst/>
              <a:gdLst/>
              <a:ahLst/>
              <a:cxnLst/>
              <a:rect l="l" t="t" r="r" b="b"/>
              <a:pathLst>
                <a:path w="5203190" h="0">
                  <a:moveTo>
                    <a:pt x="0" y="0"/>
                  </a:moveTo>
                  <a:lnTo>
                    <a:pt x="5202935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479286" y="1309877"/>
              <a:ext cx="4829810" cy="591820"/>
            </a:xfrm>
            <a:custGeom>
              <a:avLst/>
              <a:gdLst/>
              <a:ahLst/>
              <a:cxnLst/>
              <a:rect l="l" t="t" r="r" b="b"/>
              <a:pathLst>
                <a:path w="4829809" h="591819">
                  <a:moveTo>
                    <a:pt x="0" y="591312"/>
                  </a:moveTo>
                  <a:lnTo>
                    <a:pt x="370332" y="536448"/>
                  </a:lnTo>
                  <a:lnTo>
                    <a:pt x="742188" y="525780"/>
                  </a:lnTo>
                  <a:lnTo>
                    <a:pt x="1114043" y="321563"/>
                  </a:lnTo>
                  <a:lnTo>
                    <a:pt x="1485899" y="316992"/>
                  </a:lnTo>
                  <a:lnTo>
                    <a:pt x="1857756" y="393192"/>
                  </a:lnTo>
                  <a:lnTo>
                    <a:pt x="2228088" y="399288"/>
                  </a:lnTo>
                  <a:lnTo>
                    <a:pt x="2599943" y="406908"/>
                  </a:lnTo>
                  <a:lnTo>
                    <a:pt x="2971799" y="429768"/>
                  </a:lnTo>
                  <a:lnTo>
                    <a:pt x="3343656" y="373380"/>
                  </a:lnTo>
                  <a:lnTo>
                    <a:pt x="3715512" y="306324"/>
                  </a:lnTo>
                  <a:lnTo>
                    <a:pt x="4087367" y="301751"/>
                  </a:lnTo>
                  <a:lnTo>
                    <a:pt x="4457699" y="208787"/>
                  </a:lnTo>
                  <a:lnTo>
                    <a:pt x="4829556" y="0"/>
                  </a:lnTo>
                </a:path>
              </a:pathLst>
            </a:custGeom>
            <a:ln w="28574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8929496" y="2119376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1.81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419469" y="1520628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69.46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790943" y="1463542"/>
            <a:ext cx="139700" cy="2876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70.69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162800" y="1455096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70.90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534402" y="1249737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75.39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905877" y="1246054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75.47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277479" y="1321175"/>
            <a:ext cx="139700" cy="2876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73.80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648852" y="1327999"/>
            <a:ext cx="140335" cy="28702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73.67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020936" y="1334637"/>
            <a:ext cx="139700" cy="2876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73.50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392411" y="1359084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72.99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9764014" y="1301553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74.26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0135489" y="1234497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75.72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0507344" y="1231068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75.79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0878946" y="1137596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77.84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1250548" y="1123245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82.40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346952" y="2375661"/>
            <a:ext cx="2635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Jun-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19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934450" y="2375661"/>
            <a:ext cx="2927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1170666" y="2375661"/>
            <a:ext cx="2787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Dec-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8136635" y="2557272"/>
            <a:ext cx="243840" cy="62865"/>
          </a:xfrm>
          <a:custGeom>
            <a:avLst/>
            <a:gdLst/>
            <a:ahLst/>
            <a:cxnLst/>
            <a:rect l="l" t="t" r="r" b="b"/>
            <a:pathLst>
              <a:path w="243840" h="62864">
                <a:moveTo>
                  <a:pt x="243840" y="0"/>
                </a:moveTo>
                <a:lnTo>
                  <a:pt x="0" y="0"/>
                </a:lnTo>
                <a:lnTo>
                  <a:pt x="0" y="62484"/>
                </a:lnTo>
                <a:lnTo>
                  <a:pt x="243840" y="62484"/>
                </a:lnTo>
                <a:lnTo>
                  <a:pt x="243840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6699884" y="2119376"/>
            <a:ext cx="2167255" cy="537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5650" algn="l"/>
                <a:tab pos="1498600" algn="l"/>
              </a:tabLst>
            </a:pPr>
            <a:r>
              <a:rPr dirty="0" sz="900">
                <a:latin typeface="Calibri"/>
                <a:cs typeface="Calibri"/>
              </a:rPr>
              <a:t>1.73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r>
              <a:rPr dirty="0" sz="900">
                <a:latin typeface="Calibri"/>
                <a:cs typeface="Calibri"/>
              </a:rPr>
              <a:t>	1.79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r>
              <a:rPr dirty="0" sz="900">
                <a:latin typeface="Calibri"/>
                <a:cs typeface="Calibri"/>
              </a:rPr>
              <a:t>	1.78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  <a:spcBef>
                <a:spcPts val="930"/>
              </a:spcBef>
              <a:tabLst>
                <a:tab pos="1512570" algn="l"/>
              </a:tabLst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19</a:t>
            </a:r>
            <a:r>
              <a:rPr dirty="0" sz="700" spc="340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Dec-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19</a:t>
            </a:r>
            <a:r>
              <a:rPr dirty="0" sz="700" spc="305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r>
              <a:rPr dirty="0" sz="700" spc="330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Jun-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r>
              <a:rPr dirty="0" sz="700" spc="345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Dec-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7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RG1</a:t>
            </a:r>
            <a:r>
              <a:rPr dirty="0" sz="900" spc="-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PLCR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9306814" y="2119376"/>
            <a:ext cx="1763395" cy="537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8460">
              <a:lnSpc>
                <a:spcPct val="100000"/>
              </a:lnSpc>
              <a:spcBef>
                <a:spcPts val="100"/>
              </a:spcBef>
              <a:tabLst>
                <a:tab pos="1121410" algn="l"/>
              </a:tabLst>
            </a:pPr>
            <a:r>
              <a:rPr dirty="0" sz="900">
                <a:latin typeface="Calibri"/>
                <a:cs typeface="Calibri"/>
              </a:rPr>
              <a:t>1.83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r>
              <a:rPr dirty="0" sz="900">
                <a:latin typeface="Calibri"/>
                <a:cs typeface="Calibri"/>
              </a:rPr>
              <a:t>	1.82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930"/>
              </a:spcBef>
              <a:tabLst>
                <a:tab pos="392430" algn="l"/>
              </a:tabLst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Jun-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r>
              <a:rPr dirty="0" sz="700" spc="340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Dec-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r>
              <a:rPr dirty="0" sz="700" spc="305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r>
              <a:rPr dirty="0" sz="700" spc="330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Jun-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Ex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Rate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9048750" y="2588514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575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7" name="object 87"/>
          <p:cNvGrpSpPr/>
          <p:nvPr/>
        </p:nvGrpSpPr>
        <p:grpSpPr>
          <a:xfrm>
            <a:off x="6257544" y="3045142"/>
            <a:ext cx="5203190" cy="990600"/>
            <a:chOff x="6257544" y="3045142"/>
            <a:chExt cx="5203190" cy="990600"/>
          </a:xfrm>
        </p:grpSpPr>
        <p:sp>
          <p:nvSpPr>
            <p:cNvPr id="88" name="object 88"/>
            <p:cNvSpPr/>
            <p:nvPr/>
          </p:nvSpPr>
          <p:spPr>
            <a:xfrm>
              <a:off x="6711696" y="3461003"/>
              <a:ext cx="3862070" cy="570230"/>
            </a:xfrm>
            <a:custGeom>
              <a:avLst/>
              <a:gdLst/>
              <a:ahLst/>
              <a:cxnLst/>
              <a:rect l="l" t="t" r="r" b="b"/>
              <a:pathLst>
                <a:path w="3862070" h="570229">
                  <a:moveTo>
                    <a:pt x="393192" y="21336"/>
                  </a:moveTo>
                  <a:lnTo>
                    <a:pt x="0" y="21336"/>
                  </a:lnTo>
                  <a:lnTo>
                    <a:pt x="0" y="569976"/>
                  </a:lnTo>
                  <a:lnTo>
                    <a:pt x="393192" y="569976"/>
                  </a:lnTo>
                  <a:lnTo>
                    <a:pt x="393192" y="21336"/>
                  </a:lnTo>
                  <a:close/>
                </a:path>
                <a:path w="3862070" h="570229">
                  <a:moveTo>
                    <a:pt x="1260348" y="13716"/>
                  </a:moveTo>
                  <a:lnTo>
                    <a:pt x="867156" y="13716"/>
                  </a:lnTo>
                  <a:lnTo>
                    <a:pt x="867156" y="569976"/>
                  </a:lnTo>
                  <a:lnTo>
                    <a:pt x="1260348" y="569976"/>
                  </a:lnTo>
                  <a:lnTo>
                    <a:pt x="1260348" y="13716"/>
                  </a:lnTo>
                  <a:close/>
                </a:path>
                <a:path w="3862070" h="570229">
                  <a:moveTo>
                    <a:pt x="2127504" y="7620"/>
                  </a:moveTo>
                  <a:lnTo>
                    <a:pt x="1734312" y="7620"/>
                  </a:lnTo>
                  <a:lnTo>
                    <a:pt x="1734312" y="569976"/>
                  </a:lnTo>
                  <a:lnTo>
                    <a:pt x="2127504" y="569976"/>
                  </a:lnTo>
                  <a:lnTo>
                    <a:pt x="2127504" y="7620"/>
                  </a:lnTo>
                  <a:close/>
                </a:path>
                <a:path w="3862070" h="570229">
                  <a:moveTo>
                    <a:pt x="2994660" y="0"/>
                  </a:moveTo>
                  <a:lnTo>
                    <a:pt x="2599944" y="0"/>
                  </a:lnTo>
                  <a:lnTo>
                    <a:pt x="2599944" y="569976"/>
                  </a:lnTo>
                  <a:lnTo>
                    <a:pt x="2994660" y="569976"/>
                  </a:lnTo>
                  <a:lnTo>
                    <a:pt x="2994660" y="0"/>
                  </a:lnTo>
                  <a:close/>
                </a:path>
                <a:path w="3862070" h="570229">
                  <a:moveTo>
                    <a:pt x="3861816" y="42672"/>
                  </a:moveTo>
                  <a:lnTo>
                    <a:pt x="3467100" y="42672"/>
                  </a:lnTo>
                  <a:lnTo>
                    <a:pt x="3467100" y="569976"/>
                  </a:lnTo>
                  <a:lnTo>
                    <a:pt x="3861816" y="569976"/>
                  </a:lnTo>
                  <a:lnTo>
                    <a:pt x="3861816" y="42672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6257544" y="4030979"/>
              <a:ext cx="5203190" cy="0"/>
            </a:xfrm>
            <a:custGeom>
              <a:avLst/>
              <a:gdLst/>
              <a:ahLst/>
              <a:cxnLst/>
              <a:rect l="l" t="t" r="r" b="b"/>
              <a:pathLst>
                <a:path w="5203190" h="0">
                  <a:moveTo>
                    <a:pt x="0" y="0"/>
                  </a:moveTo>
                  <a:lnTo>
                    <a:pt x="5202935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6474714" y="3059429"/>
              <a:ext cx="4768850" cy="585470"/>
            </a:xfrm>
            <a:custGeom>
              <a:avLst/>
              <a:gdLst/>
              <a:ahLst/>
              <a:cxnLst/>
              <a:rect l="l" t="t" r="r" b="b"/>
              <a:pathLst>
                <a:path w="4768850" h="585470">
                  <a:moveTo>
                    <a:pt x="0" y="585216"/>
                  </a:moveTo>
                  <a:lnTo>
                    <a:pt x="432815" y="370332"/>
                  </a:lnTo>
                  <a:lnTo>
                    <a:pt x="867156" y="323088"/>
                  </a:lnTo>
                  <a:lnTo>
                    <a:pt x="1299971" y="454152"/>
                  </a:lnTo>
                  <a:lnTo>
                    <a:pt x="1734312" y="483108"/>
                  </a:lnTo>
                  <a:lnTo>
                    <a:pt x="2167128" y="469392"/>
                  </a:lnTo>
                  <a:lnTo>
                    <a:pt x="2601467" y="382524"/>
                  </a:lnTo>
                  <a:lnTo>
                    <a:pt x="3034284" y="429768"/>
                  </a:lnTo>
                  <a:lnTo>
                    <a:pt x="3468624" y="374904"/>
                  </a:lnTo>
                  <a:lnTo>
                    <a:pt x="3901440" y="348996"/>
                  </a:lnTo>
                  <a:lnTo>
                    <a:pt x="4335780" y="326136"/>
                  </a:lnTo>
                  <a:lnTo>
                    <a:pt x="4768595" y="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1" name="object 91"/>
          <p:cNvSpPr txBox="1"/>
          <p:nvPr/>
        </p:nvSpPr>
        <p:spPr>
          <a:xfrm>
            <a:off x="6757796" y="3816857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1.78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624953" y="3816857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1.79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8492108" y="3816857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1.80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9359265" y="3816857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1.81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0226420" y="3816857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1.75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6415176" y="3264368"/>
            <a:ext cx="140335" cy="28702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71.32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6849236" y="3049835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75.39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282560" y="3002972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76.27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716393" y="3132703"/>
            <a:ext cx="139700" cy="2876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73.80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8149717" y="3161722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73.27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8583548" y="3149276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73.50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9016872" y="3061392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75.17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9450705" y="3109652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74.26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9884029" y="3054407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75.30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0317480" y="3028499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75.79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0751184" y="3005639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76.22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11184635" y="2908992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82.40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6341109" y="4072890"/>
            <a:ext cx="2686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Oct-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19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6763004" y="4072890"/>
            <a:ext cx="2927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7206742" y="4072890"/>
            <a:ext cx="2711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Apr-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7639050" y="4072890"/>
            <a:ext cx="2743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8075168" y="4072890"/>
            <a:ext cx="2686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Oct-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8356854" y="4053168"/>
            <a:ext cx="473075" cy="31432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250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RG2</a:t>
            </a:r>
            <a:r>
              <a:rPr dirty="0" sz="900" spc="-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PLCR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8940800" y="4072890"/>
            <a:ext cx="2711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Apr-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9274809" y="4053168"/>
            <a:ext cx="372745" cy="31432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10489">
              <a:lnSpc>
                <a:spcPct val="100000"/>
              </a:lnSpc>
              <a:spcBef>
                <a:spcPts val="250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Ex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Rate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9809480" y="4072890"/>
            <a:ext cx="2686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Oct-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10231373" y="4072890"/>
            <a:ext cx="2927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0675111" y="4072890"/>
            <a:ext cx="2711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Apr-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11110086" y="4072890"/>
            <a:ext cx="2686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Oct-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8098535" y="4267200"/>
            <a:ext cx="243840" cy="62865"/>
          </a:xfrm>
          <a:custGeom>
            <a:avLst/>
            <a:gdLst/>
            <a:ahLst/>
            <a:cxnLst/>
            <a:rect l="l" t="t" r="r" b="b"/>
            <a:pathLst>
              <a:path w="243840" h="62864">
                <a:moveTo>
                  <a:pt x="243840" y="0"/>
                </a:moveTo>
                <a:lnTo>
                  <a:pt x="0" y="0"/>
                </a:lnTo>
                <a:lnTo>
                  <a:pt x="0" y="62483"/>
                </a:lnTo>
                <a:lnTo>
                  <a:pt x="243840" y="62483"/>
                </a:lnTo>
                <a:lnTo>
                  <a:pt x="243840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9016745" y="4298441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8575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2" name="object 122"/>
          <p:cNvGrpSpPr/>
          <p:nvPr/>
        </p:nvGrpSpPr>
        <p:grpSpPr>
          <a:xfrm>
            <a:off x="6175247" y="4873942"/>
            <a:ext cx="5165090" cy="824865"/>
            <a:chOff x="6175247" y="4873942"/>
            <a:chExt cx="5165090" cy="824865"/>
          </a:xfrm>
        </p:grpSpPr>
        <p:sp>
          <p:nvSpPr>
            <p:cNvPr id="123" name="object 123"/>
            <p:cNvSpPr/>
            <p:nvPr/>
          </p:nvSpPr>
          <p:spPr>
            <a:xfrm>
              <a:off x="7525511" y="5337047"/>
              <a:ext cx="1173480" cy="356870"/>
            </a:xfrm>
            <a:custGeom>
              <a:avLst/>
              <a:gdLst/>
              <a:ahLst/>
              <a:cxnLst/>
              <a:rect l="l" t="t" r="r" b="b"/>
              <a:pathLst>
                <a:path w="1173479" h="356870">
                  <a:moveTo>
                    <a:pt x="1173480" y="0"/>
                  </a:moveTo>
                  <a:lnTo>
                    <a:pt x="0" y="0"/>
                  </a:lnTo>
                  <a:lnTo>
                    <a:pt x="0" y="356615"/>
                  </a:lnTo>
                  <a:lnTo>
                    <a:pt x="1173480" y="356615"/>
                  </a:lnTo>
                  <a:lnTo>
                    <a:pt x="1173480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6175247" y="5693663"/>
              <a:ext cx="5165090" cy="0"/>
            </a:xfrm>
            <a:custGeom>
              <a:avLst/>
              <a:gdLst/>
              <a:ahLst/>
              <a:cxnLst/>
              <a:rect l="l" t="t" r="r" b="b"/>
              <a:pathLst>
                <a:path w="5165090" h="0">
                  <a:moveTo>
                    <a:pt x="0" y="0"/>
                  </a:moveTo>
                  <a:lnTo>
                    <a:pt x="5164835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6820661" y="4888229"/>
              <a:ext cx="3874135" cy="489584"/>
            </a:xfrm>
            <a:custGeom>
              <a:avLst/>
              <a:gdLst/>
              <a:ahLst/>
              <a:cxnLst/>
              <a:rect l="l" t="t" r="r" b="b"/>
              <a:pathLst>
                <a:path w="3874134" h="489585">
                  <a:moveTo>
                    <a:pt x="0" y="489204"/>
                  </a:moveTo>
                  <a:lnTo>
                    <a:pt x="1290828" y="368808"/>
                  </a:lnTo>
                  <a:lnTo>
                    <a:pt x="2581656" y="152400"/>
                  </a:lnTo>
                  <a:lnTo>
                    <a:pt x="3874008" y="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6" name="object 126"/>
          <p:cNvSpPr txBox="1"/>
          <p:nvPr/>
        </p:nvSpPr>
        <p:spPr>
          <a:xfrm>
            <a:off x="7916036" y="5431637"/>
            <a:ext cx="3949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7.18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10107168" y="5527547"/>
            <a:ext cx="1173480" cy="166370"/>
          </a:xfrm>
          <a:prstGeom prst="rect">
            <a:avLst/>
          </a:prstGeom>
          <a:solidFill>
            <a:srgbClr val="DAE2F3"/>
          </a:solidFill>
        </p:spPr>
        <p:txBody>
          <a:bodyPr wrap="square" lIns="0" tIns="0" rIns="0" bIns="0" rtlCol="0" vert="horz">
            <a:spAutoFit/>
          </a:bodyPr>
          <a:lstStyle/>
          <a:p>
            <a:pPr marL="403225">
              <a:lnSpc>
                <a:spcPts val="1035"/>
              </a:lnSpc>
            </a:pPr>
            <a:r>
              <a:rPr dirty="0" sz="1200">
                <a:latin typeface="Calibri"/>
                <a:cs typeface="Calibri"/>
              </a:rPr>
              <a:t>3.33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6761733" y="4998396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73.65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8052816" y="4878635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75.79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9344025" y="4749476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79.67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10634878" y="4749125"/>
            <a:ext cx="140335" cy="28702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82.40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6684391" y="5735523"/>
            <a:ext cx="2743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7966709" y="5735523"/>
            <a:ext cx="2927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9242552" y="5735523"/>
            <a:ext cx="368935" cy="264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195">
              <a:lnSpc>
                <a:spcPts val="819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ts val="1060"/>
              </a:lnSpc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Ex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Rate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10548873" y="5735523"/>
            <a:ext cx="2927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6" name="object 136"/>
          <p:cNvSpPr/>
          <p:nvPr/>
        </p:nvSpPr>
        <p:spPr>
          <a:xfrm>
            <a:off x="7991856" y="5899403"/>
            <a:ext cx="243840" cy="62865"/>
          </a:xfrm>
          <a:custGeom>
            <a:avLst/>
            <a:gdLst/>
            <a:ahLst/>
            <a:cxnLst/>
            <a:rect l="l" t="t" r="r" b="b"/>
            <a:pathLst>
              <a:path w="243840" h="62864">
                <a:moveTo>
                  <a:pt x="243840" y="0"/>
                </a:moveTo>
                <a:lnTo>
                  <a:pt x="0" y="0"/>
                </a:lnTo>
                <a:lnTo>
                  <a:pt x="0" y="62484"/>
                </a:lnTo>
                <a:lnTo>
                  <a:pt x="243840" y="62484"/>
                </a:lnTo>
                <a:lnTo>
                  <a:pt x="243840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 txBox="1"/>
          <p:nvPr/>
        </p:nvSpPr>
        <p:spPr>
          <a:xfrm>
            <a:off x="8249157" y="5836716"/>
            <a:ext cx="5429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Debt/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FCFE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8" name="object 138"/>
          <p:cNvSpPr/>
          <p:nvPr/>
        </p:nvSpPr>
        <p:spPr>
          <a:xfrm>
            <a:off x="8984742" y="5930646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8575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Adani</a:t>
            </a:r>
            <a:r>
              <a:rPr dirty="0" spc="-45"/>
              <a:t> </a:t>
            </a:r>
            <a:r>
              <a:rPr dirty="0" spc="-10"/>
              <a:t>Portfolio: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test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/>
              <a:t>risk</a:t>
            </a:r>
            <a:r>
              <a:rPr dirty="0" spc="-25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36756" y="6480454"/>
            <a:ext cx="1689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3069B4"/>
                </a:solidFill>
                <a:latin typeface="Calibri"/>
                <a:cs typeface="Calibri"/>
              </a:rPr>
              <a:t>15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0291" y="1005077"/>
            <a:ext cx="9380220" cy="49961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Times New Roman"/>
                <a:cs typeface="Times New Roman"/>
              </a:rPr>
              <a:t>Asset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Liability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Matching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216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Over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50%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public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debt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stack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rate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FX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fixed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value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fully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protected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against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rising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rate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cycle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Cost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5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Debt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Adani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FX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policy,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embeds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100%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exchange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cost.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provides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~220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bps</a:t>
            </a:r>
            <a:r>
              <a:rPr dirty="0" u="sng" sz="18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points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built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buffer</a:t>
            </a:r>
            <a:r>
              <a:rPr dirty="0" u="sng" sz="18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maturing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facilities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At</a:t>
            </a:r>
            <a:r>
              <a:rPr dirty="0" u="sng" sz="18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current</a:t>
            </a:r>
            <a:r>
              <a:rPr dirty="0" u="sng" sz="18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dislocated</a:t>
            </a:r>
            <a:r>
              <a:rPr dirty="0" u="sng" sz="18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prices</a:t>
            </a:r>
            <a:r>
              <a:rPr dirty="0" u="sng" sz="18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all</a:t>
            </a:r>
            <a:r>
              <a:rPr dirty="0" u="sng" sz="18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refinancing</a:t>
            </a:r>
            <a:r>
              <a:rPr dirty="0" u="sng" sz="18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debt</a:t>
            </a:r>
            <a:r>
              <a:rPr dirty="0" u="sng" sz="18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dirty="0" u="sng" sz="18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either</a:t>
            </a:r>
            <a:endParaRPr sz="1800">
              <a:latin typeface="Times New Roman"/>
              <a:cs typeface="Times New Roman"/>
            </a:endParaRPr>
          </a:p>
          <a:p>
            <a:pPr lvl="2" marL="1213485" indent="-286385">
              <a:lnSpc>
                <a:spcPct val="100000"/>
              </a:lnSpc>
              <a:buFont typeface="Arial MT"/>
              <a:buChar char="•"/>
              <a:tabLst>
                <a:tab pos="1213485" algn="l"/>
              </a:tabLst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money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or</a:t>
            </a:r>
            <a:endParaRPr sz="1800">
              <a:latin typeface="Times New Roman"/>
              <a:cs typeface="Times New Roman"/>
            </a:endParaRPr>
          </a:p>
          <a:p>
            <a:pPr lvl="2" marL="1213485" indent="-286385">
              <a:lnSpc>
                <a:spcPct val="100000"/>
              </a:lnSpc>
              <a:buFont typeface="Arial MT"/>
              <a:buChar char="•"/>
              <a:tabLst>
                <a:tab pos="1213485" algn="l"/>
              </a:tabLst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Within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40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70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basis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points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from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issue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date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pricing</a:t>
            </a:r>
            <a:endParaRPr sz="18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Mid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Period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test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governance,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policy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cash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flow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waterfall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sz="1800" spc="-10">
                <a:latin typeface="Times New Roman"/>
                <a:cs typeface="Times New Roman"/>
              </a:rPr>
              <a:t>DSRA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accounts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documented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requirement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1800">
                <a:latin typeface="Times New Roman"/>
                <a:cs typeface="Times New Roman"/>
              </a:rPr>
              <a:t>Capex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maintenance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accounts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documented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requirement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sz="1800">
                <a:latin typeface="Times New Roman"/>
                <a:cs typeface="Times New Roman"/>
              </a:rPr>
              <a:t>Hedge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reserves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documented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requirement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sz="1800">
                <a:latin typeface="Times New Roman"/>
                <a:cs typeface="Times New Roman"/>
              </a:rPr>
              <a:t>Free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reserves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cashflow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waterfall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requirements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59602" y="1938654"/>
            <a:ext cx="19259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Thank</a:t>
            </a:r>
            <a:r>
              <a:rPr dirty="0" sz="3600" spc="-60"/>
              <a:t> </a:t>
            </a:r>
            <a:r>
              <a:rPr dirty="0" sz="3600" spc="-65"/>
              <a:t>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Sankit Shah</dc:creator>
  <dc:title>PowerPoint Presentation</dc:title>
  <dcterms:created xsi:type="dcterms:W3CDTF">2026-08-23T07:07:14Z</dcterms:created>
  <dcterms:modified xsi:type="dcterms:W3CDTF">2026-08-23T07:07:14Z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2023-02-27T00:00:00Z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2026-08-23T00:00:00Z</vt:filetime>
  </property>
  <property fmtid="{D5CDD505-2E9C-101B-9397-08002B2CF9AE}" pid="6" name="Producer">
    <vt:lpwstr>Microsoft® PowerPoint® for Microsoft 365</vt:lpwstr>
  </property>
</Properties>
</file>