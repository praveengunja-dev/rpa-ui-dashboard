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media/image3.jpg" ContentType="image/jpg"/>
  <Override PartName="/ppt/media/image4.jpg" ContentType="image/jpg"/>
  <Override PartName="/ppt/media/image5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9" r:id="rId9"/>
    <p:sldId id="260" r:id="rId8"/>
    <p:sldId id="261" r:id="rId7"/>
    <p:sldId id="262" r:id="rId10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Runs</c:v>
                </c:pt>
              </c:strCache>
            </c:strRef>
          </c:tx>
          <c:marker>
            <c:symbol val="none"/>
          </c:marker>
          <c:cat>
            <c:strRef>
              <c:f>Sheet1!$A$2:$A$9</c:f>
              <c:strCache>
                <c:ptCount val="8"/>
                <c:pt idx="0">
                  <c:v>2026-09-09</c:v>
                </c:pt>
                <c:pt idx="1">
                  <c:v>2026-09-10</c:v>
                </c:pt>
                <c:pt idx="2">
                  <c:v>2026-09-11</c:v>
                </c:pt>
                <c:pt idx="3">
                  <c:v>2026-09-12</c:v>
                </c:pt>
                <c:pt idx="4">
                  <c:v>2026-09-13</c:v>
                </c:pt>
                <c:pt idx="5">
                  <c:v>2026-09-14</c:v>
                </c:pt>
                <c:pt idx="6">
                  <c:v>2026-09-15</c:v>
                </c:pt>
                <c:pt idx="7">
                  <c:v>2026-09-16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475</c:v>
                </c:pt>
                <c:pt idx="1">
                  <c:v>502</c:v>
                </c:pt>
                <c:pt idx="2">
                  <c:v>532</c:v>
                </c:pt>
                <c:pt idx="3">
                  <c:v>488</c:v>
                </c:pt>
                <c:pt idx="4">
                  <c:v>455</c:v>
                </c:pt>
                <c:pt idx="5">
                  <c:v>315</c:v>
                </c:pt>
                <c:pt idx="6">
                  <c:v>209</c:v>
                </c:pt>
                <c:pt idx="7">
                  <c:v>543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Hours Saved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PVSyst_TriggerBot_03</c:v>
                </c:pt>
                <c:pt idx="1">
                  <c:v>PVSyst_TriggerBot</c:v>
                </c:pt>
                <c:pt idx="2">
                  <c:v>AUC172_DowntimeSecurityPatch&amp;VAOpen</c:v>
                </c:pt>
                <c:pt idx="3">
                  <c:v>AGEL075_Hybrid_Intraday_Punch</c:v>
                </c:pt>
                <c:pt idx="4">
                  <c:v>AUC119_AGEL_TMR MIS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186.83333333333331</c:v>
                </c:pt>
                <c:pt idx="1">
                  <c:v>181.33333333333331</c:v>
                </c:pt>
                <c:pt idx="2">
                  <c:v>108.0</c:v>
                </c:pt>
                <c:pt idx="3">
                  <c:v>103.16666666666666</c:v>
                </c:pt>
                <c:pt idx="4">
                  <c:v>65.60000000000001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84380" cy="6858000"/>
          </a:xfrm>
          <a:custGeom>
            <a:avLst/>
            <a:gdLst/>
            <a:ahLst/>
            <a:cxnLst/>
            <a:rect l="l" t="t" r="r" b="b"/>
            <a:pathLst>
              <a:path w="12184380" h="6858000">
                <a:moveTo>
                  <a:pt x="0" y="6858000"/>
                </a:moveTo>
                <a:lnTo>
                  <a:pt x="12184380" y="6858000"/>
                </a:lnTo>
                <a:lnTo>
                  <a:pt x="1218438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ln w="6350">
            <a:solidFill>
              <a:srgbClr val="44536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507228" y="2949955"/>
            <a:ext cx="6486525" cy="28155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95543" y="3549395"/>
            <a:ext cx="6696456" cy="6095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3412235"/>
            <a:ext cx="12176759" cy="3444238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9859" y="948798"/>
            <a:ext cx="1861452" cy="63441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996927" y="6379464"/>
            <a:ext cx="195072" cy="397761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1893295" y="6579108"/>
            <a:ext cx="78740" cy="0"/>
          </a:xfrm>
          <a:custGeom>
            <a:avLst/>
            <a:gdLst/>
            <a:ahLst/>
            <a:cxnLst/>
            <a:rect l="l" t="t" r="r" b="b"/>
            <a:pathLst>
              <a:path w="78740" h="0">
                <a:moveTo>
                  <a:pt x="0" y="0"/>
                </a:moveTo>
                <a:lnTo>
                  <a:pt x="78485" y="0"/>
                </a:lnTo>
              </a:path>
            </a:pathLst>
          </a:custGeom>
          <a:ln w="3175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966704" y="264536"/>
            <a:ext cx="1004316" cy="353076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391668" y="807719"/>
            <a:ext cx="10744200" cy="0"/>
          </a:xfrm>
          <a:custGeom>
            <a:avLst/>
            <a:gdLst/>
            <a:ahLst/>
            <a:cxnLst/>
            <a:rect l="l" t="t" r="r" b="b"/>
            <a:pathLst>
              <a:path w="10744200" h="0">
                <a:moveTo>
                  <a:pt x="0" y="0"/>
                </a:moveTo>
                <a:lnTo>
                  <a:pt x="10744200" y="0"/>
                </a:lnTo>
              </a:path>
            </a:pathLst>
          </a:custGeom>
          <a:ln w="6350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0" name="bg object 2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91668" y="746759"/>
            <a:ext cx="7306056" cy="6096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5368" y="351281"/>
            <a:ext cx="8119109" cy="360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97256" y="1209928"/>
            <a:ext cx="10593070" cy="3067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6551" y="548640"/>
              <a:ext cx="1342644" cy="539496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7217791" y="2113026"/>
            <a:ext cx="45967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defRPr>
                <a:latin typeface="Adani Regular"/>
              </a:defRPr>
            </a:pPr>
            <a:r>
              <a:rPr>
                <a:latin typeface="Adani Regular"/>
              </a:rPr>
              <a:t>September 2026 – Automation Performance Review (Weekly)</a:t>
            </a:r>
          </a:p>
        </p:txBody>
      </p:sp>
      <p:sp>
        <p:nvSpPr>
          <p:cNvPr id="6" name="object 6" descr="$PPTXTitle"/>
          <p:cNvSpPr txBox="1"/>
          <p:nvPr/>
        </p:nvSpPr>
        <p:spPr>
          <a:xfrm>
            <a:off x="9784206" y="1377188"/>
            <a:ext cx="2101850" cy="4222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defRPr>
                <a:latin typeface="Adani Regular"/>
              </a:defRPr>
            </a:pPr>
            <a:r>
              <a:rPr>
                <a:latin typeface="Adani Regular"/>
              </a:rPr>
              <a:t>Cobot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>
              <a:defRPr>
                <a:latin typeface="Adani Regular"/>
              </a:defRPr>
            </a:pPr>
            <a:r>
              <a:rPr>
                <a:latin typeface="Adani Regular"/>
              </a:rPr>
              <a:t>Executive Summary &amp; Department Performance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5239" y="1047369"/>
            <a:ext cx="9047480" cy="1905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defRPr>
                <a:latin typeface="Adani Regular"/>
              </a:defRPr>
            </a:pPr>
            <a:r>
              <a:rPr>
                <a:latin typeface="Adani Regular"/>
              </a:rPr>
              <a:t>• The automation portfolio registered strong, consistent execution with significant hours saved.</a:t>
            </a:r>
          </a:p>
          <a:p>
            <a:pPr>
              <a:defRPr>
                <a:latin typeface="Adani Regular"/>
              </a:defRPr>
            </a:pPr>
            <a:r>
              <a:rPr>
                <a:latin typeface="Adani Regular"/>
              </a:rPr>
              <a:t>• Infrastructure Bots achieved an impressive 96.9% Success Rate over 3,519 total executions.</a:t>
            </a:r>
          </a:p>
          <a:p>
            <a:pPr>
              <a:defRPr>
                <a:latin typeface="Adani Regular"/>
              </a:defRPr>
            </a:pPr>
            <a:r>
              <a:rPr>
                <a:latin typeface="Adani Regular"/>
              </a:rPr>
              <a:t>• Total Active Bots: 99</a:t>
            </a:r>
          </a:p>
          <a:p>
            <a:pPr>
              <a:defRPr>
                <a:latin typeface="Adani Regular"/>
              </a:defRPr>
            </a:pPr>
            <a:r>
              <a:rPr>
                <a:latin typeface="Adani Regular"/>
              </a:rPr>
              <a:t>• Total Hours Saved: 989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17677" y="6011976"/>
            <a:ext cx="950849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defRPr>
                <a:latin typeface="Adani Regular"/>
              </a:defRPr>
            </a:pPr>
          </a:p>
        </p:txBody>
      </p:sp>
      <p:sp>
        <p:nvSpPr>
          <p:cNvPr id="6" name="object 6"/>
          <p:cNvSpPr txBox="1"/>
          <p:nvPr/>
        </p:nvSpPr>
        <p:spPr>
          <a:xfrm>
            <a:off x="11708383" y="6480454"/>
            <a:ext cx="965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>
                <a:latin typeface="Adani Regular"/>
              </a:defRPr>
            </a:pPr>
            <a:r>
              <a:rPr dirty="0" sz="1100" spc="-50" b="1">
                <a:solidFill>
                  <a:srgbClr val="3069B4"/>
                </a:solidFill>
                <a:latin typeface="Adani Regular"/>
                <a:cs typeface="Calibri"/>
              </a:rPr>
              <a:t>4</a:t>
            </a:r>
            <a:endParaRPr sz="1100">
              <a:latin typeface="Calibri"/>
              <a:cs typeface="Calibri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926080"/>
          <a:ext cx="103327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3180"/>
                <a:gridCol w="2583180"/>
                <a:gridCol w="2583180"/>
                <a:gridCol w="258318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  <a:latin typeface="Adani Regular"/>
                        </a:defRPr>
                      </a:pPr>
                      <a:r>
                        <a:rPr>
                          <a:latin typeface="Adani Regular"/>
                        </a:rPr>
                        <a:t>Department</a:t>
                      </a:r>
                    </a:p>
                  </a:txBody>
                  <a:tcPr>
                    <a:solidFill>
                      <a:srgbClr val="0B4E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Adani Regular"/>
                        </a:defRPr>
                      </a:pPr>
                      <a:r>
                        <a:rPr>
                          <a:latin typeface="Adani Regular"/>
                        </a:rPr>
                        <a:t>Total Runs</a:t>
                      </a:r>
                    </a:p>
                  </a:txBody>
                  <a:tcPr>
                    <a:solidFill>
                      <a:srgbClr val="0B4E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Adani Regular"/>
                        </a:defRPr>
                      </a:pPr>
                      <a:r>
                        <a:rPr>
                          <a:latin typeface="Adani Regular"/>
                        </a:rPr>
                        <a:t>Success Rate</a:t>
                      </a:r>
                    </a:p>
                  </a:txBody>
                  <a:tcPr>
                    <a:solidFill>
                      <a:srgbClr val="0B4E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Adani Regular"/>
                        </a:defRPr>
                      </a:pPr>
                      <a:r>
                        <a:rPr>
                          <a:latin typeface="Adani Regular"/>
                        </a:rPr>
                        <a:t>Hours Saved</a:t>
                      </a:r>
                    </a:p>
                  </a:txBody>
                  <a:tcPr>
                    <a:solidFill>
                      <a:srgbClr val="0B4E7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Adani Regular"/>
                        </a:defRPr>
                      </a:pPr>
                      <a:r>
                        <a:rPr>
                          <a:latin typeface="Adani Regular"/>
                        </a:rPr>
                        <a:t>O&amp;M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  <a:latin typeface="Adani Regular"/>
                        </a:defRPr>
                      </a:pPr>
                      <a:r>
                        <a:rPr>
                          <a:latin typeface="Adani Regular"/>
                        </a:rPr>
                        <a:t>2,278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  <a:latin typeface="Adani Regular"/>
                        </a:defRPr>
                      </a:pPr>
                      <a:r>
                        <a:rPr>
                          <a:latin typeface="Adani Regular"/>
                        </a:rPr>
                        <a:t>99%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  <a:latin typeface="Adani Regular"/>
                        </a:defRPr>
                      </a:pPr>
                      <a:r>
                        <a:rPr>
                          <a:latin typeface="Adani Regular"/>
                        </a:rPr>
                        <a:t>441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Adani Regular"/>
                        </a:defRPr>
                      </a:pPr>
                      <a:r>
                        <a:rPr>
                          <a:latin typeface="Adani Regular"/>
                        </a:rPr>
                        <a:t>Finance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  <a:latin typeface="Adani Regular"/>
                        </a:defRPr>
                      </a:pPr>
                      <a:r>
                        <a:rPr>
                          <a:latin typeface="Adani Regular"/>
                        </a:rPr>
                        <a:t>102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  <a:latin typeface="Adani Regular"/>
                        </a:defRPr>
                      </a:pPr>
                      <a:r>
                        <a:rPr>
                          <a:latin typeface="Adani Regular"/>
                        </a:rPr>
                        <a:t>83%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  <a:latin typeface="Adani Regular"/>
                        </a:defRPr>
                      </a:pPr>
                      <a:r>
                        <a:rPr>
                          <a:latin typeface="Adani Regular"/>
                        </a:rPr>
                        <a:t>134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Adani Regular"/>
                        </a:defRPr>
                      </a:pPr>
                      <a:r>
                        <a:rPr>
                          <a:latin typeface="Adani Regular"/>
                        </a:rPr>
                        <a:t>Digital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  <a:latin typeface="Adani Regular"/>
                        </a:defRPr>
                      </a:pPr>
                      <a:r>
                        <a:rPr>
                          <a:latin typeface="Adani Regular"/>
                        </a:rPr>
                        <a:t>107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  <a:latin typeface="Adani Regular"/>
                        </a:defRPr>
                      </a:pPr>
                      <a:r>
                        <a:rPr>
                          <a:latin typeface="Adani Regular"/>
                        </a:rPr>
                        <a:t>98%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  <a:latin typeface="Adani Regular"/>
                        </a:defRPr>
                      </a:pPr>
                      <a:r>
                        <a:rPr>
                          <a:latin typeface="Adani Regular"/>
                        </a:rPr>
                        <a:t>112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Adani Regular"/>
                        </a:defRPr>
                      </a:pPr>
                      <a:r>
                        <a:rPr>
                          <a:latin typeface="Adani Regular"/>
                        </a:rPr>
                        <a:t>Power Scheduling &amp; Forecasting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  <a:latin typeface="Adani Regular"/>
                        </a:defRPr>
                      </a:pPr>
                      <a:r>
                        <a:rPr>
                          <a:latin typeface="Adani Regular"/>
                        </a:rPr>
                        <a:t>654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  <a:latin typeface="Adani Regular"/>
                        </a:defRPr>
                      </a:pPr>
                      <a:r>
                        <a:rPr>
                          <a:latin typeface="Adani Regular"/>
                        </a:rPr>
                        <a:t>100%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  <a:latin typeface="Adani Regular"/>
                        </a:defRPr>
                      </a:pPr>
                      <a:r>
                        <a:rPr>
                          <a:latin typeface="Adani Regular"/>
                        </a:rPr>
                        <a:t>110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Adani Regular"/>
                        </a:defRPr>
                      </a:pPr>
                      <a:r>
                        <a:rPr>
                          <a:latin typeface="Adani Regular"/>
                        </a:rPr>
                        <a:t>Projects-SCM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  <a:latin typeface="Adani Regular"/>
                        </a:defRPr>
                      </a:pPr>
                      <a:r>
                        <a:rPr>
                          <a:latin typeface="Adani Regular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  <a:latin typeface="Adani Regular"/>
                        </a:defRPr>
                      </a:pPr>
                      <a:r>
                        <a:rPr>
                          <a:latin typeface="Adani Regular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  <a:latin typeface="Adani Regular"/>
                        </a:defRPr>
                      </a:pPr>
                      <a:r>
                        <a:rPr>
                          <a:latin typeface="Adani Regular"/>
                        </a:rPr>
                        <a:t>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Adani Regular"/>
                        </a:defRPr>
                      </a:pPr>
                      <a:r>
                        <a:rPr>
                          <a:latin typeface="Adani Regular"/>
                        </a:rPr>
                        <a:t>Stores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  <a:latin typeface="Adani Regular"/>
                        </a:defRPr>
                      </a:pPr>
                      <a:r>
                        <a:rPr>
                          <a:latin typeface="Adani Regular"/>
                        </a:rPr>
                        <a:t>124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  <a:latin typeface="Adani Regular"/>
                        </a:defRPr>
                      </a:pPr>
                      <a:r>
                        <a:rPr>
                          <a:latin typeface="Adani Regular"/>
                        </a:rPr>
                        <a:t>85%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  <a:latin typeface="Adani Regular"/>
                        </a:defRPr>
                      </a:pPr>
                      <a:r>
                        <a:rPr>
                          <a:latin typeface="Adani Regular"/>
                        </a:rPr>
                        <a:t>53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latin typeface="Adani Regular"/>
              </a:defRPr>
            </a:pPr>
            <a:r>
              <a:rPr>
                <a:latin typeface="Adani Regular"/>
              </a:rPr>
              <a:t>Execution Volume Trend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1828800"/>
          <a:ext cx="1033272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latin typeface="Adani Regular"/>
              </a:defRPr>
            </a:pPr>
            <a:r>
              <a:rPr>
                <a:latin typeface="Adani Regular"/>
              </a:rPr>
              <a:t>Top Performing Bots (Hours Saved)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1828800"/>
          <a:ext cx="1033272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latin typeface="Adani Regular"/>
              </a:defRPr>
            </a:pPr>
            <a:r>
              <a:rPr>
                <a:latin typeface="Adani Regular"/>
              </a:rPr>
              <a:t>Newly Deployed Bots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8503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latin typeface="Adani Regular"/>
              </a:defRPr>
            </a:pPr>
          </a:p>
          <a:p>
            <a:pPr algn="ctr">
              <a:defRPr sz="2000" i="1">
                <a:solidFill>
                  <a:srgbClr val="646464"/>
                </a:solidFill>
                <a:latin typeface="Adani Regular"/>
              </a:defRPr>
            </a:pPr>
            <a:r>
              <a:rPr>
                <a:latin typeface="Adani Regular"/>
              </a:rPr>
              <a:t>No new bots were deployed during this reporting period.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Sankit Shah</dc:creator>
  <dc:title>PowerPoint Presentation</dc:title>
  <dcterms:created xsi:type="dcterms:W3CDTF">2026-08-23T07:07:14Z</dcterms:created>
  <dcterms:modified xsi:type="dcterms:W3CDTF">2026-08-23T07:07:14Z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2023-02-27T00:00:00Z</vt:filetime>
  </property>
  <property fmtid="{D5CDD505-2E9C-101B-9397-08002B2CF9AE}" pid="4" name="Creator">
    <vt:lpwstr>Microsoft® PowerPoint® for Microsoft 365</vt:lpwstr>
  </property>
  <property fmtid="{D5CDD505-2E9C-101B-9397-08002B2CF9AE}" pid="5" name="LastSaved">
    <vt:filetime>2026-08-23T00:00:00Z</vt:filetime>
  </property>
  <property fmtid="{D5CDD505-2E9C-101B-9397-08002B2CF9AE}" pid="6" name="Producer">
    <vt:lpwstr>Microsoft® PowerPoint® for Microsoft 365</vt:lpwstr>
  </property>
</Properties>
</file>