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2026-05-26</c:v>
                </c:pt>
                <c:pt idx="1">
                  <c:v>2026-05-27</c:v>
                </c:pt>
                <c:pt idx="2">
                  <c:v>2026-05-29</c:v>
                </c:pt>
                <c:pt idx="3">
                  <c:v>2026-06-08</c:v>
                </c:pt>
                <c:pt idx="4">
                  <c:v>2026-06-09</c:v>
                </c:pt>
                <c:pt idx="5">
                  <c:v>2026-06-10</c:v>
                </c:pt>
                <c:pt idx="6">
                  <c:v>2026-06-11</c:v>
                </c:pt>
                <c:pt idx="7">
                  <c:v>2026-06-13</c:v>
                </c:pt>
                <c:pt idx="8">
                  <c:v>2026-06-15</c:v>
                </c:pt>
                <c:pt idx="9">
                  <c:v>2026-06-16</c:v>
                </c:pt>
                <c:pt idx="10">
                  <c:v>2026-06-17</c:v>
                </c:pt>
                <c:pt idx="11">
                  <c:v>2026-06-18</c:v>
                </c:pt>
                <c:pt idx="12">
                  <c:v>2026-06-19</c:v>
                </c:pt>
                <c:pt idx="13">
                  <c:v>2026-06-20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215</c:v>
                </c:pt>
                <c:pt idx="1">
                  <c:v>292</c:v>
                </c:pt>
                <c:pt idx="2">
                  <c:v>448</c:v>
                </c:pt>
                <c:pt idx="3">
                  <c:v>405</c:v>
                </c:pt>
                <c:pt idx="4">
                  <c:v>319</c:v>
                </c:pt>
                <c:pt idx="5">
                  <c:v>454</c:v>
                </c:pt>
                <c:pt idx="6">
                  <c:v>330</c:v>
                </c:pt>
                <c:pt idx="7">
                  <c:v>269</c:v>
                </c:pt>
                <c:pt idx="8">
                  <c:v>520</c:v>
                </c:pt>
                <c:pt idx="9">
                  <c:v>219</c:v>
                </c:pt>
                <c:pt idx="10">
                  <c:v>380</c:v>
                </c:pt>
                <c:pt idx="11">
                  <c:v>234</c:v>
                </c:pt>
                <c:pt idx="12">
                  <c:v>373</c:v>
                </c:pt>
                <c:pt idx="13">
                  <c:v>422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AUC172_DowntimeSecurityPatch&amp;VAOpen</c:v>
                </c:pt>
                <c:pt idx="1">
                  <c:v>PVSyst_TriggerBot_03</c:v>
                </c:pt>
                <c:pt idx="2">
                  <c:v>AGEL075_Hybrid_Intraday_Punch</c:v>
                </c:pt>
                <c:pt idx="3">
                  <c:v>AGEL111_Invoice Tracking and GRN Process</c:v>
                </c:pt>
                <c:pt idx="4">
                  <c:v>PVSyst_TriggerBot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225.33333333333331</c:v>
                </c:pt>
                <c:pt idx="1">
                  <c:v>213.0</c:v>
                </c:pt>
                <c:pt idx="2">
                  <c:v>190.5</c:v>
                </c:pt>
                <c:pt idx="3">
                  <c:v>184.0</c:v>
                </c:pt>
                <c:pt idx="4">
                  <c:v>175.5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Failed Runs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AGEL111_Invoice Tracking and GRN Process</c:v>
                </c:pt>
                <c:pt idx="1">
                  <c:v>AGEL090_AGEL_PrimaVera_P6_Solar_Download</c:v>
                </c:pt>
                <c:pt idx="2">
                  <c:v>PVSyst_TriggerBot_03</c:v>
                </c:pt>
                <c:pt idx="3">
                  <c:v>PVSyst_TriggerBot</c:v>
                </c:pt>
                <c:pt idx="4">
                  <c:v>AGEL091 ZIBDSESREP_DataPush_to_GCS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r>
              <a:t>• The automation portfolio registered strong, consistent execution with significant hours saved.</a:t>
            </a:r>
          </a:p>
          <a:p>
            <a:r>
              <a:t>• Infrastructure Bots achieved an impressive 99.8% Success Rate over 4,880 total executions.</a:t>
            </a:r>
          </a:p>
          <a:p>
            <a:r>
              <a:t>• Total Active Bots: 146</a:t>
            </a:r>
          </a:p>
          <a:p>
            <a:r>
              <a:t>• Total Hours Saved: 1,725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9006" y="2997454"/>
          <a:ext cx="8335009" cy="281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6215"/>
                <a:gridCol w="1565275"/>
                <a:gridCol w="1621789"/>
                <a:gridCol w="1098550"/>
                <a:gridCol w="1222375"/>
              </a:tblGrid>
              <a:tr h="255904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Runs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Success Rate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Hours Saved</a:t>
                      </a:r>
                    </a:p>
                  </a:txBody>
                  <a:tcPr marL="0" marR="0" marB="0" marT="2794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O&amp;M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2,439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558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Digital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303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253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246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Power Scheduling &amp; Forecasting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1,221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Projects-SCM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92%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r>
                        <a:t>Stores</a:t>
                      </a:r>
                    </a:p>
                  </a:txBody>
                  <a:tcPr marL="0" marR="0" marB="0" marT="2794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233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 marL="0" marR="0" marB="0" marT="27940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794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55904">
                <a:tc>
                  <a:txBody>
                    <a:bodyPr/>
                    <a:lstStyle/>
                    <a:p/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0" marR="0" marB="0" marT="28575"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  <a:solidFill>
                      <a:srgbClr val="AEABA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3069B4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Newly Deployed Bots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FTE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Total Hours Saved in Period: 1,725 Hours</a:t>
            </a:r>
            <a:br/>
          </a:p>
          <a:p>
            <a:pPr>
              <a:defRPr sz="2400" b="1"/>
            </a:pPr>
            <a:r>
              <a:t>Full-Time Equivalents (FTEs) Saved: 10.8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Attention Required: Top Exceptions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