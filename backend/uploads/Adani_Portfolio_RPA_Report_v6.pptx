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2026-05-26</c:v>
                </c:pt>
                <c:pt idx="1">
                  <c:v>2026-05-27</c:v>
                </c:pt>
                <c:pt idx="2">
                  <c:v>2026-05-29</c:v>
                </c:pt>
                <c:pt idx="3">
                  <c:v>2026-06-08</c:v>
                </c:pt>
                <c:pt idx="4">
                  <c:v>2026-06-09</c:v>
                </c:pt>
                <c:pt idx="5">
                  <c:v>2026-06-10</c:v>
                </c:pt>
                <c:pt idx="6">
                  <c:v>2026-06-11</c:v>
                </c:pt>
                <c:pt idx="7">
                  <c:v>2026-06-13</c:v>
                </c:pt>
                <c:pt idx="8">
                  <c:v>2026-06-15</c:v>
                </c:pt>
                <c:pt idx="9">
                  <c:v>2026-06-16</c:v>
                </c:pt>
                <c:pt idx="10">
                  <c:v>2026-06-17</c:v>
                </c:pt>
                <c:pt idx="11">
                  <c:v>2026-06-18</c:v>
                </c:pt>
                <c:pt idx="12">
                  <c:v>2026-06-19</c:v>
                </c:pt>
                <c:pt idx="13">
                  <c:v>2026-06-20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215</c:v>
                </c:pt>
                <c:pt idx="1">
                  <c:v>292</c:v>
                </c:pt>
                <c:pt idx="2">
                  <c:v>448</c:v>
                </c:pt>
                <c:pt idx="3">
                  <c:v>405</c:v>
                </c:pt>
                <c:pt idx="4">
                  <c:v>319</c:v>
                </c:pt>
                <c:pt idx="5">
                  <c:v>454</c:v>
                </c:pt>
                <c:pt idx="6">
                  <c:v>330</c:v>
                </c:pt>
                <c:pt idx="7">
                  <c:v>269</c:v>
                </c:pt>
                <c:pt idx="8">
                  <c:v>520</c:v>
                </c:pt>
                <c:pt idx="9">
                  <c:v>219</c:v>
                </c:pt>
                <c:pt idx="10">
                  <c:v>380</c:v>
                </c:pt>
                <c:pt idx="11">
                  <c:v>234</c:v>
                </c:pt>
                <c:pt idx="12">
                  <c:v>373</c:v>
                </c:pt>
                <c:pt idx="13">
                  <c:v>422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AUC172_DowntimeSecurityPatch&amp;VAOpen</c:v>
                </c:pt>
                <c:pt idx="1">
                  <c:v>PVSyst_TriggerBot_03</c:v>
                </c:pt>
                <c:pt idx="2">
                  <c:v>AGEL075_Hybrid_Intraday_Punch</c:v>
                </c:pt>
                <c:pt idx="3">
                  <c:v>AGEL111_Invoice Tracking and GRN Process</c:v>
                </c:pt>
                <c:pt idx="4">
                  <c:v>PVSyst_TriggerBot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225.33333333333331</c:v>
                </c:pt>
                <c:pt idx="1">
                  <c:v>213.0</c:v>
                </c:pt>
                <c:pt idx="2">
                  <c:v>190.5</c:v>
                </c:pt>
                <c:pt idx="3">
                  <c:v>184.0</c:v>
                </c:pt>
                <c:pt idx="4">
                  <c:v>175.5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O&amp;M</c:v>
                </c:pt>
                <c:pt idx="1">
                  <c:v>Digital</c:v>
                </c:pt>
                <c:pt idx="2">
                  <c:v>Finance</c:v>
                </c:pt>
                <c:pt idx="3">
                  <c:v>Power Scheduling &amp; Forecasting</c:v>
                </c:pt>
                <c:pt idx="4">
                  <c:v>Projects-SCM</c:v>
                </c:pt>
                <c:pt idx="5">
                  <c:v>Stores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557.5</c:v>
                </c:pt>
                <c:pt idx="1">
                  <c:v>252.91666666666666</c:v>
                </c:pt>
                <c:pt idx="2">
                  <c:v>245.70666666666668</c:v>
                </c:pt>
                <c:pt idx="3">
                  <c:v>203.63333333333333</c:v>
                </c:pt>
                <c:pt idx="4">
                  <c:v>184.0</c:v>
                </c:pt>
                <c:pt idx="5">
                  <c:v>115.58333333333333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99.8% Success Rate over 4,880 total executions.</a:t>
            </a:r>
          </a:p>
          <a:p>
            <a:r>
              <a:t>• Total Active Bots: 146</a:t>
            </a:r>
          </a:p>
          <a:p>
            <a:r>
              <a:t>• Total Hours Saved: 1,725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Digital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Power Scheduling &amp; Forecasting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1,221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Stores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i="1">
                <a:solidFill>
                  <a:srgbClr val="646464"/>
                </a:solidFill>
              </a:defRPr>
            </a:pPr>
            <a:r>
              <a:t>No new bots were deployed during this reporting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25603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B4E7A"/>
                </a:solidFill>
              </a:defRPr>
            </a:pPr>
            <a:r>
              <a:t>Value Delivered</a:t>
            </a:r>
          </a:p>
          <a:p>
            <a:br/>
            <a:pPr>
              <a:defRPr sz="2000">
                <a:solidFill>
                  <a:srgbClr val="3C3C3C"/>
                </a:solidFill>
              </a:defRPr>
            </a:pPr>
            <a:r>
              <a:t>Total Hours Saved:</a:t>
            </a:r>
            <a:br/>
            <a:r>
              <a:t>1,725 Hours</a:t>
            </a:r>
          </a:p>
          <a:p>
            <a:br/>
            <a:pPr>
              <a:defRPr sz="2400" b="1">
                <a:solidFill>
                  <a:srgbClr val="38B44A"/>
                </a:solidFill>
              </a:defRPr>
            </a:pPr>
            <a:r>
              <a:t>Full-Time Equivalents (FTEs) Saved:</a:t>
            </a:r>
            <a:br/>
            <a:r>
              <a:t>10.8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Bot Name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Failed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AGEL111_Invoice Tracking and GRN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AGEL090_AGEL_PrimaVera_P6_Solar_Download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Business Transformation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PVSyst_TriggerBot_03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PVSyst_TriggerBot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O&amp;M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AGEL091 ZIBDSESREP_DataPush_to_GCS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Business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