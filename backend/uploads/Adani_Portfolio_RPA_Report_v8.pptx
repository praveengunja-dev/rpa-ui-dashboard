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9" r:id="rId9"/>
    <p:sldId id="260" r:id="rId8"/>
    <p:sldId id="261" r:id="rId7"/>
    <p:sldId id="262" r:id="rId10"/>
    <p:sldId id="263" r:id="rId11"/>
    <p:sldId id="264" r:id="rId1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2026-05-26</c:v>
                </c:pt>
                <c:pt idx="1">
                  <c:v>2026-05-27</c:v>
                </c:pt>
                <c:pt idx="2">
                  <c:v>2026-05-29</c:v>
                </c:pt>
                <c:pt idx="3">
                  <c:v>2026-06-08</c:v>
                </c:pt>
                <c:pt idx="4">
                  <c:v>2026-06-09</c:v>
                </c:pt>
                <c:pt idx="5">
                  <c:v>2026-06-10</c:v>
                </c:pt>
                <c:pt idx="6">
                  <c:v>2026-06-11</c:v>
                </c:pt>
                <c:pt idx="7">
                  <c:v>2026-06-13</c:v>
                </c:pt>
                <c:pt idx="8">
                  <c:v>2026-06-15</c:v>
                </c:pt>
                <c:pt idx="9">
                  <c:v>2026-06-16</c:v>
                </c:pt>
                <c:pt idx="10">
                  <c:v>2026-06-17</c:v>
                </c:pt>
                <c:pt idx="11">
                  <c:v>2026-06-18</c:v>
                </c:pt>
                <c:pt idx="12">
                  <c:v>2026-06-19</c:v>
                </c:pt>
                <c:pt idx="13">
                  <c:v>2026-06-20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215</c:v>
                </c:pt>
                <c:pt idx="1">
                  <c:v>292</c:v>
                </c:pt>
                <c:pt idx="2">
                  <c:v>448</c:v>
                </c:pt>
                <c:pt idx="3">
                  <c:v>405</c:v>
                </c:pt>
                <c:pt idx="4">
                  <c:v>319</c:v>
                </c:pt>
                <c:pt idx="5">
                  <c:v>454</c:v>
                </c:pt>
                <c:pt idx="6">
                  <c:v>330</c:v>
                </c:pt>
                <c:pt idx="7">
                  <c:v>269</c:v>
                </c:pt>
                <c:pt idx="8">
                  <c:v>520</c:v>
                </c:pt>
                <c:pt idx="9">
                  <c:v>219</c:v>
                </c:pt>
                <c:pt idx="10">
                  <c:v>380</c:v>
                </c:pt>
                <c:pt idx="11">
                  <c:v>234</c:v>
                </c:pt>
                <c:pt idx="12">
                  <c:v>373</c:v>
                </c:pt>
                <c:pt idx="13">
                  <c:v>422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Saved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AUC172_DowntimeSecurityPatch&amp;VAOpen</c:v>
                </c:pt>
                <c:pt idx="1">
                  <c:v>PVSyst_TriggerBot_03</c:v>
                </c:pt>
                <c:pt idx="2">
                  <c:v>AGEL075_Hybrid_Intraday_Punch</c:v>
                </c:pt>
                <c:pt idx="3">
                  <c:v>AGEL111_Invoice Tracking and GRN Process</c:v>
                </c:pt>
                <c:pt idx="4">
                  <c:v>PVSyst_TriggerBot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225.33333333333331</c:v>
                </c:pt>
                <c:pt idx="1">
                  <c:v>213.0</c:v>
                </c:pt>
                <c:pt idx="2">
                  <c:v>190.5</c:v>
                </c:pt>
                <c:pt idx="3">
                  <c:v>184.0</c:v>
                </c:pt>
                <c:pt idx="4">
                  <c:v>175.5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 Saved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O&amp;M</c:v>
                </c:pt>
                <c:pt idx="1">
                  <c:v>Digital</c:v>
                </c:pt>
                <c:pt idx="2">
                  <c:v>Finance</c:v>
                </c:pt>
                <c:pt idx="3">
                  <c:v>Power Scheduling &amp; Forecasting</c:v>
                </c:pt>
                <c:pt idx="4">
                  <c:v>Projects-SCM</c:v>
                </c:pt>
                <c:pt idx="5">
                  <c:v>Stores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557.5</c:v>
                </c:pt>
                <c:pt idx="1">
                  <c:v>252.91666666666666</c:v>
                </c:pt>
                <c:pt idx="2">
                  <c:v>245.70666666666668</c:v>
                </c:pt>
                <c:pt idx="3">
                  <c:v>203.63333333333333</c:v>
                </c:pt>
                <c:pt idx="4">
                  <c:v>184.0</c:v>
                </c:pt>
                <c:pt idx="5">
                  <c:v>115.58333333333333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551" y="548640"/>
              <a:ext cx="1342644" cy="5394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217791" y="2113026"/>
            <a:ext cx="45967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August 2026 – Automation Performance Review (Monthly)</a:t>
            </a:r>
          </a:p>
        </p:txBody>
      </p:sp>
      <p:sp>
        <p:nvSpPr>
          <p:cNvPr id="6" name="object 6" descr="$PPTXTitle"/>
          <p:cNvSpPr txBox="1"/>
          <p:nvPr/>
        </p:nvSpPr>
        <p:spPr>
          <a:xfrm>
            <a:off x="9784206" y="1377188"/>
            <a:ext cx="2101850" cy="422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Cobot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Executive Summary &amp; Department 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239" y="1047369"/>
            <a:ext cx="9047480" cy="190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• The automation portfolio registered strong, consistent execution with significant hours saved.</a:t>
            </a:r>
          </a:p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• Infrastructure Bots achieved an impressive 99.8% Success Rate over 4,880 total executions.</a:t>
            </a:r>
          </a:p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• Total Active Bots: 146</a:t>
            </a:r>
          </a:p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• Total Hours Saved: 1,725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7677" y="6011976"/>
            <a:ext cx="950849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defRPr>
                <a:latin typeface="Adani Regular"/>
              </a:defRPr>
            </a:pPr>
          </a:p>
        </p:txBody>
      </p:sp>
      <p:sp>
        <p:nvSpPr>
          <p:cNvPr id="6" name="object 6"/>
          <p:cNvSpPr txBox="1"/>
          <p:nvPr/>
        </p:nvSpPr>
        <p:spPr>
          <a:xfrm>
            <a:off x="11708383" y="6480454"/>
            <a:ext cx="965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>
                <a:latin typeface="Adani Regular"/>
              </a:defRPr>
            </a:pPr>
            <a:r>
              <a:rPr dirty="0" sz="1100" spc="-50" b="1">
                <a:solidFill>
                  <a:srgbClr val="3069B4"/>
                </a:solidFill>
                <a:latin typeface="Adani Regular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92608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Department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Total Runs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Success Rate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Hours Saved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O&amp;M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2,439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Digital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303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253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Power Scheduling &amp; Forecasting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1,221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204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Projects-SCM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Stores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233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Execution Volume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Top Performing Bots (Hours Saved)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Newly Deployed 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Adani Regular"/>
              </a:defRPr>
            </a:pPr>
          </a:p>
          <a:p>
            <a:pPr algn="ctr">
              <a:defRPr sz="2000" i="1">
                <a:solidFill>
                  <a:srgbClr val="646464"/>
                </a:solidFill>
                <a:latin typeface="Adani Regular"/>
              </a:defRPr>
            </a:pPr>
            <a:r>
              <a:rPr>
                <a:latin typeface="Adani Regular"/>
              </a:rPr>
              <a:t>No new bots were deployed during this reporting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ROI &amp; FTE Impact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82880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256032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Adani Regular"/>
              </a:defRPr>
            </a:pPr>
          </a:p>
          <a:p>
            <a:pPr>
              <a:defRPr sz="2800" b="1">
                <a:solidFill>
                  <a:srgbClr val="0B4E7A"/>
                </a:solidFill>
                <a:latin typeface="Adani Regular"/>
              </a:defRPr>
            </a:pPr>
            <a:r>
              <a:rPr>
                <a:latin typeface="Adani Regular"/>
              </a:rPr>
              <a:t>Value Delivered</a:t>
            </a:r>
          </a:p>
          <a:p>
            <a:br/>
            <a:pPr>
              <a:defRPr sz="2000">
                <a:solidFill>
                  <a:srgbClr val="3C3C3C"/>
                </a:solidFill>
                <a:latin typeface="Adani Regular"/>
              </a:defRPr>
            </a:pPr>
            <a:r>
              <a:rPr>
                <a:latin typeface="Adani Regular"/>
              </a:rPr>
              <a:t>Total Hours Saved:</a:t>
            </a:r>
            <a:br/>
            <a:r>
              <a:rPr>
                <a:latin typeface="Adani Regular"/>
              </a:rPr>
              <a:t>1,725 Hours</a:t>
            </a:r>
          </a:p>
          <a:p>
            <a:br/>
            <a:pPr>
              <a:defRPr sz="2400" b="1">
                <a:solidFill>
                  <a:srgbClr val="38B44A"/>
                </a:solidFill>
                <a:latin typeface="Adani Regular"/>
              </a:defRPr>
            </a:pPr>
            <a:r>
              <a:rPr>
                <a:latin typeface="Adani Regular"/>
              </a:rPr>
              <a:t>Full-Time Equivalents (FTEs) Saved:</a:t>
            </a:r>
            <a:br/>
            <a:r>
              <a:rPr>
                <a:latin typeface="Adani Regular"/>
              </a:rPr>
              <a:t>10.8 FTEs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Adani Regular"/>
              </a:defRPr>
            </a:pPr>
            <a:r>
              <a:rPr>
                <a:latin typeface="Adani Regular"/>
              </a:rPr>
              <a:t>Attention Required: Top Exceptions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28600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Bot Name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Department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Failed Runs</a:t>
                      </a:r>
                    </a:p>
                  </a:txBody>
                  <a:tcPr>
                    <a:solidFill>
                      <a:srgbClr val="0B4E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AGEL111_Invoice Tracking and GRN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Projects-SCM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AGEL090_AGEL_PrimaVera_P6_Solar_Download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Business Transformation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PVSyst_TriggerBot_03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O&amp;M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PVSyst_TriggerBot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O&amp;M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AGEL091 ZIBDSESREP_DataPush_to_GCS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Business Transformation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82828"/>
                          </a:solidFill>
                          <a:latin typeface="Adani Regular"/>
                        </a:defRPr>
                      </a:pPr>
                      <a:r>
                        <a:rPr>
                          <a:latin typeface="Adani Regular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