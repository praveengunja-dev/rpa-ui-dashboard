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media/image3.jpg" ContentType="image/jpg"/>
  <Override PartName="/ppt/media/image4.jpg" ContentType="image/jpg"/>
  <Override PartName="/ppt/media/image5.jpg" ContentType="image/jpg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officeDocument/2006/relationships/extended-properties" Target="docProps/app.xml"/><Relationship Id="rId3" Type="http://schemas.openxmlformats.org/package/2006/relationships/metadata/core-properties" Target="docProps/core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6"/>
    <p:sldId id="259" r:id="rId9"/>
  </p:sldIdLst>
  <p:sldSz cx="12192000" cy="6858000"/>
  <p:notesSz cx="12192000" cy="6858000"/>
  <p:defaultTextStyle>
    <a:defPPr>
      <a:defRPr kern="0"/>
    </a:def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78" d="100"/>
          <a:sy n="78" d="100"/>
        </p:scale>
        <p:origin x="-1536" y="-84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8028800" cy="780288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viewProps" Target="viewProps.xml"/><Relationship Id="rId4" Type="http://schemas.openxmlformats.org/officeDocument/2006/relationships/presProps" Target="presProps.xml"/><Relationship Id="rId5" Type="http://schemas.openxmlformats.org/officeDocument/2006/relationships/tableStyles" Target="tableStyles.xml"/><Relationship Id="rId6" Type="http://schemas.openxmlformats.org/officeDocument/2006/relationships/slide" Target="slides/slide1.xml"/><Relationship Id="rId9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jpg"/><Relationship Id="rId3" Type="http://schemas.openxmlformats.org/officeDocument/2006/relationships/image" Target="../media/image5.jpg"/><Relationship Id="rId4" Type="http://schemas.openxmlformats.org/officeDocument/2006/relationships/image" Target="../media/image6.png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 showMasterSp="0">
  <p:cSld name="Title Slid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g object 16"/>
          <p:cNvSpPr/>
          <p:nvPr/>
        </p:nvSpPr>
        <p:spPr>
          <a:xfrm>
            <a:off x="0" y="0"/>
            <a:ext cx="12184380" cy="6858000"/>
          </a:xfrm>
          <a:custGeom>
            <a:avLst/>
            <a:gdLst/>
            <a:ahLst/>
            <a:cxnLst/>
            <a:rect l="l" t="t" r="r" b="b"/>
            <a:pathLst>
              <a:path w="12184380" h="6858000">
                <a:moveTo>
                  <a:pt x="0" y="6858000"/>
                </a:moveTo>
                <a:lnTo>
                  <a:pt x="12184380" y="6858000"/>
                </a:lnTo>
                <a:lnTo>
                  <a:pt x="12184380" y="0"/>
                </a:lnTo>
                <a:lnTo>
                  <a:pt x="0" y="0"/>
                </a:lnTo>
                <a:lnTo>
                  <a:pt x="0" y="6858000"/>
                </a:lnTo>
                <a:close/>
              </a:path>
            </a:pathLst>
          </a:custGeom>
          <a:ln w="6350">
            <a:solidFill>
              <a:srgbClr val="44536A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5507228" y="2949955"/>
            <a:ext cx="6486525" cy="281559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000" b="0" i="0">
                <a:solidFill>
                  <a:srgbClr val="001F5F"/>
                </a:solidFill>
                <a:latin typeface="Calibri"/>
                <a:cs typeface="Calibri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828800" y="3840480"/>
            <a:ext cx="8534400" cy="17145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b="0" i="0">
                <a:solidFill>
                  <a:schemeClr val="tx1"/>
                </a:solidFill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000" b="0" i="0">
                <a:solidFill>
                  <a:srgbClr val="001F5F"/>
                </a:solidFill>
                <a:latin typeface="Calibri"/>
                <a:cs typeface="Calibri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b="0" i="0">
                <a:solidFill>
                  <a:schemeClr val="tx1"/>
                </a:solidFill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000" b="0" i="0">
                <a:solidFill>
                  <a:srgbClr val="001F5F"/>
                </a:solidFill>
                <a:latin typeface="Calibri"/>
                <a:cs typeface="Calibri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idx="2" sz="half"/>
          </p:nvPr>
        </p:nvSpPr>
        <p:spPr>
          <a:xfrm>
            <a:off x="609600" y="1577340"/>
            <a:ext cx="530352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idx="3" sz="half"/>
          </p:nvPr>
        </p:nvSpPr>
        <p:spPr>
          <a:xfrm>
            <a:off x="6278880" y="1577340"/>
            <a:ext cx="530352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6" name="Holder 6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7" name="Holder 7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 showMasterSp="0">
  <p:cSld name="Title Only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bg object 16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5495543" y="3549395"/>
            <a:ext cx="6696456" cy="60959"/>
          </a:xfrm>
          <a:prstGeom prst="rect">
            <a:avLst/>
          </a:prstGeom>
        </p:spPr>
      </p:pic>
      <p:pic>
        <p:nvPicPr>
          <p:cNvPr id="17" name="bg object 17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0" y="3412235"/>
            <a:ext cx="12176759" cy="3444238"/>
          </a:xfrm>
          <a:prstGeom prst="rect">
            <a:avLst/>
          </a:prstGeom>
        </p:spPr>
      </p:pic>
      <p:pic>
        <p:nvPicPr>
          <p:cNvPr id="18" name="bg object 18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709859" y="948798"/>
            <a:ext cx="1861452" cy="634419"/>
          </a:xfrm>
          <a:prstGeom prst="rect">
            <a:avLst/>
          </a:prstGeom>
        </p:spPr>
      </p:pic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000" b="0" i="0">
                <a:solidFill>
                  <a:srgbClr val="001F5F"/>
                </a:solidFill>
                <a:latin typeface="Calibri"/>
                <a:cs typeface="Calibri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5" name="Holder 5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4" name="Holder 4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theme" Target="../theme/theme1.xml"/><Relationship Id="rId7" Type="http://schemas.openxmlformats.org/officeDocument/2006/relationships/image" Target="../media/image1.png"/><Relationship Id="rId8" Type="http://schemas.openxmlformats.org/officeDocument/2006/relationships/image" Target="../media/image2.png"/><Relationship Id="rId9" Type="http://schemas.openxmlformats.org/officeDocument/2006/relationships/image" Target="../media/image3.jp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bg object 16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11996927" y="6379464"/>
            <a:ext cx="195072" cy="397761"/>
          </a:xfrm>
          <a:prstGeom prst="rect">
            <a:avLst/>
          </a:prstGeom>
        </p:spPr>
      </p:pic>
      <p:sp>
        <p:nvSpPr>
          <p:cNvPr id="17" name="bg object 17"/>
          <p:cNvSpPr/>
          <p:nvPr/>
        </p:nvSpPr>
        <p:spPr>
          <a:xfrm>
            <a:off x="11893295" y="6579108"/>
            <a:ext cx="78740" cy="0"/>
          </a:xfrm>
          <a:custGeom>
            <a:avLst/>
            <a:gdLst/>
            <a:ahLst/>
            <a:cxnLst/>
            <a:rect l="l" t="t" r="r" b="b"/>
            <a:pathLst>
              <a:path w="78740" h="0">
                <a:moveTo>
                  <a:pt x="0" y="0"/>
                </a:moveTo>
                <a:lnTo>
                  <a:pt x="78485" y="0"/>
                </a:lnTo>
              </a:path>
            </a:pathLst>
          </a:custGeom>
          <a:ln w="3175">
            <a:solidFill>
              <a:srgbClr val="A6A6A6"/>
            </a:solidFill>
          </a:ln>
        </p:spPr>
        <p:txBody>
          <a:bodyPr wrap="square" lIns="0" tIns="0" rIns="0" bIns="0" rtlCol="0"/>
          <a:lstStyle/>
          <a:p/>
        </p:txBody>
      </p:sp>
      <p:pic>
        <p:nvPicPr>
          <p:cNvPr id="18" name="bg object 18"/>
          <p:cNvPicPr/>
          <p:nvPr/>
        </p:nvPicPr>
        <p:blipFill>
          <a:blip r:embed="rId8" cstate="print"/>
          <a:stretch>
            <a:fillRect/>
          </a:stretch>
        </p:blipFill>
        <p:spPr>
          <a:xfrm>
            <a:off x="10966704" y="264536"/>
            <a:ext cx="1004316" cy="353076"/>
          </a:xfrm>
          <a:prstGeom prst="rect">
            <a:avLst/>
          </a:prstGeom>
        </p:spPr>
      </p:pic>
      <p:sp>
        <p:nvSpPr>
          <p:cNvPr id="19" name="bg object 19"/>
          <p:cNvSpPr/>
          <p:nvPr/>
        </p:nvSpPr>
        <p:spPr>
          <a:xfrm>
            <a:off x="391668" y="807719"/>
            <a:ext cx="10744200" cy="0"/>
          </a:xfrm>
          <a:custGeom>
            <a:avLst/>
            <a:gdLst/>
            <a:ahLst/>
            <a:cxnLst/>
            <a:rect l="l" t="t" r="r" b="b"/>
            <a:pathLst>
              <a:path w="10744200" h="0">
                <a:moveTo>
                  <a:pt x="0" y="0"/>
                </a:moveTo>
                <a:lnTo>
                  <a:pt x="10744200" y="0"/>
                </a:lnTo>
              </a:path>
            </a:pathLst>
          </a:custGeom>
          <a:ln w="6350">
            <a:solidFill>
              <a:srgbClr val="A6A6A6"/>
            </a:solidFill>
          </a:ln>
        </p:spPr>
        <p:txBody>
          <a:bodyPr wrap="square" lIns="0" tIns="0" rIns="0" bIns="0" rtlCol="0"/>
          <a:lstStyle/>
          <a:p/>
        </p:txBody>
      </p:sp>
      <p:pic>
        <p:nvPicPr>
          <p:cNvPr id="20" name="bg object 20"/>
          <p:cNvPicPr/>
          <p:nvPr/>
        </p:nvPicPr>
        <p:blipFill>
          <a:blip r:embed="rId9" cstate="print"/>
          <a:stretch>
            <a:fillRect/>
          </a:stretch>
        </p:blipFill>
        <p:spPr>
          <a:xfrm>
            <a:off x="391668" y="746759"/>
            <a:ext cx="7306056" cy="60960"/>
          </a:xfrm>
          <a:prstGeom prst="rect">
            <a:avLst/>
          </a:prstGeom>
        </p:spPr>
      </p:pic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385368" y="351281"/>
            <a:ext cx="8119109" cy="3606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000" b="0" i="0">
                <a:solidFill>
                  <a:srgbClr val="001F5F"/>
                </a:solidFill>
                <a:latin typeface="Calibri"/>
                <a:cs typeface="Calibri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297256" y="1209928"/>
            <a:ext cx="10593070" cy="306705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b="0" i="0">
                <a:solidFill>
                  <a:schemeClr val="tx1"/>
                </a:solidFill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>
          <a:xfrm>
            <a:off x="4145280" y="6377940"/>
            <a:ext cx="390144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>
          <a:xfrm>
            <a:off x="609600" y="6377940"/>
            <a:ext cx="280416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>
          <a:xfrm>
            <a:off x="8778240" y="6377940"/>
            <a:ext cx="280416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 folHlink="folHlink" hlink="hlink" accent1="accent1" accent2="accent2" accent3="accent3" accent4="accent4" accent5="accent5" accent6="accent6" tx2="dk2" bg2="lt2" tx1="dk1" bg1="lt1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7.png"/><Relationship Id="rId3" Type="http://schemas.openxmlformats.org/officeDocument/2006/relationships/image" Target="../media/image8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0" y="0"/>
              <a:ext cx="12192000" cy="6857998"/>
            </a:xfrm>
            <a:prstGeom prst="rect">
              <a:avLst/>
            </a:prstGeom>
          </p:spPr>
        </p:pic>
        <p:pic>
          <p:nvPicPr>
            <p:cNvPr id="4" name="object 4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606551" y="548640"/>
              <a:ext cx="1342644" cy="539496"/>
            </a:xfrm>
            <a:prstGeom prst="rect">
              <a:avLst/>
            </a:prstGeom>
          </p:spPr>
        </p:pic>
      </p:grpSp>
      <p:sp>
        <p:nvSpPr>
          <p:cNvPr id="5" name="object 5"/>
          <p:cNvSpPr txBox="1"/>
          <p:nvPr/>
        </p:nvSpPr>
        <p:spPr>
          <a:xfrm>
            <a:off x="7217791" y="2113026"/>
            <a:ext cx="4596765" cy="3911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400">
                <a:latin typeface="Calibri"/>
                <a:cs typeface="Calibri"/>
              </a:rPr>
              <a:t>February</a:t>
            </a:r>
            <a:r>
              <a:rPr dirty="0" sz="2400" spc="-50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2023</a:t>
            </a:r>
            <a:r>
              <a:rPr dirty="0" sz="2400" spc="-45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–</a:t>
            </a:r>
            <a:r>
              <a:rPr dirty="0" sz="2400" spc="-40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Non</a:t>
            </a:r>
            <a:r>
              <a:rPr dirty="0" sz="2400" spc="-40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Deal</a:t>
            </a:r>
            <a:r>
              <a:rPr dirty="0" sz="2400" spc="-45">
                <a:latin typeface="Calibri"/>
                <a:cs typeface="Calibri"/>
              </a:rPr>
              <a:t> </a:t>
            </a:r>
            <a:r>
              <a:rPr dirty="0" sz="2400" spc="-10">
                <a:latin typeface="Calibri"/>
                <a:cs typeface="Calibri"/>
              </a:rPr>
              <a:t>Roadshow</a:t>
            </a:r>
            <a:endParaRPr sz="2400">
              <a:latin typeface="Calibri"/>
              <a:cs typeface="Calibri"/>
            </a:endParaRPr>
          </a:p>
        </p:txBody>
      </p:sp>
      <p:sp>
        <p:nvSpPr>
          <p:cNvPr id="6" name="object 6" descr="$PPTXTitle"/>
          <p:cNvSpPr txBox="1"/>
          <p:nvPr/>
        </p:nvSpPr>
        <p:spPr>
          <a:xfrm>
            <a:off x="9784206" y="1377188"/>
            <a:ext cx="2101850" cy="422275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2600" b="1">
                <a:latin typeface="Calibri"/>
                <a:cs typeface="Calibri"/>
              </a:rPr>
              <a:t>Adani</a:t>
            </a:r>
            <a:r>
              <a:rPr dirty="0" sz="2600" spc="-70" b="1">
                <a:latin typeface="Calibri"/>
                <a:cs typeface="Calibri"/>
              </a:rPr>
              <a:t> </a:t>
            </a:r>
            <a:r>
              <a:rPr dirty="0" sz="2600" spc="-10" b="1">
                <a:latin typeface="Calibri"/>
                <a:cs typeface="Calibri"/>
              </a:rPr>
              <a:t>Portfolio</a:t>
            </a:r>
            <a:endParaRPr sz="26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2200"/>
              <a:t>Adani</a:t>
            </a:r>
            <a:r>
              <a:rPr dirty="0" sz="2200" spc="-70"/>
              <a:t> </a:t>
            </a:r>
            <a:r>
              <a:rPr dirty="0" sz="2200" spc="-10"/>
              <a:t>Portfolio:</a:t>
            </a:r>
            <a:r>
              <a:rPr dirty="0" sz="2200" spc="-70"/>
              <a:t> </a:t>
            </a:r>
            <a:r>
              <a:rPr dirty="0" sz="2200"/>
              <a:t>Strong</a:t>
            </a:r>
            <a:r>
              <a:rPr dirty="0" sz="2200" spc="-75"/>
              <a:t> </a:t>
            </a:r>
            <a:r>
              <a:rPr dirty="0" sz="2200"/>
              <a:t>Financial</a:t>
            </a:r>
            <a:r>
              <a:rPr dirty="0" sz="2200" spc="-75"/>
              <a:t> </a:t>
            </a:r>
            <a:r>
              <a:rPr dirty="0" sz="2200" spc="-10"/>
              <a:t>Performance</a:t>
            </a:r>
            <a:r>
              <a:rPr dirty="0" sz="2200" spc="-60"/>
              <a:t> </a:t>
            </a:r>
            <a:r>
              <a:rPr dirty="0" sz="2200"/>
              <a:t>delivered</a:t>
            </a:r>
            <a:r>
              <a:rPr dirty="0" sz="2200" spc="-75"/>
              <a:t> </a:t>
            </a:r>
            <a:r>
              <a:rPr dirty="0" sz="2200"/>
              <a:t>across</a:t>
            </a:r>
            <a:r>
              <a:rPr dirty="0" sz="2200" spc="-75"/>
              <a:t> </a:t>
            </a:r>
            <a:r>
              <a:rPr dirty="0" sz="2200" spc="-10"/>
              <a:t>portfolio</a:t>
            </a:r>
            <a:endParaRPr sz="2200"/>
          </a:p>
        </p:txBody>
      </p:sp>
      <p:sp>
        <p:nvSpPr>
          <p:cNvPr id="3" name="object 3"/>
          <p:cNvSpPr txBox="1"/>
          <p:nvPr/>
        </p:nvSpPr>
        <p:spPr>
          <a:xfrm>
            <a:off x="415239" y="1047369"/>
            <a:ext cx="9047480" cy="190563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200">
                <a:latin typeface="Calibri"/>
                <a:cs typeface="Calibri"/>
              </a:rPr>
              <a:t>−</a:t>
            </a:r>
            <a:r>
              <a:rPr dirty="0" sz="1200" spc="459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EBITDA</a:t>
            </a:r>
            <a:r>
              <a:rPr dirty="0" sz="1200" spc="-2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of</a:t>
            </a:r>
            <a:r>
              <a:rPr dirty="0" sz="1200" spc="-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Adani</a:t>
            </a:r>
            <a:r>
              <a:rPr dirty="0" sz="1200" spc="-3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listed</a:t>
            </a:r>
            <a:r>
              <a:rPr dirty="0" sz="1200" spc="-20">
                <a:latin typeface="Calibri"/>
                <a:cs typeface="Calibri"/>
              </a:rPr>
              <a:t> </a:t>
            </a:r>
            <a:r>
              <a:rPr dirty="0" sz="1200" spc="-10">
                <a:latin typeface="Calibri"/>
                <a:cs typeface="Calibri"/>
              </a:rPr>
              <a:t>portfolio</a:t>
            </a:r>
            <a:r>
              <a:rPr dirty="0" sz="1200" spc="-5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for</a:t>
            </a:r>
            <a:r>
              <a:rPr dirty="0" sz="1200" spc="-1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9</a:t>
            </a:r>
            <a:r>
              <a:rPr dirty="0" sz="1200" spc="-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Month</a:t>
            </a:r>
            <a:r>
              <a:rPr dirty="0" sz="1200" spc="-3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FY2023 grew</a:t>
            </a:r>
            <a:r>
              <a:rPr dirty="0" sz="1200" spc="-2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by</a:t>
            </a:r>
            <a:r>
              <a:rPr dirty="0" sz="1200" spc="-35">
                <a:latin typeface="Calibri"/>
                <a:cs typeface="Calibri"/>
              </a:rPr>
              <a:t> </a:t>
            </a:r>
            <a:r>
              <a:rPr dirty="0" sz="1200" b="1">
                <a:latin typeface="Calibri"/>
                <a:cs typeface="Calibri"/>
              </a:rPr>
              <a:t>57% </a:t>
            </a:r>
            <a:r>
              <a:rPr dirty="0" sz="1200" spc="-10">
                <a:latin typeface="Calibri"/>
                <a:cs typeface="Calibri"/>
              </a:rPr>
              <a:t>Y-o-</a:t>
            </a:r>
            <a:r>
              <a:rPr dirty="0" sz="1200">
                <a:latin typeface="Calibri"/>
                <a:cs typeface="Calibri"/>
              </a:rPr>
              <a:t>Y</a:t>
            </a:r>
            <a:r>
              <a:rPr dirty="0" sz="1200" spc="-1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to</a:t>
            </a:r>
            <a:r>
              <a:rPr dirty="0" sz="1200" spc="-15">
                <a:latin typeface="Calibri"/>
                <a:cs typeface="Calibri"/>
              </a:rPr>
              <a:t> </a:t>
            </a:r>
            <a:r>
              <a:rPr dirty="0" sz="1200" b="1">
                <a:latin typeface="Calibri"/>
                <a:cs typeface="Calibri"/>
              </a:rPr>
              <a:t>INR</a:t>
            </a:r>
            <a:r>
              <a:rPr dirty="0" sz="1200" spc="-15" b="1">
                <a:latin typeface="Calibri"/>
                <a:cs typeface="Calibri"/>
              </a:rPr>
              <a:t> </a:t>
            </a:r>
            <a:r>
              <a:rPr dirty="0" sz="1200" b="1">
                <a:latin typeface="Calibri"/>
                <a:cs typeface="Calibri"/>
              </a:rPr>
              <a:t>40,269</a:t>
            </a:r>
            <a:r>
              <a:rPr dirty="0" sz="1200" spc="-5" b="1">
                <a:latin typeface="Calibri"/>
                <a:cs typeface="Calibri"/>
              </a:rPr>
              <a:t> </a:t>
            </a:r>
            <a:r>
              <a:rPr dirty="0" sz="1200" spc="-25" b="1">
                <a:latin typeface="Calibri"/>
                <a:cs typeface="Calibri"/>
              </a:rPr>
              <a:t>cr</a:t>
            </a:r>
            <a:endParaRPr sz="1200">
              <a:latin typeface="Calibri"/>
              <a:cs typeface="Calibri"/>
            </a:endParaRPr>
          </a:p>
          <a:p>
            <a:pPr marL="234950">
              <a:lnSpc>
                <a:spcPct val="100000"/>
              </a:lnSpc>
              <a:spcBef>
                <a:spcPts val="1200"/>
              </a:spcBef>
            </a:pPr>
            <a:r>
              <a:rPr dirty="0" sz="1200">
                <a:latin typeface="Calibri"/>
                <a:cs typeface="Calibri"/>
              </a:rPr>
              <a:t>−</a:t>
            </a:r>
            <a:r>
              <a:rPr dirty="0" sz="1200" spc="459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Core</a:t>
            </a:r>
            <a:r>
              <a:rPr dirty="0" sz="1200" spc="-15">
                <a:latin typeface="Calibri"/>
                <a:cs typeface="Calibri"/>
              </a:rPr>
              <a:t> </a:t>
            </a:r>
            <a:r>
              <a:rPr dirty="0" sz="1200" spc="-10">
                <a:latin typeface="Calibri"/>
                <a:cs typeface="Calibri"/>
              </a:rPr>
              <a:t>Infrastructure</a:t>
            </a:r>
            <a:r>
              <a:rPr dirty="0" sz="1200" spc="-5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EBITDA</a:t>
            </a:r>
            <a:r>
              <a:rPr dirty="0" sz="1200" spc="-5">
                <a:latin typeface="Calibri"/>
                <a:cs typeface="Calibri"/>
              </a:rPr>
              <a:t> </a:t>
            </a:r>
            <a:r>
              <a:rPr dirty="0" sz="1200" spc="-10">
                <a:latin typeface="Calibri"/>
                <a:cs typeface="Calibri"/>
              </a:rPr>
              <a:t>registered</a:t>
            </a:r>
            <a:r>
              <a:rPr dirty="0" sz="1200" spc="-4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a</a:t>
            </a:r>
            <a:r>
              <a:rPr dirty="0" sz="1200" spc="-1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growth</a:t>
            </a:r>
            <a:r>
              <a:rPr dirty="0" sz="1200" spc="-1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of</a:t>
            </a:r>
            <a:r>
              <a:rPr dirty="0" sz="1200" spc="5">
                <a:latin typeface="Calibri"/>
                <a:cs typeface="Calibri"/>
              </a:rPr>
              <a:t> </a:t>
            </a:r>
            <a:r>
              <a:rPr dirty="0" sz="1200" b="1">
                <a:latin typeface="Calibri"/>
                <a:cs typeface="Calibri"/>
              </a:rPr>
              <a:t>46% </a:t>
            </a:r>
            <a:r>
              <a:rPr dirty="0" sz="1200" spc="-10">
                <a:latin typeface="Calibri"/>
                <a:cs typeface="Calibri"/>
              </a:rPr>
              <a:t>Y-o-</a:t>
            </a:r>
            <a:r>
              <a:rPr dirty="0" sz="1200">
                <a:latin typeface="Calibri"/>
                <a:cs typeface="Calibri"/>
              </a:rPr>
              <a:t>Y</a:t>
            </a:r>
            <a:r>
              <a:rPr dirty="0" sz="1200" spc="-1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to</a:t>
            </a:r>
            <a:r>
              <a:rPr dirty="0" sz="1200" spc="-10">
                <a:latin typeface="Calibri"/>
                <a:cs typeface="Calibri"/>
              </a:rPr>
              <a:t> </a:t>
            </a:r>
            <a:r>
              <a:rPr dirty="0" sz="1200" b="1">
                <a:latin typeface="Calibri"/>
                <a:cs typeface="Calibri"/>
              </a:rPr>
              <a:t>INR</a:t>
            </a:r>
            <a:r>
              <a:rPr dirty="0" sz="1200" spc="-10" b="1">
                <a:latin typeface="Calibri"/>
                <a:cs typeface="Calibri"/>
              </a:rPr>
              <a:t> </a:t>
            </a:r>
            <a:r>
              <a:rPr dirty="0" sz="1200" b="1">
                <a:latin typeface="Calibri"/>
                <a:cs typeface="Calibri"/>
              </a:rPr>
              <a:t>32,617 cr</a:t>
            </a:r>
            <a:r>
              <a:rPr dirty="0" sz="1200" spc="-10" b="1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(81%</a:t>
            </a:r>
            <a:r>
              <a:rPr dirty="0" sz="1200" spc="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of</a:t>
            </a:r>
            <a:r>
              <a:rPr dirty="0" sz="1200" spc="-10">
                <a:latin typeface="Calibri"/>
                <a:cs typeface="Calibri"/>
              </a:rPr>
              <a:t> Portfolio)</a:t>
            </a:r>
            <a:endParaRPr sz="1200">
              <a:latin typeface="Calibri"/>
              <a:cs typeface="Calibri"/>
            </a:endParaRPr>
          </a:p>
          <a:p>
            <a:pPr marL="234950">
              <a:lnSpc>
                <a:spcPct val="100000"/>
              </a:lnSpc>
              <a:spcBef>
                <a:spcPts val="1200"/>
              </a:spcBef>
            </a:pPr>
            <a:r>
              <a:rPr dirty="0" sz="1200">
                <a:latin typeface="Calibri"/>
                <a:cs typeface="Calibri"/>
              </a:rPr>
              <a:t>−</a:t>
            </a:r>
            <a:r>
              <a:rPr dirty="0" sz="1200" spc="434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AEL</a:t>
            </a:r>
            <a:r>
              <a:rPr dirty="0" sz="1200" spc="-1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Existing</a:t>
            </a:r>
            <a:r>
              <a:rPr dirty="0" sz="1200" spc="-2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Businesses &amp;</a:t>
            </a:r>
            <a:r>
              <a:rPr dirty="0" sz="1200" spc="-2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FMCG</a:t>
            </a:r>
            <a:r>
              <a:rPr dirty="0" sz="1200" spc="-15">
                <a:latin typeface="Calibri"/>
                <a:cs typeface="Calibri"/>
              </a:rPr>
              <a:t> </a:t>
            </a:r>
            <a:r>
              <a:rPr dirty="0" sz="1200" spc="-10">
                <a:latin typeface="Calibri"/>
                <a:cs typeface="Calibri"/>
              </a:rPr>
              <a:t>registered</a:t>
            </a:r>
            <a:r>
              <a:rPr dirty="0" sz="1200" spc="-4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EBITDA</a:t>
            </a:r>
            <a:r>
              <a:rPr dirty="0" sz="1200" spc="-3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growth</a:t>
            </a:r>
            <a:r>
              <a:rPr dirty="0" sz="1200" spc="-2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of</a:t>
            </a:r>
            <a:r>
              <a:rPr dirty="0" sz="1200" spc="5">
                <a:latin typeface="Calibri"/>
                <a:cs typeface="Calibri"/>
              </a:rPr>
              <a:t> </a:t>
            </a:r>
            <a:r>
              <a:rPr dirty="0" sz="1200" b="1">
                <a:latin typeface="Calibri"/>
                <a:cs typeface="Calibri"/>
              </a:rPr>
              <a:t>45%</a:t>
            </a:r>
            <a:r>
              <a:rPr dirty="0" sz="1200" spc="-10" b="1">
                <a:latin typeface="Calibri"/>
                <a:cs typeface="Calibri"/>
              </a:rPr>
              <a:t> </a:t>
            </a:r>
            <a:r>
              <a:rPr dirty="0" sz="1200" spc="-10">
                <a:latin typeface="Calibri"/>
                <a:cs typeface="Calibri"/>
              </a:rPr>
              <a:t>Y-o-</a:t>
            </a:r>
            <a:r>
              <a:rPr dirty="0" sz="1200">
                <a:latin typeface="Calibri"/>
                <a:cs typeface="Calibri"/>
              </a:rPr>
              <a:t>Y</a:t>
            </a:r>
            <a:r>
              <a:rPr dirty="0" sz="1200" spc="-3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to</a:t>
            </a:r>
            <a:r>
              <a:rPr dirty="0" sz="1200" spc="-15">
                <a:latin typeface="Calibri"/>
                <a:cs typeface="Calibri"/>
              </a:rPr>
              <a:t> </a:t>
            </a:r>
            <a:r>
              <a:rPr dirty="0" sz="1200" b="1">
                <a:latin typeface="Calibri"/>
                <a:cs typeface="Calibri"/>
              </a:rPr>
              <a:t>INR</a:t>
            </a:r>
            <a:r>
              <a:rPr dirty="0" sz="1200" spc="-20" b="1">
                <a:latin typeface="Calibri"/>
                <a:cs typeface="Calibri"/>
              </a:rPr>
              <a:t> </a:t>
            </a:r>
            <a:r>
              <a:rPr dirty="0" sz="1200" b="1">
                <a:latin typeface="Calibri"/>
                <a:cs typeface="Calibri"/>
              </a:rPr>
              <a:t>4,833</a:t>
            </a:r>
            <a:r>
              <a:rPr dirty="0" sz="1200" spc="-10" b="1">
                <a:latin typeface="Calibri"/>
                <a:cs typeface="Calibri"/>
              </a:rPr>
              <a:t> </a:t>
            </a:r>
            <a:r>
              <a:rPr dirty="0" sz="1200" b="1">
                <a:latin typeface="Calibri"/>
                <a:cs typeface="Calibri"/>
              </a:rPr>
              <a:t>cr</a:t>
            </a:r>
            <a:r>
              <a:rPr dirty="0" sz="1200" spc="-10" b="1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(12%</a:t>
            </a:r>
            <a:r>
              <a:rPr dirty="0" sz="1200" spc="-1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of</a:t>
            </a:r>
            <a:r>
              <a:rPr dirty="0" sz="1200" spc="-15">
                <a:latin typeface="Calibri"/>
                <a:cs typeface="Calibri"/>
              </a:rPr>
              <a:t> </a:t>
            </a:r>
            <a:r>
              <a:rPr dirty="0" sz="1200" spc="-10">
                <a:latin typeface="Calibri"/>
                <a:cs typeface="Calibri"/>
              </a:rPr>
              <a:t>Portfolio)</a:t>
            </a:r>
            <a:endParaRPr sz="12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1200"/>
              </a:spcBef>
            </a:pPr>
            <a:r>
              <a:rPr dirty="0" sz="1200">
                <a:latin typeface="Calibri"/>
                <a:cs typeface="Calibri"/>
              </a:rPr>
              <a:t>−</a:t>
            </a:r>
            <a:r>
              <a:rPr dirty="0" sz="1200" spc="47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Cement</a:t>
            </a:r>
            <a:r>
              <a:rPr dirty="0" sz="1200" spc="-1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business</a:t>
            </a:r>
            <a:r>
              <a:rPr dirty="0" sz="1200" spc="-15">
                <a:latin typeface="Calibri"/>
                <a:cs typeface="Calibri"/>
              </a:rPr>
              <a:t> </a:t>
            </a:r>
            <a:r>
              <a:rPr dirty="0" sz="1200" spc="-10">
                <a:latin typeface="Calibri"/>
                <a:cs typeface="Calibri"/>
              </a:rPr>
              <a:t>reported</a:t>
            </a:r>
            <a:r>
              <a:rPr dirty="0" sz="1200" spc="-4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strong</a:t>
            </a:r>
            <a:r>
              <a:rPr dirty="0" sz="1200" spc="-1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recovery</a:t>
            </a:r>
            <a:r>
              <a:rPr dirty="0" sz="1200" spc="-2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on</a:t>
            </a:r>
            <a:r>
              <a:rPr dirty="0" sz="1200" spc="-10">
                <a:latin typeface="Calibri"/>
                <a:cs typeface="Calibri"/>
              </a:rPr>
              <a:t> Q-o-</a:t>
            </a:r>
            <a:r>
              <a:rPr dirty="0" sz="1200">
                <a:latin typeface="Calibri"/>
                <a:cs typeface="Calibri"/>
              </a:rPr>
              <a:t>Q</a:t>
            </a:r>
            <a:r>
              <a:rPr dirty="0" sz="1200" spc="-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basis</a:t>
            </a:r>
            <a:r>
              <a:rPr dirty="0" sz="1200" spc="-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with</a:t>
            </a:r>
            <a:r>
              <a:rPr dirty="0" sz="1200" spc="-1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cost</a:t>
            </a:r>
            <a:r>
              <a:rPr dirty="0" sz="1200" spc="15">
                <a:latin typeface="Calibri"/>
                <a:cs typeface="Calibri"/>
              </a:rPr>
              <a:t> </a:t>
            </a:r>
            <a:r>
              <a:rPr dirty="0" sz="1200" spc="-10">
                <a:latin typeface="Calibri"/>
                <a:cs typeface="Calibri"/>
              </a:rPr>
              <a:t>optimization</a:t>
            </a:r>
            <a:r>
              <a:rPr dirty="0" sz="1200" spc="-4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and</a:t>
            </a:r>
            <a:r>
              <a:rPr dirty="0" sz="1200" spc="-15">
                <a:latin typeface="Calibri"/>
                <a:cs typeface="Calibri"/>
              </a:rPr>
              <a:t> </a:t>
            </a:r>
            <a:r>
              <a:rPr dirty="0" sz="1200" spc="-10">
                <a:latin typeface="Calibri"/>
                <a:cs typeface="Calibri"/>
              </a:rPr>
              <a:t>operational</a:t>
            </a:r>
            <a:r>
              <a:rPr dirty="0" sz="1200" spc="-35">
                <a:latin typeface="Calibri"/>
                <a:cs typeface="Calibri"/>
              </a:rPr>
              <a:t> </a:t>
            </a:r>
            <a:r>
              <a:rPr dirty="0" sz="1200" spc="-10">
                <a:latin typeface="Calibri"/>
                <a:cs typeface="Calibri"/>
              </a:rPr>
              <a:t>synergies</a:t>
            </a:r>
            <a:r>
              <a:rPr dirty="0" sz="1200" spc="-1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leading</a:t>
            </a:r>
            <a:r>
              <a:rPr dirty="0" sz="1200" spc="-3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to</a:t>
            </a:r>
            <a:r>
              <a:rPr dirty="0" sz="1200" spc="-10">
                <a:latin typeface="Calibri"/>
                <a:cs typeface="Calibri"/>
              </a:rPr>
              <a:t> improvement</a:t>
            </a:r>
            <a:r>
              <a:rPr dirty="0" sz="1200" spc="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in</a:t>
            </a:r>
            <a:r>
              <a:rPr dirty="0" sz="1200" spc="-10">
                <a:latin typeface="Calibri"/>
                <a:cs typeface="Calibri"/>
              </a:rPr>
              <a:t> margins.</a:t>
            </a:r>
            <a:endParaRPr sz="1200">
              <a:latin typeface="Calibri"/>
              <a:cs typeface="Calibri"/>
            </a:endParaRPr>
          </a:p>
          <a:p>
            <a:pPr marL="234950">
              <a:lnSpc>
                <a:spcPct val="100000"/>
              </a:lnSpc>
              <a:spcBef>
                <a:spcPts val="1200"/>
              </a:spcBef>
            </a:pPr>
            <a:r>
              <a:rPr dirty="0" sz="1200">
                <a:latin typeface="Calibri"/>
                <a:cs typeface="Calibri"/>
              </a:rPr>
              <a:t>−</a:t>
            </a:r>
            <a:r>
              <a:rPr dirty="0" sz="1200" spc="45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EBITDA</a:t>
            </a:r>
            <a:r>
              <a:rPr dirty="0" sz="1200" spc="-2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per</a:t>
            </a:r>
            <a:r>
              <a:rPr dirty="0" sz="1200" spc="-1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ton</a:t>
            </a:r>
            <a:r>
              <a:rPr dirty="0" sz="1200" spc="-20">
                <a:latin typeface="Calibri"/>
                <a:cs typeface="Calibri"/>
              </a:rPr>
              <a:t> </a:t>
            </a:r>
            <a:r>
              <a:rPr dirty="0" sz="1200" spc="-10">
                <a:latin typeface="Calibri"/>
                <a:cs typeface="Calibri"/>
              </a:rPr>
              <a:t>increased</a:t>
            </a:r>
            <a:r>
              <a:rPr dirty="0" sz="1200" spc="-2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from</a:t>
            </a:r>
            <a:r>
              <a:rPr dirty="0" sz="1200" spc="-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INR</a:t>
            </a:r>
            <a:r>
              <a:rPr dirty="0" sz="1200" spc="-1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340</a:t>
            </a:r>
            <a:r>
              <a:rPr dirty="0" sz="1200" spc="-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/</a:t>
            </a:r>
            <a:r>
              <a:rPr dirty="0" sz="1200" spc="-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ton</a:t>
            </a:r>
            <a:r>
              <a:rPr dirty="0" sz="1200" spc="-2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in</a:t>
            </a:r>
            <a:r>
              <a:rPr dirty="0" sz="1200" spc="-1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Sep</a:t>
            </a:r>
            <a:r>
              <a:rPr dirty="0" sz="1200" spc="-1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2022</a:t>
            </a:r>
            <a:r>
              <a:rPr dirty="0" sz="1200" spc="-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quarter</a:t>
            </a:r>
            <a:r>
              <a:rPr dirty="0" sz="1200" spc="-4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to</a:t>
            </a:r>
            <a:r>
              <a:rPr dirty="0" sz="1200" spc="-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INR</a:t>
            </a:r>
            <a:r>
              <a:rPr dirty="0" sz="1200" spc="-2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829</a:t>
            </a:r>
            <a:r>
              <a:rPr dirty="0" sz="1200" spc="-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/ ton</a:t>
            </a:r>
            <a:r>
              <a:rPr dirty="0" sz="1200" spc="-2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in</a:t>
            </a:r>
            <a:r>
              <a:rPr dirty="0" sz="1200" spc="-1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Dec</a:t>
            </a:r>
            <a:r>
              <a:rPr dirty="0" sz="1200" spc="-1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2022 </a:t>
            </a:r>
            <a:r>
              <a:rPr dirty="0" sz="1200" spc="-10">
                <a:latin typeface="Calibri"/>
                <a:cs typeface="Calibri"/>
              </a:rPr>
              <a:t>quarter</a:t>
            </a:r>
            <a:endParaRPr sz="1200">
              <a:latin typeface="Calibri"/>
              <a:cs typeface="Calibri"/>
            </a:endParaRPr>
          </a:p>
          <a:p>
            <a:pPr algn="r" marR="965835">
              <a:lnSpc>
                <a:spcPct val="100000"/>
              </a:lnSpc>
              <a:spcBef>
                <a:spcPts val="1360"/>
              </a:spcBef>
            </a:pPr>
            <a:r>
              <a:rPr dirty="0" sz="1200" i="1">
                <a:latin typeface="Calibri"/>
                <a:cs typeface="Calibri"/>
              </a:rPr>
              <a:t>All</a:t>
            </a:r>
            <a:r>
              <a:rPr dirty="0" sz="1200" spc="-10" i="1">
                <a:latin typeface="Calibri"/>
                <a:cs typeface="Calibri"/>
              </a:rPr>
              <a:t> </a:t>
            </a:r>
            <a:r>
              <a:rPr dirty="0" sz="1200" i="1">
                <a:latin typeface="Calibri"/>
                <a:cs typeface="Calibri"/>
              </a:rPr>
              <a:t>figures</a:t>
            </a:r>
            <a:r>
              <a:rPr dirty="0" sz="1200" spc="-20" i="1">
                <a:latin typeface="Calibri"/>
                <a:cs typeface="Calibri"/>
              </a:rPr>
              <a:t> </a:t>
            </a:r>
            <a:r>
              <a:rPr dirty="0" sz="1200" i="1">
                <a:latin typeface="Calibri"/>
                <a:cs typeface="Calibri"/>
              </a:rPr>
              <a:t>in</a:t>
            </a:r>
            <a:r>
              <a:rPr dirty="0" sz="1200" spc="-20" i="1">
                <a:latin typeface="Calibri"/>
                <a:cs typeface="Calibri"/>
              </a:rPr>
              <a:t> </a:t>
            </a:r>
            <a:r>
              <a:rPr dirty="0" sz="1200" i="1">
                <a:latin typeface="Calibri"/>
                <a:cs typeface="Calibri"/>
              </a:rPr>
              <a:t>INR </a:t>
            </a:r>
            <a:r>
              <a:rPr dirty="0" sz="1200" spc="-25" i="1">
                <a:latin typeface="Calibri"/>
                <a:cs typeface="Calibri"/>
              </a:rPr>
              <a:t>cr</a:t>
            </a:r>
            <a:endParaRPr sz="1200">
              <a:latin typeface="Calibri"/>
              <a:cs typeface="Calibri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417677" y="6011976"/>
            <a:ext cx="9508490" cy="33020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240665" indent="-227965">
              <a:lnSpc>
                <a:spcPct val="100000"/>
              </a:lnSpc>
              <a:spcBef>
                <a:spcPts val="95"/>
              </a:spcBef>
              <a:buAutoNum type="arabicPeriod"/>
              <a:tabLst>
                <a:tab pos="240665" algn="l"/>
              </a:tabLst>
            </a:pPr>
            <a:r>
              <a:rPr dirty="0" sz="1000">
                <a:latin typeface="Calibri"/>
                <a:cs typeface="Calibri"/>
              </a:rPr>
              <a:t>Adani</a:t>
            </a:r>
            <a:r>
              <a:rPr dirty="0" sz="1000" spc="-45">
                <a:latin typeface="Calibri"/>
                <a:cs typeface="Calibri"/>
              </a:rPr>
              <a:t> </a:t>
            </a:r>
            <a:r>
              <a:rPr dirty="0" sz="1000">
                <a:latin typeface="Calibri"/>
                <a:cs typeface="Calibri"/>
              </a:rPr>
              <a:t>completed </a:t>
            </a:r>
            <a:r>
              <a:rPr dirty="0" sz="1000" spc="-10">
                <a:latin typeface="Calibri"/>
                <a:cs typeface="Calibri"/>
              </a:rPr>
              <a:t>acquisition</a:t>
            </a:r>
            <a:r>
              <a:rPr dirty="0" sz="1000" spc="-40">
                <a:latin typeface="Calibri"/>
                <a:cs typeface="Calibri"/>
              </a:rPr>
              <a:t> </a:t>
            </a:r>
            <a:r>
              <a:rPr dirty="0" sz="1000">
                <a:latin typeface="Calibri"/>
                <a:cs typeface="Calibri"/>
              </a:rPr>
              <a:t>of</a:t>
            </a:r>
            <a:r>
              <a:rPr dirty="0" sz="1000" spc="-30">
                <a:latin typeface="Calibri"/>
                <a:cs typeface="Calibri"/>
              </a:rPr>
              <a:t> </a:t>
            </a:r>
            <a:r>
              <a:rPr dirty="0" sz="1000">
                <a:latin typeface="Calibri"/>
                <a:cs typeface="Calibri"/>
              </a:rPr>
              <a:t>Holcim’s</a:t>
            </a:r>
            <a:r>
              <a:rPr dirty="0" sz="1000" spc="-30">
                <a:latin typeface="Calibri"/>
                <a:cs typeface="Calibri"/>
              </a:rPr>
              <a:t> </a:t>
            </a:r>
            <a:r>
              <a:rPr dirty="0" sz="1000">
                <a:latin typeface="Calibri"/>
                <a:cs typeface="Calibri"/>
              </a:rPr>
              <a:t>India</a:t>
            </a:r>
            <a:r>
              <a:rPr dirty="0" sz="1000" spc="-35">
                <a:latin typeface="Calibri"/>
                <a:cs typeface="Calibri"/>
              </a:rPr>
              <a:t> </a:t>
            </a:r>
            <a:r>
              <a:rPr dirty="0" sz="1000">
                <a:latin typeface="Calibri"/>
                <a:cs typeface="Calibri"/>
              </a:rPr>
              <a:t>cement business</a:t>
            </a:r>
            <a:r>
              <a:rPr dirty="0" sz="1000" spc="-15">
                <a:latin typeface="Calibri"/>
                <a:cs typeface="Calibri"/>
              </a:rPr>
              <a:t> </a:t>
            </a:r>
            <a:r>
              <a:rPr dirty="0" sz="1000" spc="-10">
                <a:latin typeface="Calibri"/>
                <a:cs typeface="Calibri"/>
              </a:rPr>
              <a:t>consisting</a:t>
            </a:r>
            <a:r>
              <a:rPr dirty="0" sz="1000" spc="-25">
                <a:latin typeface="Calibri"/>
                <a:cs typeface="Calibri"/>
              </a:rPr>
              <a:t> </a:t>
            </a:r>
            <a:r>
              <a:rPr dirty="0" sz="1000">
                <a:latin typeface="Calibri"/>
                <a:cs typeface="Calibri"/>
              </a:rPr>
              <a:t>of</a:t>
            </a:r>
            <a:r>
              <a:rPr dirty="0" sz="1000" spc="-35">
                <a:latin typeface="Calibri"/>
                <a:cs typeface="Calibri"/>
              </a:rPr>
              <a:t> </a:t>
            </a:r>
            <a:r>
              <a:rPr dirty="0" sz="1000">
                <a:latin typeface="Calibri"/>
                <a:cs typeface="Calibri"/>
              </a:rPr>
              <a:t>Ambuja</a:t>
            </a:r>
            <a:r>
              <a:rPr dirty="0" sz="1000" spc="-20">
                <a:latin typeface="Calibri"/>
                <a:cs typeface="Calibri"/>
              </a:rPr>
              <a:t> </a:t>
            </a:r>
            <a:r>
              <a:rPr dirty="0" sz="1000">
                <a:latin typeface="Calibri"/>
                <a:cs typeface="Calibri"/>
              </a:rPr>
              <a:t>Cements</a:t>
            </a:r>
            <a:r>
              <a:rPr dirty="0" sz="1000" spc="-5">
                <a:latin typeface="Calibri"/>
                <a:cs typeface="Calibri"/>
              </a:rPr>
              <a:t> </a:t>
            </a:r>
            <a:r>
              <a:rPr dirty="0" sz="1000">
                <a:latin typeface="Calibri"/>
                <a:cs typeface="Calibri"/>
              </a:rPr>
              <a:t>Limited</a:t>
            </a:r>
            <a:r>
              <a:rPr dirty="0" sz="1000" spc="-10">
                <a:latin typeface="Calibri"/>
                <a:cs typeface="Calibri"/>
              </a:rPr>
              <a:t> </a:t>
            </a:r>
            <a:r>
              <a:rPr dirty="0" sz="1000">
                <a:latin typeface="Calibri"/>
                <a:cs typeface="Calibri"/>
              </a:rPr>
              <a:t>and</a:t>
            </a:r>
            <a:r>
              <a:rPr dirty="0" sz="1000" spc="-30">
                <a:latin typeface="Calibri"/>
                <a:cs typeface="Calibri"/>
              </a:rPr>
              <a:t> </a:t>
            </a:r>
            <a:r>
              <a:rPr dirty="0" sz="1000">
                <a:latin typeface="Calibri"/>
                <a:cs typeface="Calibri"/>
              </a:rPr>
              <a:t>ACC</a:t>
            </a:r>
            <a:r>
              <a:rPr dirty="0" sz="1000" spc="-15">
                <a:latin typeface="Calibri"/>
                <a:cs typeface="Calibri"/>
              </a:rPr>
              <a:t> </a:t>
            </a:r>
            <a:r>
              <a:rPr dirty="0" sz="1000">
                <a:latin typeface="Calibri"/>
                <a:cs typeface="Calibri"/>
              </a:rPr>
              <a:t>Limited</a:t>
            </a:r>
            <a:r>
              <a:rPr dirty="0" sz="1000" spc="-15">
                <a:latin typeface="Calibri"/>
                <a:cs typeface="Calibri"/>
              </a:rPr>
              <a:t> </a:t>
            </a:r>
            <a:r>
              <a:rPr dirty="0" sz="1000">
                <a:latin typeface="Calibri"/>
                <a:cs typeface="Calibri"/>
              </a:rPr>
              <a:t>on</a:t>
            </a:r>
            <a:r>
              <a:rPr dirty="0" sz="1000" spc="-30">
                <a:latin typeface="Calibri"/>
                <a:cs typeface="Calibri"/>
              </a:rPr>
              <a:t> </a:t>
            </a:r>
            <a:r>
              <a:rPr dirty="0" sz="1000">
                <a:latin typeface="Calibri"/>
                <a:cs typeface="Calibri"/>
              </a:rPr>
              <a:t>September</a:t>
            </a:r>
            <a:r>
              <a:rPr dirty="0" sz="1000" spc="10">
                <a:latin typeface="Calibri"/>
                <a:cs typeface="Calibri"/>
              </a:rPr>
              <a:t> </a:t>
            </a:r>
            <a:r>
              <a:rPr dirty="0" sz="1000">
                <a:latin typeface="Calibri"/>
                <a:cs typeface="Calibri"/>
              </a:rPr>
              <a:t>15,</a:t>
            </a:r>
            <a:r>
              <a:rPr dirty="0" sz="1000" spc="-10">
                <a:latin typeface="Calibri"/>
                <a:cs typeface="Calibri"/>
              </a:rPr>
              <a:t> </a:t>
            </a:r>
            <a:r>
              <a:rPr dirty="0" sz="1000" spc="-20">
                <a:latin typeface="Calibri"/>
                <a:cs typeface="Calibri"/>
              </a:rPr>
              <a:t>2022</a:t>
            </a:r>
            <a:endParaRPr sz="1000">
              <a:latin typeface="Calibri"/>
              <a:cs typeface="Calibri"/>
            </a:endParaRPr>
          </a:p>
          <a:p>
            <a:pPr marL="240665" indent="-227965">
              <a:lnSpc>
                <a:spcPct val="100000"/>
              </a:lnSpc>
              <a:buAutoNum type="arabicPeriod"/>
              <a:tabLst>
                <a:tab pos="240665" algn="l"/>
              </a:tabLst>
            </a:pPr>
            <a:r>
              <a:rPr dirty="0" sz="1000">
                <a:latin typeface="Calibri"/>
                <a:cs typeface="Calibri"/>
              </a:rPr>
              <a:t>EBITDA</a:t>
            </a:r>
            <a:r>
              <a:rPr dirty="0" sz="1000" spc="-15">
                <a:latin typeface="Calibri"/>
                <a:cs typeface="Calibri"/>
              </a:rPr>
              <a:t> </a:t>
            </a:r>
            <a:r>
              <a:rPr dirty="0" sz="1000" spc="-10">
                <a:latin typeface="Calibri"/>
                <a:cs typeface="Calibri"/>
              </a:rPr>
              <a:t>reduction</a:t>
            </a:r>
            <a:r>
              <a:rPr dirty="0" sz="1000" spc="-25">
                <a:latin typeface="Calibri"/>
                <a:cs typeface="Calibri"/>
              </a:rPr>
              <a:t> </a:t>
            </a:r>
            <a:r>
              <a:rPr dirty="0" sz="1000">
                <a:latin typeface="Calibri"/>
                <a:cs typeface="Calibri"/>
              </a:rPr>
              <a:t>on</a:t>
            </a:r>
            <a:r>
              <a:rPr dirty="0" sz="1000" spc="-15">
                <a:latin typeface="Calibri"/>
                <a:cs typeface="Calibri"/>
              </a:rPr>
              <a:t> </a:t>
            </a:r>
            <a:r>
              <a:rPr dirty="0" sz="1000">
                <a:latin typeface="Calibri"/>
                <a:cs typeface="Calibri"/>
              </a:rPr>
              <a:t>account</a:t>
            </a:r>
            <a:r>
              <a:rPr dirty="0" sz="1000" spc="-25">
                <a:latin typeface="Calibri"/>
                <a:cs typeface="Calibri"/>
              </a:rPr>
              <a:t> </a:t>
            </a:r>
            <a:r>
              <a:rPr dirty="0" sz="1000">
                <a:latin typeface="Calibri"/>
                <a:cs typeface="Calibri"/>
              </a:rPr>
              <a:t>of</a:t>
            </a:r>
            <a:r>
              <a:rPr dirty="0" sz="1000" spc="-20">
                <a:latin typeface="Calibri"/>
                <a:cs typeface="Calibri"/>
              </a:rPr>
              <a:t> </a:t>
            </a:r>
            <a:r>
              <a:rPr dirty="0" sz="1000" spc="-10">
                <a:latin typeface="Calibri"/>
                <a:cs typeface="Calibri"/>
              </a:rPr>
              <a:t>one-</a:t>
            </a:r>
            <a:r>
              <a:rPr dirty="0" sz="1000">
                <a:latin typeface="Calibri"/>
                <a:cs typeface="Calibri"/>
              </a:rPr>
              <a:t>off</a:t>
            </a:r>
            <a:r>
              <a:rPr dirty="0" sz="1000" spc="-35">
                <a:latin typeface="Calibri"/>
                <a:cs typeface="Calibri"/>
              </a:rPr>
              <a:t> </a:t>
            </a:r>
            <a:r>
              <a:rPr dirty="0" sz="1000">
                <a:latin typeface="Calibri"/>
                <a:cs typeface="Calibri"/>
              </a:rPr>
              <a:t>impact</a:t>
            </a:r>
            <a:r>
              <a:rPr dirty="0" sz="1000" spc="-5">
                <a:latin typeface="Calibri"/>
                <a:cs typeface="Calibri"/>
              </a:rPr>
              <a:t> </a:t>
            </a:r>
            <a:r>
              <a:rPr dirty="0" sz="1000">
                <a:latin typeface="Calibri"/>
                <a:cs typeface="Calibri"/>
              </a:rPr>
              <a:t>of</a:t>
            </a:r>
            <a:r>
              <a:rPr dirty="0" sz="1000" spc="-30">
                <a:latin typeface="Calibri"/>
                <a:cs typeface="Calibri"/>
              </a:rPr>
              <a:t> </a:t>
            </a:r>
            <a:r>
              <a:rPr dirty="0" sz="1000">
                <a:latin typeface="Calibri"/>
                <a:cs typeface="Calibri"/>
              </a:rPr>
              <a:t>fall</a:t>
            </a:r>
            <a:r>
              <a:rPr dirty="0" sz="1000" spc="-30">
                <a:latin typeface="Calibri"/>
                <a:cs typeface="Calibri"/>
              </a:rPr>
              <a:t> </a:t>
            </a:r>
            <a:r>
              <a:rPr dirty="0" sz="1000">
                <a:latin typeface="Calibri"/>
                <a:cs typeface="Calibri"/>
              </a:rPr>
              <a:t>in</a:t>
            </a:r>
            <a:r>
              <a:rPr dirty="0" sz="1000" spc="-25">
                <a:latin typeface="Calibri"/>
                <a:cs typeface="Calibri"/>
              </a:rPr>
              <a:t> </a:t>
            </a:r>
            <a:r>
              <a:rPr dirty="0" sz="1000">
                <a:latin typeface="Calibri"/>
                <a:cs typeface="Calibri"/>
              </a:rPr>
              <a:t>edible</a:t>
            </a:r>
            <a:r>
              <a:rPr dirty="0" sz="1000" spc="-20">
                <a:latin typeface="Calibri"/>
                <a:cs typeface="Calibri"/>
              </a:rPr>
              <a:t> </a:t>
            </a:r>
            <a:r>
              <a:rPr dirty="0" sz="1000">
                <a:latin typeface="Calibri"/>
                <a:cs typeface="Calibri"/>
              </a:rPr>
              <a:t>oil</a:t>
            </a:r>
            <a:r>
              <a:rPr dirty="0" sz="1000" spc="-30">
                <a:latin typeface="Calibri"/>
                <a:cs typeface="Calibri"/>
              </a:rPr>
              <a:t> </a:t>
            </a:r>
            <a:r>
              <a:rPr dirty="0" sz="1000">
                <a:latin typeface="Calibri"/>
                <a:cs typeface="Calibri"/>
              </a:rPr>
              <a:t>prices</a:t>
            </a:r>
            <a:r>
              <a:rPr dirty="0" sz="1000" spc="-10">
                <a:latin typeface="Calibri"/>
                <a:cs typeface="Calibri"/>
              </a:rPr>
              <a:t> </a:t>
            </a:r>
            <a:r>
              <a:rPr dirty="0" sz="1000">
                <a:latin typeface="Calibri"/>
                <a:cs typeface="Calibri"/>
              </a:rPr>
              <a:t>in</a:t>
            </a:r>
            <a:r>
              <a:rPr dirty="0" sz="1000" spc="-25">
                <a:latin typeface="Calibri"/>
                <a:cs typeface="Calibri"/>
              </a:rPr>
              <a:t> </a:t>
            </a:r>
            <a:r>
              <a:rPr dirty="0" sz="1000">
                <a:latin typeface="Calibri"/>
                <a:cs typeface="Calibri"/>
              </a:rPr>
              <a:t>Q2</a:t>
            </a:r>
            <a:r>
              <a:rPr dirty="0" sz="1000" spc="-5">
                <a:latin typeface="Calibri"/>
                <a:cs typeface="Calibri"/>
              </a:rPr>
              <a:t> </a:t>
            </a:r>
            <a:r>
              <a:rPr dirty="0" sz="1000">
                <a:latin typeface="Calibri"/>
                <a:cs typeface="Calibri"/>
              </a:rPr>
              <a:t>FY2023.</a:t>
            </a:r>
            <a:r>
              <a:rPr dirty="0" sz="1000" spc="25">
                <a:latin typeface="Calibri"/>
                <a:cs typeface="Calibri"/>
              </a:rPr>
              <a:t> </a:t>
            </a:r>
            <a:r>
              <a:rPr dirty="0" sz="1000">
                <a:latin typeface="Calibri"/>
                <a:cs typeface="Calibri"/>
              </a:rPr>
              <a:t>The</a:t>
            </a:r>
            <a:r>
              <a:rPr dirty="0" sz="1000" spc="-20">
                <a:latin typeface="Calibri"/>
                <a:cs typeface="Calibri"/>
              </a:rPr>
              <a:t> </a:t>
            </a:r>
            <a:r>
              <a:rPr dirty="0" sz="1000">
                <a:latin typeface="Calibri"/>
                <a:cs typeface="Calibri"/>
              </a:rPr>
              <a:t>higher</a:t>
            </a:r>
            <a:r>
              <a:rPr dirty="0" sz="1000" spc="-5">
                <a:latin typeface="Calibri"/>
                <a:cs typeface="Calibri"/>
              </a:rPr>
              <a:t> </a:t>
            </a:r>
            <a:r>
              <a:rPr dirty="0" sz="1000">
                <a:latin typeface="Calibri"/>
                <a:cs typeface="Calibri"/>
              </a:rPr>
              <a:t>priced</a:t>
            </a:r>
            <a:r>
              <a:rPr dirty="0" sz="1000" spc="-15">
                <a:latin typeface="Calibri"/>
                <a:cs typeface="Calibri"/>
              </a:rPr>
              <a:t> </a:t>
            </a:r>
            <a:r>
              <a:rPr dirty="0" sz="1000">
                <a:latin typeface="Calibri"/>
                <a:cs typeface="Calibri"/>
              </a:rPr>
              <a:t>inventory</a:t>
            </a:r>
            <a:r>
              <a:rPr dirty="0" sz="1000" spc="-20">
                <a:latin typeface="Calibri"/>
                <a:cs typeface="Calibri"/>
              </a:rPr>
              <a:t> </a:t>
            </a:r>
            <a:r>
              <a:rPr dirty="0" sz="1000" spc="-10">
                <a:latin typeface="Calibri"/>
                <a:cs typeface="Calibri"/>
              </a:rPr>
              <a:t>procured</a:t>
            </a:r>
            <a:r>
              <a:rPr dirty="0" sz="1000" spc="-15">
                <a:latin typeface="Calibri"/>
                <a:cs typeface="Calibri"/>
              </a:rPr>
              <a:t> </a:t>
            </a:r>
            <a:r>
              <a:rPr dirty="0" sz="1000">
                <a:latin typeface="Calibri"/>
                <a:cs typeface="Calibri"/>
              </a:rPr>
              <a:t>prior</a:t>
            </a:r>
            <a:r>
              <a:rPr dirty="0" sz="1000" spc="-30">
                <a:latin typeface="Calibri"/>
                <a:cs typeface="Calibri"/>
              </a:rPr>
              <a:t> </a:t>
            </a:r>
            <a:r>
              <a:rPr dirty="0" sz="1000">
                <a:latin typeface="Calibri"/>
                <a:cs typeface="Calibri"/>
              </a:rPr>
              <a:t>to</a:t>
            </a:r>
            <a:r>
              <a:rPr dirty="0" sz="1000" spc="-15">
                <a:latin typeface="Calibri"/>
                <a:cs typeface="Calibri"/>
              </a:rPr>
              <a:t> </a:t>
            </a:r>
            <a:r>
              <a:rPr dirty="0" sz="1000">
                <a:latin typeface="Calibri"/>
                <a:cs typeface="Calibri"/>
              </a:rPr>
              <a:t>price</a:t>
            </a:r>
            <a:r>
              <a:rPr dirty="0" sz="1000" spc="-20">
                <a:latin typeface="Calibri"/>
                <a:cs typeface="Calibri"/>
              </a:rPr>
              <a:t> </a:t>
            </a:r>
            <a:r>
              <a:rPr dirty="0" sz="1000">
                <a:latin typeface="Calibri"/>
                <a:cs typeface="Calibri"/>
              </a:rPr>
              <a:t>fall</a:t>
            </a:r>
            <a:r>
              <a:rPr dirty="0" sz="1000" spc="-30">
                <a:latin typeface="Calibri"/>
                <a:cs typeface="Calibri"/>
              </a:rPr>
              <a:t> </a:t>
            </a:r>
            <a:r>
              <a:rPr dirty="0" sz="1000">
                <a:latin typeface="Calibri"/>
                <a:cs typeface="Calibri"/>
              </a:rPr>
              <a:t>resulted</a:t>
            </a:r>
            <a:r>
              <a:rPr dirty="0" sz="1000" spc="-5">
                <a:latin typeface="Calibri"/>
                <a:cs typeface="Calibri"/>
              </a:rPr>
              <a:t> </a:t>
            </a:r>
            <a:r>
              <a:rPr dirty="0" sz="1000">
                <a:latin typeface="Calibri"/>
                <a:cs typeface="Calibri"/>
              </a:rPr>
              <a:t>in</a:t>
            </a:r>
            <a:r>
              <a:rPr dirty="0" sz="1000" spc="-25">
                <a:latin typeface="Calibri"/>
                <a:cs typeface="Calibri"/>
              </a:rPr>
              <a:t> </a:t>
            </a:r>
            <a:r>
              <a:rPr dirty="0" sz="1000">
                <a:latin typeface="Calibri"/>
                <a:cs typeface="Calibri"/>
              </a:rPr>
              <a:t>higher</a:t>
            </a:r>
            <a:r>
              <a:rPr dirty="0" sz="1000" spc="-5">
                <a:latin typeface="Calibri"/>
                <a:cs typeface="Calibri"/>
              </a:rPr>
              <a:t> </a:t>
            </a:r>
            <a:r>
              <a:rPr dirty="0" sz="1000">
                <a:latin typeface="Calibri"/>
                <a:cs typeface="Calibri"/>
              </a:rPr>
              <a:t>COGS</a:t>
            </a:r>
            <a:r>
              <a:rPr dirty="0" sz="1000" spc="-5">
                <a:latin typeface="Calibri"/>
                <a:cs typeface="Calibri"/>
              </a:rPr>
              <a:t> </a:t>
            </a:r>
            <a:r>
              <a:rPr dirty="0" sz="1000">
                <a:latin typeface="Calibri"/>
                <a:cs typeface="Calibri"/>
              </a:rPr>
              <a:t>in</a:t>
            </a:r>
            <a:r>
              <a:rPr dirty="0" sz="1000" spc="-25">
                <a:latin typeface="Calibri"/>
                <a:cs typeface="Calibri"/>
              </a:rPr>
              <a:t> </a:t>
            </a:r>
            <a:r>
              <a:rPr dirty="0" sz="1000">
                <a:latin typeface="Calibri"/>
                <a:cs typeface="Calibri"/>
              </a:rPr>
              <a:t>Q3</a:t>
            </a:r>
            <a:r>
              <a:rPr dirty="0" sz="1000" spc="-5">
                <a:latin typeface="Calibri"/>
                <a:cs typeface="Calibri"/>
              </a:rPr>
              <a:t> </a:t>
            </a:r>
            <a:r>
              <a:rPr dirty="0" sz="1000" spc="-10">
                <a:latin typeface="Calibri"/>
                <a:cs typeface="Calibri"/>
              </a:rPr>
              <a:t>FY2023</a:t>
            </a:r>
            <a:endParaRPr sz="1000">
              <a:latin typeface="Calibri"/>
              <a:cs typeface="Calibri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11708383" y="6480454"/>
            <a:ext cx="96520" cy="19367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100" spc="-50" b="1">
                <a:solidFill>
                  <a:srgbClr val="3069B4"/>
                </a:solidFill>
                <a:latin typeface="Calibri"/>
                <a:cs typeface="Calibri"/>
              </a:rPr>
              <a:t>4</a:t>
            </a:r>
            <a:endParaRPr sz="1100">
              <a:latin typeface="Calibri"/>
              <a:cs typeface="Calibri"/>
            </a:endParaRP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457200" y="3200400"/>
          <a:ext cx="10972800" cy="2743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43200"/>
                <a:gridCol w="2743200"/>
                <a:gridCol w="2743200"/>
                <a:gridCol w="2743200"/>
              </a:tblGrid>
              <a:tr h="391885">
                <a:tc>
                  <a:txBody>
                    <a:bodyPr/>
                    <a:lstStyle/>
                    <a:p>
                      <a:pPr>
                        <a:defRPr b="1" sz="1400">
                          <a:solidFill>
                            <a:srgbClr val="FFFFFF"/>
                          </a:solidFill>
                        </a:defRPr>
                      </a:pPr>
                      <a:r>
                        <a:t>Department</a:t>
                      </a:r>
                    </a:p>
                  </a:txBody>
                  <a:tcPr>
                    <a:solidFill>
                      <a:srgbClr val="0B4E7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400">
                          <a:solidFill>
                            <a:srgbClr val="FFFFFF"/>
                          </a:solidFill>
                        </a:defRPr>
                      </a:pPr>
                      <a:r>
                        <a:t>Total Runs</a:t>
                      </a:r>
                    </a:p>
                  </a:txBody>
                  <a:tcPr>
                    <a:solidFill>
                      <a:srgbClr val="0B4E7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400">
                          <a:solidFill>
                            <a:srgbClr val="FFFFFF"/>
                          </a:solidFill>
                        </a:defRPr>
                      </a:pPr>
                      <a:r>
                        <a:t>Success Rate</a:t>
                      </a:r>
                    </a:p>
                  </a:txBody>
                  <a:tcPr>
                    <a:solidFill>
                      <a:srgbClr val="0B4E7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400">
                          <a:solidFill>
                            <a:srgbClr val="FFFFFF"/>
                          </a:solidFill>
                        </a:defRPr>
                      </a:pPr>
                      <a:r>
                        <a:t>Hours Saved</a:t>
                      </a:r>
                    </a:p>
                  </a:txBody>
                  <a:tcPr>
                    <a:solidFill>
                      <a:srgbClr val="0B4E7A"/>
                    </a:solidFill>
                  </a:tcPr>
                </a:tc>
              </a:tr>
              <a:tr h="391885"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</a:tr>
              <a:tr h="391885"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</a:tr>
              <a:tr h="391885"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</a:tr>
              <a:tr h="391885"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</a:tr>
              <a:tr h="391885"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</a:tr>
              <a:tr h="391890"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Application>Microsoft Office PowerPoint</Application>
  <PresentationFormat>On-screen Show (4:3)</PresentationFormat>
  <ScaleCrop>false</ScaleCrop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Sankit Shah</dc:creator>
  <dc:title>PowerPoint Presentation</dc:title>
  <dcterms:created xsi:type="dcterms:W3CDTF">2026-08-23T07:07:14Z</dcterms:created>
  <dcterms:modified xsi:type="dcterms:W3CDTF">2026-08-23T07:07:14Z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verter">
    <vt:lpwstr>SolidFramework v10.0.19910.1</vt:lpwstr>
  </property>
  <property fmtid="{D5CDD505-2E9C-101B-9397-08002B2CF9AE}" pid="3" name="Created">
    <vt:filetime>2023-02-27T00:00:00Z</vt:filetime>
  </property>
  <property fmtid="{D5CDD505-2E9C-101B-9397-08002B2CF9AE}" pid="4" name="Creator">
    <vt:lpwstr>Microsoft® PowerPoint® for Microsoft 365</vt:lpwstr>
  </property>
  <property fmtid="{D5CDD505-2E9C-101B-9397-08002B2CF9AE}" pid="5" name="LastSaved">
    <vt:filetime>2026-08-23T00:00:00Z</vt:filetime>
  </property>
  <property fmtid="{D5CDD505-2E9C-101B-9397-08002B2CF9AE}" pid="6" name="Producer">
    <vt:lpwstr>Microsoft® PowerPoint® for Microsoft 365</vt:lpwstr>
  </property>
</Properties>
</file>